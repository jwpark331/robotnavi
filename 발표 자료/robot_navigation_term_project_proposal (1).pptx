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webextensions/taskpanes.xml" ContentType="application/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8.xml.rels" ContentType="application/vnd.openxmlformats-package.relationships+xml"/>
  <Override PartName="/ppt/notesSlides/_rels/notesSlide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media1.mp4" ContentType="video/mp4"/>
  <Override PartName="/ppt/media/image2.png" ContentType="image/png"/>
  <Override PartName="/ppt/media/image3.jpeg" ContentType="image/jpeg"/>
  <Override PartName="/ppt/media/image4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microsoft.com/office/2011/relationships/webextensiontaskpanes" Target="ppt/webextensions/taskpanes.xml"/><Relationship Id="rId5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8288000" cy="10287000"/>
  <p:notesSz cx="10287000" cy="1828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ko-KR" sz="1800" spc="-1" strike="noStrike">
                <a:solidFill>
                  <a:srgbClr val="000000"/>
                </a:solidFill>
                <a:latin typeface="Calibri"/>
              </a:rPr>
              <a:t>슬라이드를 이동하려면 클릭하십시오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.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ko-KR" sz="2000" spc="-1" strike="noStrike">
                <a:latin typeface="Noto Sans CJK KR"/>
              </a:rPr>
              <a:t>메모 서식을 편집하려면 클릭하십시오</a:t>
            </a:r>
            <a:r>
              <a:rPr b="0" lang="en-US" sz="2000" spc="-1" strike="noStrike">
                <a:latin typeface="Noto Sans CJK KR"/>
              </a:rPr>
              <a:t>.</a:t>
            </a:r>
            <a:endParaRPr b="0" lang="en-US" sz="2000" spc="-1" strike="noStrike">
              <a:latin typeface="Noto Sans CJK KR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Noto Serif CJK KR"/>
              </a:rPr>
              <a:t>&lt;머리글&gt;</a:t>
            </a:r>
            <a:endParaRPr b="0" lang="en-US" sz="1400" spc="-1" strike="noStrike">
              <a:latin typeface="Noto Serif CJK KR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Noto Serif CJK KR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Noto Serif CJK KR"/>
              </a:rPr>
              <a:t>&lt;날짜/시간&gt;</a:t>
            </a:r>
            <a:endParaRPr b="0" lang="en-US" sz="1400" spc="-1" strike="noStrike">
              <a:latin typeface="Noto Serif CJK KR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Noto Serif CJK KR"/>
              </a:defRPr>
            </a:lvl1pPr>
          </a:lstStyle>
          <a:p>
            <a:r>
              <a:rPr b="0" lang="en-US" sz="1400" spc="-1" strike="noStrike">
                <a:latin typeface="Noto Serif CJK KR"/>
              </a:rPr>
              <a:t>&lt;바닥글&gt;</a:t>
            </a:r>
            <a:endParaRPr b="0" lang="en-US" sz="1400" spc="-1" strike="noStrike">
              <a:latin typeface="Noto Serif CJK KR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Noto Serif CJK KR"/>
              </a:defRPr>
            </a:lvl1pPr>
          </a:lstStyle>
          <a:p>
            <a:pPr algn="r">
              <a:buNone/>
            </a:pPr>
            <a:fld id="{E70A2192-B72F-4313-8234-D811D0605E77}" type="slidenum">
              <a:rPr b="0" lang="en-US" sz="1400" spc="-1" strike="noStrike">
                <a:latin typeface="Noto Serif CJK KR"/>
              </a:rPr>
              <a:t>&lt;숫자&gt;</a:t>
            </a:fld>
            <a:endParaRPr b="0" lang="en-US" sz="1400" spc="-1" strike="noStrike">
              <a:latin typeface="Noto Serif CJK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7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r>
              <a:rPr b="0" lang="en-US" sz="2000" spc="-1" strike="noStrike">
                <a:latin typeface="Noto Sans CJK KR"/>
              </a:rPr>
              <a:t>[10 s]</a:t>
            </a:r>
            <a:endParaRPr b="0" lang="en-US" sz="2000" spc="-1" strike="noStrike">
              <a:latin typeface="Noto Sans CJK KR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Noto Sans CJK KR"/>
              </a:rPr>
              <a:t>2D </a:t>
            </a:r>
            <a:r>
              <a:rPr b="0" lang="ko-KR" sz="2000" spc="-1" strike="noStrike">
                <a:latin typeface="Noto Sans CJK KR"/>
              </a:rPr>
              <a:t>지도로 다니는 실내 로봇이 계단에서 떨어지지 않게 하는 방법</a:t>
            </a:r>
            <a:r>
              <a:rPr b="0" lang="en-US" sz="2000" spc="-1" strike="noStrike">
                <a:latin typeface="Noto Sans CJK KR"/>
              </a:rPr>
              <a:t>, '</a:t>
            </a:r>
            <a:r>
              <a:rPr b="0" lang="ko-KR" sz="2000" spc="-1" strike="noStrike">
                <a:latin typeface="Noto Sans CJK KR"/>
              </a:rPr>
              <a:t>보이지 않는 계단</a:t>
            </a:r>
            <a:r>
              <a:rPr b="0" lang="en-US" sz="2000" spc="-1" strike="noStrike">
                <a:latin typeface="Noto Sans CJK KR"/>
              </a:rPr>
              <a:t>'</a:t>
            </a:r>
            <a:r>
              <a:rPr b="0" lang="ko-KR" sz="2000" spc="-1" strike="noStrike">
                <a:latin typeface="Noto Sans CJK KR"/>
              </a:rPr>
              <a:t>을 </a:t>
            </a:r>
            <a:r>
              <a:rPr b="0" lang="ko-KR" sz="2000" spc="-1" strike="noStrike">
                <a:latin typeface="Noto Sans CJK KR"/>
              </a:rPr>
              <a:t>제안합니다</a:t>
            </a:r>
            <a:r>
              <a:rPr b="0" lang="en-US" sz="2000" spc="-1" strike="noStrike">
                <a:latin typeface="Noto Sans CJK KR"/>
              </a:rPr>
              <a:t>.</a:t>
            </a:r>
            <a:endParaRPr b="0" lang="en-US" sz="2000" spc="-1" strike="noStrike">
              <a:latin typeface="Noto Sans CJK KR"/>
            </a:endParaRPr>
          </a:p>
        </p:txBody>
      </p:sp>
      <p:sp>
        <p:nvSpPr>
          <p:cNvPr id="379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E05D9284-9171-4BE5-BD02-47BC51437977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8</a:t>
            </a:fld>
            <a:endParaRPr b="0" lang="en-US" sz="1800" spc="-1" strike="noStrike">
              <a:latin typeface="Noto Serif CJK KR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8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r>
              <a:rPr b="0" lang="en-US" sz="2000" spc="-1" strike="noStrike">
                <a:latin typeface="Noto Sans CJK KR"/>
              </a:rPr>
              <a:t>[45 s]</a:t>
            </a:r>
            <a:endParaRPr b="0" lang="en-US" sz="2000" spc="-1" strike="noStrike">
              <a:latin typeface="Noto Sans CJK KR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ko-KR" sz="2000" spc="-1" strike="noStrike">
                <a:latin typeface="Noto Sans CJK KR"/>
              </a:rPr>
              <a:t>서빙</a:t>
            </a:r>
            <a:r>
              <a:rPr b="0" lang="en-US" sz="2000" spc="-1" strike="noStrike">
                <a:latin typeface="Noto Sans CJK KR"/>
              </a:rPr>
              <a:t>·</a:t>
            </a:r>
            <a:r>
              <a:rPr b="0" lang="ko-KR" sz="2000" spc="-1" strike="noStrike">
                <a:latin typeface="Noto Sans CJK KR"/>
              </a:rPr>
              <a:t>안내 로봇은 대부분 </a:t>
            </a:r>
            <a:r>
              <a:rPr b="0" lang="en-US" sz="2000" spc="-1" strike="noStrike">
                <a:latin typeface="Noto Sans CJK KR"/>
              </a:rPr>
              <a:t>2D LiDAR</a:t>
            </a:r>
            <a:r>
              <a:rPr b="0" lang="ko-KR" sz="2000" spc="-1" strike="noStrike">
                <a:latin typeface="Noto Sans CJK KR"/>
              </a:rPr>
              <a:t>로 </a:t>
            </a:r>
            <a:r>
              <a:rPr b="0" lang="ko-KR" sz="2000" spc="-1" strike="noStrike">
                <a:latin typeface="Noto Sans CJK KR"/>
              </a:rPr>
              <a:t>지도를 만들고 다닙니다</a:t>
            </a:r>
            <a:r>
              <a:rPr b="0" lang="en-US" sz="2000" spc="-1" strike="noStrike">
                <a:latin typeface="Noto Sans CJK KR"/>
              </a:rPr>
              <a:t>. </a:t>
            </a:r>
            <a:r>
              <a:rPr b="0" lang="ko-KR" sz="2000" spc="-1" strike="noStrike">
                <a:latin typeface="Noto Sans CJK KR"/>
              </a:rPr>
              <a:t>이 센서는 바닥 </a:t>
            </a:r>
            <a:r>
              <a:rPr b="0" lang="ko-KR" sz="2000" spc="-1" strike="noStrike">
                <a:latin typeface="Noto Sans CJK KR"/>
              </a:rPr>
              <a:t>위 </a:t>
            </a:r>
            <a:r>
              <a:rPr b="0" lang="en-US" sz="2000" spc="-1" strike="noStrike">
                <a:latin typeface="Noto Sans CJK KR"/>
              </a:rPr>
              <a:t>20–30 cm </a:t>
            </a:r>
            <a:r>
              <a:rPr b="0" lang="ko-KR" sz="2000" spc="-1" strike="noStrike">
                <a:latin typeface="Noto Sans CJK KR"/>
              </a:rPr>
              <a:t>높이만 봅니다</a:t>
            </a:r>
            <a:r>
              <a:rPr b="0" lang="en-US" sz="2000" spc="-1" strike="noStrike">
                <a:latin typeface="Noto Sans CJK KR"/>
              </a:rPr>
              <a:t>. </a:t>
            </a:r>
            <a:r>
              <a:rPr b="0" lang="ko-KR" sz="2000" spc="-1" strike="noStrike">
                <a:latin typeface="Noto Sans CJK KR"/>
              </a:rPr>
              <a:t>내려가는 </a:t>
            </a:r>
            <a:r>
              <a:rPr b="0" lang="ko-KR" sz="2000" spc="-1" strike="noStrike">
                <a:latin typeface="Noto Sans CJK KR"/>
              </a:rPr>
              <a:t>계단은 그 높이에 아무것도 없어서</a:t>
            </a:r>
            <a:r>
              <a:rPr b="0" lang="en-US" sz="2000" spc="-1" strike="noStrike">
                <a:latin typeface="Noto Sans CJK KR"/>
              </a:rPr>
              <a:t>, </a:t>
            </a:r>
            <a:r>
              <a:rPr b="0" lang="ko-KR" sz="2000" spc="-1" strike="noStrike">
                <a:latin typeface="Noto Sans CJK KR"/>
              </a:rPr>
              <a:t>지도에는 지나가도 되는 빈 바닥으로 </a:t>
            </a:r>
            <a:r>
              <a:rPr b="0" lang="ko-KR" sz="2000" spc="-1" strike="noStrike">
                <a:latin typeface="Noto Sans CJK KR"/>
              </a:rPr>
              <a:t>찍힙니다</a:t>
            </a:r>
            <a:r>
              <a:rPr b="0" lang="en-US" sz="2000" spc="-1" strike="noStrike">
                <a:latin typeface="Noto Sans CJK KR"/>
              </a:rPr>
              <a:t>. </a:t>
            </a:r>
            <a:r>
              <a:rPr b="0" lang="ko-KR" sz="2000" spc="-1" strike="noStrike">
                <a:latin typeface="Noto Sans CJK KR"/>
              </a:rPr>
              <a:t>평소에는 문제가 없지만</a:t>
            </a:r>
            <a:r>
              <a:rPr b="0" lang="en-US" sz="2000" spc="-1" strike="noStrike">
                <a:latin typeface="Noto Sans CJK KR"/>
              </a:rPr>
              <a:t>, </a:t>
            </a:r>
            <a:r>
              <a:rPr b="0" lang="ko-KR" sz="2000" spc="-1" strike="noStrike">
                <a:latin typeface="Noto Sans CJK KR"/>
              </a:rPr>
              <a:t>사람이 </a:t>
            </a:r>
            <a:r>
              <a:rPr b="0" lang="ko-KR" sz="2000" spc="-1" strike="noStrike">
                <a:latin typeface="Noto Sans CJK KR"/>
              </a:rPr>
              <a:t>길을 막거나</a:t>
            </a:r>
            <a:r>
              <a:rPr b="0" lang="en-US" sz="2000" spc="-1" strike="noStrike">
                <a:latin typeface="Noto Sans CJK KR"/>
              </a:rPr>
              <a:t>, </a:t>
            </a:r>
            <a:r>
              <a:rPr b="0" lang="ko-KR" sz="2000" spc="-1" strike="noStrike">
                <a:latin typeface="Noto Sans CJK KR"/>
              </a:rPr>
              <a:t>로봇이 위치를 착각하거나</a:t>
            </a:r>
            <a:r>
              <a:rPr b="0" lang="en-US" sz="2000" spc="-1" strike="noStrike">
                <a:latin typeface="Noto Sans CJK KR"/>
              </a:rPr>
              <a:t>, </a:t>
            </a:r>
            <a:r>
              <a:rPr b="0" lang="ko-KR" sz="2000" spc="-1" strike="noStrike">
                <a:latin typeface="Noto Sans CJK KR"/>
              </a:rPr>
              <a:t>계단 표시가 빠졌거나</a:t>
            </a:r>
            <a:r>
              <a:rPr b="0" lang="en-US" sz="2000" spc="-1" strike="noStrike">
                <a:latin typeface="Noto Sans CJK KR"/>
              </a:rPr>
              <a:t>, </a:t>
            </a:r>
            <a:r>
              <a:rPr b="0" lang="ko-KR" sz="2000" spc="-1" strike="noStrike">
                <a:latin typeface="Noto Sans CJK KR"/>
              </a:rPr>
              <a:t>뒤로 물러날 때 </a:t>
            </a:r>
            <a:r>
              <a:rPr b="0" lang="ko-KR" sz="2000" spc="-1" strike="noStrike">
                <a:latin typeface="Noto Sans CJK KR"/>
              </a:rPr>
              <a:t>위험해집니다</a:t>
            </a:r>
            <a:r>
              <a:rPr b="0" lang="en-US" sz="2000" spc="-1" strike="noStrike">
                <a:latin typeface="Noto Sans CJK KR"/>
              </a:rPr>
              <a:t>. </a:t>
            </a:r>
            <a:r>
              <a:rPr b="0" lang="ko-KR" sz="2000" spc="-1" strike="noStrike">
                <a:latin typeface="Noto Sans CJK KR"/>
              </a:rPr>
              <a:t>산업용 로봇 </a:t>
            </a:r>
            <a:r>
              <a:rPr b="0" lang="en-US" sz="2000" spc="-1" strike="noStrike">
                <a:latin typeface="Noto Sans CJK KR"/>
              </a:rPr>
              <a:t>MiR</a:t>
            </a:r>
            <a:r>
              <a:rPr b="0" lang="ko-KR" sz="2000" spc="-1" strike="noStrike">
                <a:latin typeface="Noto Sans CJK KR"/>
              </a:rPr>
              <a:t>도 </a:t>
            </a:r>
            <a:r>
              <a:rPr b="0" lang="ko-KR" sz="2000" spc="-1" strike="noStrike">
                <a:latin typeface="Noto Sans CJK KR"/>
              </a:rPr>
              <a:t>매뉴얼에 내려가는 계단을 제때 감지하지 </a:t>
            </a:r>
            <a:r>
              <a:rPr b="0" lang="ko-KR" sz="2000" spc="-1" strike="noStrike">
                <a:latin typeface="Noto Sans CJK KR"/>
              </a:rPr>
              <a:t>못한다고 적어 두었고</a:t>
            </a:r>
            <a:r>
              <a:rPr b="0" lang="en-US" sz="2000" spc="-1" strike="noStrike">
                <a:latin typeface="Noto Sans CJK KR"/>
              </a:rPr>
              <a:t>, 2024</a:t>
            </a:r>
            <a:r>
              <a:rPr b="0" lang="ko-KR" sz="2000" spc="-1" strike="noStrike">
                <a:latin typeface="Noto Sans CJK KR"/>
              </a:rPr>
              <a:t>년에는 </a:t>
            </a:r>
            <a:r>
              <a:rPr b="0" lang="ko-KR" sz="2000" spc="-1" strike="noStrike">
                <a:latin typeface="Noto Sans CJK KR"/>
              </a:rPr>
              <a:t>구미시의회 건물에서 </a:t>
            </a:r>
            <a:r>
              <a:rPr b="0" lang="en-US" sz="2000" spc="-1" strike="noStrike">
                <a:latin typeface="Noto Sans CJK KR"/>
              </a:rPr>
              <a:t>'</a:t>
            </a:r>
            <a:r>
              <a:rPr b="0" lang="ko-KR" sz="2000" spc="-1" strike="noStrike">
                <a:latin typeface="Noto Sans CJK KR"/>
              </a:rPr>
              <a:t>로봇 주무관</a:t>
            </a:r>
            <a:r>
              <a:rPr b="0" lang="en-US" sz="2000" spc="-1" strike="noStrike">
                <a:latin typeface="Noto Sans CJK KR"/>
              </a:rPr>
              <a:t>'</a:t>
            </a:r>
            <a:r>
              <a:rPr b="0" lang="ko-KR" sz="2000" spc="-1" strike="noStrike">
                <a:latin typeface="Noto Sans CJK KR"/>
              </a:rPr>
              <a:t>이 </a:t>
            </a:r>
            <a:r>
              <a:rPr b="0" lang="ko-KR" sz="2000" spc="-1" strike="noStrike">
                <a:latin typeface="Noto Sans CJK KR"/>
              </a:rPr>
              <a:t>계단으로 떨어진 일도 있었습니다</a:t>
            </a:r>
            <a:r>
              <a:rPr b="0" lang="en-US" sz="2000" spc="-1" strike="noStrike">
                <a:latin typeface="Noto Sans CJK KR"/>
              </a:rPr>
              <a:t>. </a:t>
            </a:r>
            <a:r>
              <a:rPr b="0" lang="ko-KR" sz="2000" spc="-1" strike="noStrike">
                <a:latin typeface="Noto Sans CJK KR"/>
              </a:rPr>
              <a:t>원인은 </a:t>
            </a:r>
            <a:r>
              <a:rPr b="0" lang="ko-KR" sz="2000" spc="-1" strike="noStrike">
                <a:latin typeface="Noto Sans CJK KR"/>
              </a:rPr>
              <a:t>공개되지 않았습니다</a:t>
            </a:r>
            <a:r>
              <a:rPr b="0" lang="en-US" sz="2000" spc="-1" strike="noStrike">
                <a:latin typeface="Noto Sans CJK KR"/>
              </a:rPr>
              <a:t>. </a:t>
            </a:r>
            <a:r>
              <a:rPr b="0" lang="ko-KR" sz="2000" spc="-1" strike="noStrike">
                <a:latin typeface="Noto Sans CJK KR"/>
              </a:rPr>
              <a:t>저희가 만든 </a:t>
            </a:r>
            <a:r>
              <a:rPr b="0" lang="ko-KR" sz="2000" spc="-1" strike="noStrike">
                <a:latin typeface="Noto Sans CJK KR"/>
              </a:rPr>
              <a:t>시뮬레이션에서도 지도만 쓰는 로봇이 </a:t>
            </a:r>
            <a:r>
              <a:rPr b="0" lang="ko-KR" sz="2000" spc="-1" strike="noStrike">
                <a:latin typeface="Noto Sans CJK KR"/>
              </a:rPr>
              <a:t>계단으로 떨어지는 상황을 재현했습니다</a:t>
            </a:r>
            <a:r>
              <a:rPr b="0" lang="en-US" sz="2000" spc="-1" strike="noStrike">
                <a:latin typeface="Noto Sans CJK KR"/>
              </a:rPr>
              <a:t>.</a:t>
            </a:r>
            <a:endParaRPr b="0" lang="en-US" sz="2000" spc="-1" strike="noStrike">
              <a:latin typeface="Noto Sans CJK KR"/>
            </a:endParaRPr>
          </a:p>
        </p:txBody>
      </p:sp>
      <p:sp>
        <p:nvSpPr>
          <p:cNvPr id="382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A2D826A5-04C0-4F22-84C5-C1B03985DEFD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8</a:t>
            </a:fld>
            <a:endParaRPr b="0" lang="en-US" sz="1800" spc="-1" strike="noStrike">
              <a:latin typeface="Noto Serif CJK KR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8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r>
              <a:rPr b="0" lang="en-US" sz="2000" spc="-1" strike="noStrike">
                <a:latin typeface="Noto Sans CJK KR"/>
              </a:rPr>
              <a:t>[30 s]</a:t>
            </a:r>
            <a:endParaRPr b="0" lang="en-US" sz="2000" spc="-1" strike="noStrike">
              <a:latin typeface="Noto Sans CJK KR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ko-KR" sz="2000" spc="-1" strike="noStrike">
                <a:latin typeface="Noto Sans CJK KR"/>
              </a:rPr>
              <a:t>현장은 두 겹으로 막습니다</a:t>
            </a:r>
            <a:r>
              <a:rPr b="0" lang="en-US" sz="2000" spc="-1" strike="noStrike">
                <a:latin typeface="Noto Sans CJK KR"/>
              </a:rPr>
              <a:t>. </a:t>
            </a:r>
            <a:r>
              <a:rPr b="0" lang="ko-KR" sz="2000" spc="-1" strike="noStrike">
                <a:latin typeface="Noto Sans CJK KR"/>
              </a:rPr>
              <a:t>지도에 금지구역을 </a:t>
            </a:r>
            <a:r>
              <a:rPr b="0" lang="ko-KR" sz="2000" spc="-1" strike="noStrike">
                <a:latin typeface="Noto Sans CJK KR"/>
              </a:rPr>
              <a:t>그리는 방법은 로봇이 자기 위치를 정확히 알 </a:t>
            </a:r>
            <a:r>
              <a:rPr b="0" lang="ko-KR" sz="2000" spc="-1" strike="noStrike">
                <a:latin typeface="Noto Sans CJK KR"/>
              </a:rPr>
              <a:t>때만 통합니다</a:t>
            </a:r>
            <a:r>
              <a:rPr b="0" lang="en-US" sz="2000" spc="-1" strike="noStrike">
                <a:latin typeface="Noto Sans CJK KR"/>
              </a:rPr>
              <a:t>. </a:t>
            </a:r>
            <a:r>
              <a:rPr b="0" lang="ko-KR" sz="2000" spc="-1" strike="noStrike">
                <a:latin typeface="Noto Sans CJK KR"/>
              </a:rPr>
              <a:t>발밑 </a:t>
            </a:r>
            <a:r>
              <a:rPr b="0" lang="en-US" sz="2000" spc="-1" strike="noStrike">
                <a:latin typeface="Noto Sans CJK KR"/>
              </a:rPr>
              <a:t>IR</a:t>
            </a:r>
            <a:r>
              <a:rPr b="0" lang="ko-KR" sz="2000" spc="-1" strike="noStrike">
                <a:latin typeface="Noto Sans CJK KR"/>
              </a:rPr>
              <a:t>은 몸체 끝이 </a:t>
            </a:r>
            <a:r>
              <a:rPr b="0" lang="ko-KR" sz="2000" spc="-1" strike="noStrike">
                <a:latin typeface="Noto Sans CJK KR"/>
              </a:rPr>
              <a:t>가장자리에 닿아야 알아서</a:t>
            </a:r>
            <a:r>
              <a:rPr b="0" lang="en-US" sz="2000" spc="-1" strike="noStrike">
                <a:latin typeface="Noto Sans CJK KR"/>
              </a:rPr>
              <a:t>, </a:t>
            </a:r>
            <a:r>
              <a:rPr b="0" lang="ko-KR" sz="2000" spc="-1" strike="noStrike">
                <a:latin typeface="Noto Sans CJK KR"/>
              </a:rPr>
              <a:t>바닥이 </a:t>
            </a:r>
            <a:r>
              <a:rPr b="0" lang="ko-KR" sz="2000" spc="-1" strike="noStrike">
                <a:latin typeface="Noto Sans CJK KR"/>
              </a:rPr>
              <a:t>미끄러우면 멈추지 못합니다</a:t>
            </a:r>
            <a:r>
              <a:rPr b="0" lang="en-US" sz="2000" spc="-1" strike="noStrike">
                <a:latin typeface="Noto Sans CJK KR"/>
              </a:rPr>
              <a:t>. </a:t>
            </a:r>
            <a:r>
              <a:rPr b="0" lang="ko-KR" sz="2000" spc="-1" strike="noStrike">
                <a:latin typeface="Noto Sans CJK KR"/>
              </a:rPr>
              <a:t>저희는 이 두 </a:t>
            </a:r>
            <a:r>
              <a:rPr b="0" lang="ko-KR" sz="2000" spc="-1" strike="noStrike">
                <a:latin typeface="Noto Sans CJK KR"/>
              </a:rPr>
              <a:t>방어 사이의 빈 구간을 메우려 합니다</a:t>
            </a:r>
            <a:r>
              <a:rPr b="0" lang="en-US" sz="2000" spc="-1" strike="noStrike">
                <a:latin typeface="Noto Sans CJK KR"/>
              </a:rPr>
              <a:t>. </a:t>
            </a:r>
            <a:r>
              <a:rPr b="0" lang="ko-KR" sz="2000" spc="-1" strike="noStrike">
                <a:latin typeface="Noto Sans CJK KR"/>
              </a:rPr>
              <a:t>서빙로봇도 카메라를 달지만</a:t>
            </a:r>
            <a:r>
              <a:rPr b="0" lang="en-US" sz="2000" spc="-1" strike="noStrike">
                <a:latin typeface="Noto Sans CJK KR"/>
              </a:rPr>
              <a:t>, </a:t>
            </a:r>
            <a:r>
              <a:rPr b="0" lang="ko-KR" sz="2000" spc="-1" strike="noStrike">
                <a:latin typeface="Noto Sans CJK KR"/>
              </a:rPr>
              <a:t>그 데이터를 </a:t>
            </a:r>
            <a:r>
              <a:rPr b="0" lang="ko-KR" sz="2000" spc="-1" strike="noStrike">
                <a:latin typeface="Noto Sans CJK KR"/>
              </a:rPr>
              <a:t>어떻게 처리하는지는 공개되지 않았습니다</a:t>
            </a:r>
            <a:r>
              <a:rPr b="0" lang="en-US" sz="2000" spc="-1" strike="noStrike">
                <a:latin typeface="Noto Sans CJK KR"/>
              </a:rPr>
              <a:t>.</a:t>
            </a:r>
            <a:endParaRPr b="0" lang="en-US" sz="2000" spc="-1" strike="noStrike">
              <a:latin typeface="Noto Sans CJK KR"/>
            </a:endParaRPr>
          </a:p>
        </p:txBody>
      </p:sp>
      <p:sp>
        <p:nvSpPr>
          <p:cNvPr id="385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D73D3F46-AF9B-4E13-B553-6F42BE2767E9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8</a:t>
            </a:fld>
            <a:endParaRPr b="0" lang="en-US" sz="1800" spc="-1" strike="noStrike">
              <a:latin typeface="Noto Serif CJK KR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8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r>
              <a:rPr b="0" lang="en-US" sz="2000" spc="-1" strike="noStrike">
                <a:latin typeface="Noto Sans CJK KR"/>
              </a:rPr>
              <a:t>[55 s]</a:t>
            </a:r>
            <a:endParaRPr b="0" lang="en-US" sz="2000" spc="-1" strike="noStrike">
              <a:latin typeface="Noto Sans CJK KR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ko-KR" sz="2000" spc="-1" strike="noStrike">
                <a:latin typeface="Noto Sans CJK KR"/>
              </a:rPr>
              <a:t>제안은 이 빈 </a:t>
            </a:r>
            <a:r>
              <a:rPr b="0" lang="ko-KR" sz="2000" spc="-1" strike="noStrike">
                <a:latin typeface="Noto Sans CJK KR"/>
              </a:rPr>
              <a:t>구간에 </a:t>
            </a:r>
            <a:r>
              <a:rPr b="0" lang="ko-KR" sz="2000" spc="-1" strike="noStrike">
                <a:latin typeface="Noto Sans CJK KR"/>
              </a:rPr>
              <a:t>깊이카메라 </a:t>
            </a:r>
            <a:r>
              <a:rPr b="0" lang="ko-KR" sz="2000" spc="-1" strike="noStrike">
                <a:latin typeface="Noto Sans CJK KR"/>
              </a:rPr>
              <a:t>층을 넣는 </a:t>
            </a:r>
            <a:r>
              <a:rPr b="0" lang="ko-KR" sz="2000" spc="-1" strike="noStrike">
                <a:latin typeface="Noto Sans CJK KR"/>
              </a:rPr>
              <a:t>것입니다</a:t>
            </a:r>
            <a:r>
              <a:rPr b="0" lang="en-US" sz="2000" spc="-1" strike="noStrike">
                <a:latin typeface="Noto Sans CJK KR"/>
              </a:rPr>
              <a:t>. </a:t>
            </a:r>
            <a:r>
              <a:rPr b="0" lang="ko-KR" sz="2000" spc="-1" strike="noStrike">
                <a:latin typeface="Noto Sans CJK KR"/>
              </a:rPr>
              <a:t>첫째</a:t>
            </a:r>
            <a:r>
              <a:rPr b="0" lang="en-US" sz="2000" spc="-1" strike="noStrike">
                <a:latin typeface="Noto Sans CJK KR"/>
              </a:rPr>
              <a:t>, </a:t>
            </a:r>
            <a:r>
              <a:rPr b="0" lang="ko-KR" sz="2000" spc="-1" strike="noStrike">
                <a:latin typeface="Noto Sans CJK KR"/>
              </a:rPr>
              <a:t>깊이카메라</a:t>
            </a:r>
            <a:r>
              <a:rPr b="0" lang="ko-KR" sz="2000" spc="-1" strike="noStrike">
                <a:latin typeface="Noto Sans CJK KR"/>
              </a:rPr>
              <a:t>로 앞 바닥을 </a:t>
            </a:r>
            <a:r>
              <a:rPr b="0" lang="en-US" sz="2000" spc="-1" strike="noStrike">
                <a:latin typeface="Noto Sans CJK KR"/>
              </a:rPr>
              <a:t>10 cm </a:t>
            </a:r>
            <a:r>
              <a:rPr b="0" lang="ko-KR" sz="2000" spc="-1" strike="noStrike">
                <a:latin typeface="Noto Sans CJK KR"/>
              </a:rPr>
              <a:t>칸으로 나눠 </a:t>
            </a:r>
            <a:r>
              <a:rPr b="0" lang="ko-KR" sz="2000" spc="-1" strike="noStrike">
                <a:latin typeface="Noto Sans CJK KR"/>
              </a:rPr>
              <a:t>바닥보다 </a:t>
            </a:r>
            <a:r>
              <a:rPr b="0" lang="ko-KR" sz="2000" spc="-1" strike="noStrike">
                <a:latin typeface="Noto Sans CJK KR"/>
              </a:rPr>
              <a:t>낮은 곳을 </a:t>
            </a:r>
            <a:r>
              <a:rPr b="0" lang="ko-KR" sz="2000" spc="-1" strike="noStrike">
                <a:latin typeface="Noto Sans CJK KR"/>
              </a:rPr>
              <a:t>찾습니다</a:t>
            </a:r>
            <a:r>
              <a:rPr b="0" lang="en-US" sz="2000" spc="-1" strike="noStrike">
                <a:latin typeface="Noto Sans CJK KR"/>
              </a:rPr>
              <a:t>. IR</a:t>
            </a:r>
            <a:r>
              <a:rPr b="0" lang="ko-KR" sz="2000" spc="-1" strike="noStrike">
                <a:latin typeface="Noto Sans CJK KR"/>
              </a:rPr>
              <a:t>보다 먼저 </a:t>
            </a:r>
            <a:r>
              <a:rPr b="0" lang="ko-KR" sz="2000" spc="-1" strike="noStrike">
                <a:latin typeface="Noto Sans CJK KR"/>
              </a:rPr>
              <a:t>알아야 </a:t>
            </a:r>
            <a:r>
              <a:rPr b="0" lang="ko-KR" sz="2000" spc="-1" strike="noStrike">
                <a:latin typeface="Noto Sans CJK KR"/>
              </a:rPr>
              <a:t>경로를 바꿀 </a:t>
            </a:r>
            <a:r>
              <a:rPr b="0" lang="ko-KR" sz="2000" spc="-1" strike="noStrike">
                <a:latin typeface="Noto Sans CJK KR"/>
              </a:rPr>
              <a:t>시간이 </a:t>
            </a:r>
            <a:r>
              <a:rPr b="0" lang="ko-KR" sz="2000" spc="-1" strike="noStrike">
                <a:latin typeface="Noto Sans CJK KR"/>
              </a:rPr>
              <a:t>생기기 </a:t>
            </a:r>
            <a:r>
              <a:rPr b="0" lang="ko-KR" sz="2000" spc="-1" strike="noStrike">
                <a:latin typeface="Noto Sans CJK KR"/>
              </a:rPr>
              <a:t>때문입니다</a:t>
            </a:r>
            <a:r>
              <a:rPr b="0" lang="en-US" sz="2000" spc="-1" strike="noStrike">
                <a:latin typeface="Noto Sans CJK KR"/>
              </a:rPr>
              <a:t>. </a:t>
            </a:r>
            <a:r>
              <a:rPr b="0" lang="ko-KR" sz="2000" spc="-1" strike="noStrike">
                <a:latin typeface="Noto Sans CJK KR"/>
              </a:rPr>
              <a:t>둘째</a:t>
            </a:r>
            <a:r>
              <a:rPr b="0" lang="en-US" sz="2000" spc="-1" strike="noStrike">
                <a:latin typeface="Noto Sans CJK KR"/>
              </a:rPr>
              <a:t>, </a:t>
            </a:r>
            <a:r>
              <a:rPr b="0" lang="ko-KR" sz="2000" spc="-1" strike="noStrike">
                <a:latin typeface="Noto Sans CJK KR"/>
              </a:rPr>
              <a:t>한 장만 </a:t>
            </a:r>
            <a:r>
              <a:rPr b="0" lang="ko-KR" sz="2000" spc="-1" strike="noStrike">
                <a:latin typeface="Noto Sans CJK KR"/>
              </a:rPr>
              <a:t>보고 </a:t>
            </a:r>
            <a:r>
              <a:rPr b="0" lang="ko-KR" sz="2000" spc="-1" strike="noStrike">
                <a:latin typeface="Noto Sans CJK KR"/>
              </a:rPr>
              <a:t>판단하지 </a:t>
            </a:r>
            <a:r>
              <a:rPr b="0" lang="ko-KR" sz="2000" spc="-1" strike="noStrike">
                <a:latin typeface="Noto Sans CJK KR"/>
              </a:rPr>
              <a:t>않고 베이즈 </a:t>
            </a:r>
            <a:r>
              <a:rPr b="0" lang="ko-KR" sz="2000" spc="-1" strike="noStrike">
                <a:latin typeface="Noto Sans CJK KR"/>
              </a:rPr>
              <a:t>필터로 </a:t>
            </a:r>
            <a:r>
              <a:rPr b="0" lang="ko-KR" sz="2000" spc="-1" strike="noStrike">
                <a:latin typeface="Noto Sans CJK KR"/>
              </a:rPr>
              <a:t>증거를 쌓아</a:t>
            </a:r>
            <a:r>
              <a:rPr b="0" lang="en-US" sz="2000" spc="-1" strike="noStrike">
                <a:latin typeface="Noto Sans CJK KR"/>
              </a:rPr>
              <a:t>, </a:t>
            </a:r>
            <a:r>
              <a:rPr b="0" lang="ko-KR" sz="2000" spc="-1" strike="noStrike">
                <a:latin typeface="Noto Sans CJK KR"/>
              </a:rPr>
              <a:t>여러 장 </a:t>
            </a:r>
            <a:r>
              <a:rPr b="0" lang="ko-KR" sz="2000" spc="-1" strike="noStrike">
                <a:latin typeface="Noto Sans CJK KR"/>
              </a:rPr>
              <a:t>연속으로 </a:t>
            </a:r>
            <a:r>
              <a:rPr b="0" lang="ko-KR" sz="2000" spc="-1" strike="noStrike">
                <a:latin typeface="Noto Sans CJK KR"/>
              </a:rPr>
              <a:t>낮게 보여야 </a:t>
            </a:r>
            <a:r>
              <a:rPr b="0" lang="ko-KR" sz="2000" spc="-1" strike="noStrike">
                <a:latin typeface="Noto Sans CJK KR"/>
              </a:rPr>
              <a:t>낭떠러지로 </a:t>
            </a:r>
            <a:r>
              <a:rPr b="0" lang="ko-KR" sz="2000" spc="-1" strike="noStrike">
                <a:latin typeface="Noto Sans CJK KR"/>
              </a:rPr>
              <a:t>판정합니다</a:t>
            </a:r>
            <a:r>
              <a:rPr b="0" lang="en-US" sz="2000" spc="-1" strike="noStrike">
                <a:latin typeface="Noto Sans CJK KR"/>
              </a:rPr>
              <a:t>. </a:t>
            </a:r>
            <a:r>
              <a:rPr b="0" lang="ko-KR" sz="2000" spc="-1" strike="noStrike">
                <a:latin typeface="Noto Sans CJK KR"/>
              </a:rPr>
              <a:t>햇빛이나 </a:t>
            </a:r>
            <a:r>
              <a:rPr b="0" lang="ko-KR" sz="2000" spc="-1" strike="noStrike">
                <a:latin typeface="Noto Sans CJK KR"/>
              </a:rPr>
              <a:t>잡음에 </a:t>
            </a:r>
            <a:r>
              <a:rPr b="0" lang="ko-KR" sz="2000" spc="-1" strike="noStrike">
                <a:latin typeface="Noto Sans CJK KR"/>
              </a:rPr>
              <a:t>흔들리지 </a:t>
            </a:r>
            <a:r>
              <a:rPr b="0" lang="ko-KR" sz="2000" spc="-1" strike="noStrike">
                <a:latin typeface="Noto Sans CJK KR"/>
              </a:rPr>
              <a:t>않게 하기 </a:t>
            </a:r>
            <a:r>
              <a:rPr b="0" lang="ko-KR" sz="2000" spc="-1" strike="noStrike">
                <a:latin typeface="Noto Sans CJK KR"/>
              </a:rPr>
              <a:t>위해서입니</a:t>
            </a:r>
            <a:r>
              <a:rPr b="0" lang="ko-KR" sz="2000" spc="-1" strike="noStrike">
                <a:latin typeface="Noto Sans CJK KR"/>
              </a:rPr>
              <a:t>다</a:t>
            </a:r>
            <a:r>
              <a:rPr b="0" lang="en-US" sz="2000" spc="-1" strike="noStrike">
                <a:latin typeface="Noto Sans CJK KR"/>
              </a:rPr>
              <a:t>. </a:t>
            </a:r>
            <a:r>
              <a:rPr b="0" lang="ko-KR" sz="2000" spc="-1" strike="noStrike">
                <a:latin typeface="Noto Sans CJK KR"/>
              </a:rPr>
              <a:t>셋째</a:t>
            </a:r>
            <a:r>
              <a:rPr b="0" lang="en-US" sz="2000" spc="-1" strike="noStrike">
                <a:latin typeface="Noto Sans CJK KR"/>
              </a:rPr>
              <a:t>, </a:t>
            </a:r>
            <a:r>
              <a:rPr b="0" lang="ko-KR" sz="2000" spc="-1" strike="noStrike">
                <a:latin typeface="Noto Sans CJK KR"/>
              </a:rPr>
              <a:t>판정한 </a:t>
            </a:r>
            <a:r>
              <a:rPr b="0" lang="ko-KR" sz="2000" spc="-1" strike="noStrike">
                <a:latin typeface="Noto Sans CJK KR"/>
              </a:rPr>
              <a:t>낭떠러지를 </a:t>
            </a:r>
            <a:r>
              <a:rPr b="0" lang="ko-KR" sz="2000" spc="-1" strike="noStrike">
                <a:latin typeface="Noto Sans CJK KR"/>
              </a:rPr>
              <a:t>지도 좌표가 </a:t>
            </a:r>
            <a:r>
              <a:rPr b="0" lang="ko-KR" sz="2000" spc="-1" strike="noStrike">
                <a:latin typeface="Noto Sans CJK KR"/>
              </a:rPr>
              <a:t>아니라 바퀴 </a:t>
            </a:r>
            <a:r>
              <a:rPr b="0" lang="ko-KR" sz="2000" spc="-1" strike="noStrike">
                <a:latin typeface="Noto Sans CJK KR"/>
              </a:rPr>
              <a:t>기준 좌표에 </a:t>
            </a:r>
            <a:r>
              <a:rPr b="0" lang="ko-KR" sz="2000" spc="-1" strike="noStrike">
                <a:latin typeface="Noto Sans CJK KR"/>
              </a:rPr>
              <a:t>기억합니다</a:t>
            </a:r>
            <a:r>
              <a:rPr b="0" lang="en-US" sz="2000" spc="-1" strike="noStrike">
                <a:latin typeface="Noto Sans CJK KR"/>
              </a:rPr>
              <a:t>. </a:t>
            </a:r>
            <a:r>
              <a:rPr b="0" lang="ko-KR" sz="2000" spc="-1" strike="noStrike">
                <a:latin typeface="Noto Sans CJK KR"/>
              </a:rPr>
              <a:t>카메라는 </a:t>
            </a:r>
            <a:r>
              <a:rPr b="0" lang="ko-KR" sz="2000" spc="-1" strike="noStrike">
                <a:latin typeface="Noto Sans CJK KR"/>
              </a:rPr>
              <a:t>앞만 보기 </a:t>
            </a:r>
            <a:r>
              <a:rPr b="0" lang="ko-KR" sz="2000" spc="-1" strike="noStrike">
                <a:latin typeface="Noto Sans CJK KR"/>
              </a:rPr>
              <a:t>때문에 </a:t>
            </a:r>
            <a:r>
              <a:rPr b="0" lang="ko-KR" sz="2000" spc="-1" strike="noStrike">
                <a:latin typeface="Noto Sans CJK KR"/>
              </a:rPr>
              <a:t>돌거나 </a:t>
            </a:r>
            <a:r>
              <a:rPr b="0" lang="ko-KR" sz="2000" spc="-1" strike="noStrike">
                <a:latin typeface="Noto Sans CJK KR"/>
              </a:rPr>
              <a:t>물러날 때 </a:t>
            </a:r>
            <a:r>
              <a:rPr b="0" lang="ko-KR" sz="2000" spc="-1" strike="noStrike">
                <a:latin typeface="Noto Sans CJK KR"/>
              </a:rPr>
              <a:t>기억이 </a:t>
            </a:r>
            <a:r>
              <a:rPr b="0" lang="ko-KR" sz="2000" spc="-1" strike="noStrike">
                <a:latin typeface="Noto Sans CJK KR"/>
              </a:rPr>
              <a:t>필요하고</a:t>
            </a:r>
            <a:r>
              <a:rPr b="0" lang="en-US" sz="2000" spc="-1" strike="noStrike">
                <a:latin typeface="Noto Sans CJK KR"/>
              </a:rPr>
              <a:t>, </a:t>
            </a:r>
            <a:r>
              <a:rPr b="0" lang="ko-KR" sz="2000" spc="-1" strike="noStrike">
                <a:latin typeface="Noto Sans CJK KR"/>
              </a:rPr>
              <a:t>지도 좌표는 </a:t>
            </a:r>
            <a:r>
              <a:rPr b="0" lang="ko-KR" sz="2000" spc="-1" strike="noStrike">
                <a:latin typeface="Noto Sans CJK KR"/>
              </a:rPr>
              <a:t>위치추정이 </a:t>
            </a:r>
            <a:r>
              <a:rPr b="0" lang="ko-KR" sz="2000" spc="-1" strike="noStrike">
                <a:latin typeface="Noto Sans CJK KR"/>
              </a:rPr>
              <a:t>고쳐질 때 </a:t>
            </a:r>
            <a:r>
              <a:rPr b="0" lang="ko-KR" sz="2000" spc="-1" strike="noStrike">
                <a:latin typeface="Noto Sans CJK KR"/>
              </a:rPr>
              <a:t>뛰기 </a:t>
            </a:r>
            <a:r>
              <a:rPr b="0" lang="ko-KR" sz="2000" spc="-1" strike="noStrike">
                <a:latin typeface="Noto Sans CJK KR"/>
              </a:rPr>
              <a:t>때문입니다</a:t>
            </a:r>
            <a:r>
              <a:rPr b="0" lang="en-US" sz="2000" spc="-1" strike="noStrike">
                <a:latin typeface="Noto Sans CJK KR"/>
              </a:rPr>
              <a:t>. </a:t>
            </a:r>
            <a:r>
              <a:rPr b="0" lang="ko-KR" sz="2000" spc="-1" strike="noStrike">
                <a:latin typeface="Noto Sans CJK KR"/>
              </a:rPr>
              <a:t>판정 결과는 </a:t>
            </a:r>
            <a:r>
              <a:rPr b="0" lang="en-US" sz="2000" spc="-1" strike="noStrike">
                <a:latin typeface="Noto Sans CJK KR"/>
              </a:rPr>
              <a:t>Nav2 </a:t>
            </a:r>
            <a:r>
              <a:rPr b="0" lang="ko-KR" sz="2000" spc="-1" strike="noStrike">
                <a:latin typeface="Noto Sans CJK KR"/>
              </a:rPr>
              <a:t>금지구역으</a:t>
            </a:r>
            <a:r>
              <a:rPr b="0" lang="ko-KR" sz="2000" spc="-1" strike="noStrike">
                <a:latin typeface="Noto Sans CJK KR"/>
              </a:rPr>
              <a:t>로 넣어 미리 </a:t>
            </a:r>
            <a:r>
              <a:rPr b="0" lang="ko-KR" sz="2000" spc="-1" strike="noStrike">
                <a:latin typeface="Noto Sans CJK KR"/>
              </a:rPr>
              <a:t>돌아가게 </a:t>
            </a:r>
            <a:r>
              <a:rPr b="0" lang="ko-KR" sz="2000" spc="-1" strike="noStrike">
                <a:latin typeface="Noto Sans CJK KR"/>
              </a:rPr>
              <a:t>하고</a:t>
            </a:r>
            <a:r>
              <a:rPr b="0" lang="en-US" sz="2000" spc="-1" strike="noStrike">
                <a:latin typeface="Noto Sans CJK KR"/>
              </a:rPr>
              <a:t>, </a:t>
            </a:r>
            <a:r>
              <a:rPr b="0" lang="ko-KR" sz="2000" spc="-1" strike="noStrike">
                <a:latin typeface="Noto Sans CJK KR"/>
              </a:rPr>
              <a:t>카메라가 못 </a:t>
            </a:r>
            <a:r>
              <a:rPr b="0" lang="ko-KR" sz="2000" spc="-1" strike="noStrike">
                <a:latin typeface="Noto Sans CJK KR"/>
              </a:rPr>
              <a:t>보는 경우를 </a:t>
            </a:r>
            <a:r>
              <a:rPr b="0" lang="ko-KR" sz="2000" spc="-1" strike="noStrike">
                <a:latin typeface="Noto Sans CJK KR"/>
              </a:rPr>
              <a:t>위해 </a:t>
            </a:r>
            <a:r>
              <a:rPr b="0" lang="en-US" sz="2000" spc="-1" strike="noStrike">
                <a:latin typeface="Noto Sans CJK KR"/>
              </a:rPr>
              <a:t>IR</a:t>
            </a:r>
            <a:r>
              <a:rPr b="0" lang="ko-KR" sz="2000" spc="-1" strike="noStrike">
                <a:latin typeface="Noto Sans CJK KR"/>
              </a:rPr>
              <a:t>을 </a:t>
            </a:r>
            <a:r>
              <a:rPr b="0" lang="ko-KR" sz="2000" spc="-1" strike="noStrike">
                <a:latin typeface="Noto Sans CJK KR"/>
              </a:rPr>
              <a:t>마지막 </a:t>
            </a:r>
            <a:r>
              <a:rPr b="0" lang="ko-KR" sz="2000" spc="-1" strike="noStrike">
                <a:latin typeface="Noto Sans CJK KR"/>
              </a:rPr>
              <a:t>층으로 </a:t>
            </a:r>
            <a:r>
              <a:rPr b="0" lang="ko-KR" sz="2000" spc="-1" strike="noStrike">
                <a:latin typeface="Noto Sans CJK KR"/>
              </a:rPr>
              <a:t>남깁니다</a:t>
            </a:r>
            <a:r>
              <a:rPr b="0" lang="en-US" sz="2000" spc="-1" strike="noStrike">
                <a:latin typeface="Noto Sans CJK KR"/>
              </a:rPr>
              <a:t>. </a:t>
            </a:r>
            <a:r>
              <a:rPr b="0" lang="ko-KR" sz="2000" spc="-1" strike="noStrike">
                <a:latin typeface="Noto Sans CJK KR"/>
              </a:rPr>
              <a:t>이것이 제안 </a:t>
            </a:r>
            <a:r>
              <a:rPr b="0" lang="ko-KR" sz="2000" spc="-1" strike="noStrike">
                <a:latin typeface="Noto Sans CJK KR"/>
              </a:rPr>
              <a:t>방식 </a:t>
            </a:r>
            <a:r>
              <a:rPr b="0" lang="en-US" sz="2000" spc="-1" strike="noStrike">
                <a:latin typeface="Noto Sans CJK KR"/>
              </a:rPr>
              <a:t>P3i</a:t>
            </a:r>
            <a:r>
              <a:rPr b="0" lang="ko-KR" sz="2000" spc="-1" strike="noStrike">
                <a:latin typeface="Noto Sans CJK KR"/>
              </a:rPr>
              <a:t>입니다</a:t>
            </a:r>
            <a:r>
              <a:rPr b="0" lang="en-US" sz="2000" spc="-1" strike="noStrike">
                <a:latin typeface="Noto Sans CJK KR"/>
              </a:rPr>
              <a:t>.</a:t>
            </a:r>
            <a:endParaRPr b="0" lang="en-US" sz="2000" spc="-1" strike="noStrike">
              <a:latin typeface="Noto Sans CJK KR"/>
            </a:endParaRPr>
          </a:p>
        </p:txBody>
      </p:sp>
      <p:sp>
        <p:nvSpPr>
          <p:cNvPr id="388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CFBDDCDA-115E-4DF1-AEF6-DD2779A58373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8</a:t>
            </a:fld>
            <a:endParaRPr b="0" lang="en-US" sz="1800" spc="-1" strike="noStrike">
              <a:latin typeface="Noto Serif CJK KR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9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r>
              <a:rPr b="0" lang="en-US" sz="2000" spc="-1" strike="noStrike">
                <a:latin typeface="Noto Sans CJK KR"/>
              </a:rPr>
              <a:t>[40 s]</a:t>
            </a:r>
            <a:endParaRPr b="0" lang="en-US" sz="2000" spc="-1" strike="noStrike">
              <a:latin typeface="Noto Sans CJK KR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ko-KR" sz="2000" spc="-1" strike="noStrike">
                <a:latin typeface="Noto Sans CJK KR"/>
              </a:rPr>
              <a:t>검증 환경은 </a:t>
            </a:r>
            <a:r>
              <a:rPr b="0" lang="en-US" sz="2000" spc="-1" strike="noStrike">
                <a:latin typeface="Noto Sans CJK KR"/>
              </a:rPr>
              <a:t>ROS 2, Gazebo, Nav2</a:t>
            </a:r>
            <a:r>
              <a:rPr b="0" lang="ko-KR" sz="2000" spc="-1" strike="noStrike">
                <a:latin typeface="Noto Sans CJK KR"/>
              </a:rPr>
              <a:t>로 구축했습니다</a:t>
            </a:r>
            <a:r>
              <a:rPr b="0" lang="en-US" sz="2000" spc="-1" strike="noStrike">
                <a:latin typeface="Noto Sans CJK KR"/>
              </a:rPr>
              <a:t>. </a:t>
            </a:r>
            <a:r>
              <a:rPr b="0" lang="ko-KR" sz="2000" spc="-1" strike="noStrike">
                <a:latin typeface="Noto Sans CJK KR"/>
              </a:rPr>
              <a:t>계단 두 곳이 있는 건물 한 층을 만들</a:t>
            </a:r>
            <a:r>
              <a:rPr b="0" lang="ko-KR" sz="2000" spc="-1" strike="noStrike">
                <a:latin typeface="Noto Sans CJK KR"/>
              </a:rPr>
              <a:t>고</a:t>
            </a:r>
            <a:r>
              <a:rPr b="0" lang="en-US" sz="2000" spc="-1" strike="noStrike">
                <a:latin typeface="Noto Sans CJK KR"/>
              </a:rPr>
              <a:t>, slam_toolbox</a:t>
            </a:r>
            <a:r>
              <a:rPr b="0" lang="ko-KR" sz="2000" spc="-1" strike="noStrike">
                <a:latin typeface="Noto Sans CJK KR"/>
              </a:rPr>
              <a:t>로 계단이 빈 바닥으로 찍힌 지도를 직접 만들었습니다</a:t>
            </a:r>
            <a:r>
              <a:rPr b="0" lang="en-US" sz="2000" spc="-1" strike="noStrike">
                <a:latin typeface="Noto Sans CJK KR"/>
              </a:rPr>
              <a:t>. </a:t>
            </a:r>
            <a:r>
              <a:rPr b="0" lang="ko-KR" sz="2000" spc="-1" strike="noStrike">
                <a:latin typeface="Noto Sans CJK KR"/>
              </a:rPr>
              <a:t>평상시</a:t>
            </a:r>
            <a:r>
              <a:rPr b="0" lang="en-US" sz="2000" spc="-1" strike="noStrike">
                <a:latin typeface="Noto Sans CJK KR"/>
              </a:rPr>
              <a:t>, </a:t>
            </a:r>
            <a:r>
              <a:rPr b="0" lang="ko-KR" sz="2000" spc="-1" strike="noStrike">
                <a:latin typeface="Noto Sans CJK KR"/>
              </a:rPr>
              <a:t>사람이 </a:t>
            </a:r>
            <a:r>
              <a:rPr b="0" lang="ko-KR" sz="2000" spc="-1" strike="noStrike">
                <a:latin typeface="Noto Sans CJK KR"/>
              </a:rPr>
              <a:t>막는 상황</a:t>
            </a:r>
            <a:r>
              <a:rPr b="0" lang="en-US" sz="2000" spc="-1" strike="noStrike">
                <a:latin typeface="Noto Sans CJK KR"/>
              </a:rPr>
              <a:t>, </a:t>
            </a:r>
            <a:r>
              <a:rPr b="0" lang="ko-KR" sz="2000" spc="-1" strike="noStrike">
                <a:latin typeface="Noto Sans CJK KR"/>
              </a:rPr>
              <a:t>위치 착각</a:t>
            </a:r>
            <a:r>
              <a:rPr b="0" lang="en-US" sz="2000" spc="-1" strike="noStrike">
                <a:latin typeface="Noto Sans CJK KR"/>
              </a:rPr>
              <a:t>, </a:t>
            </a:r>
            <a:r>
              <a:rPr b="0" lang="ko-KR" sz="2000" spc="-1" strike="noStrike">
                <a:latin typeface="Noto Sans CJK KR"/>
              </a:rPr>
              <a:t>계단 표시 누락에 더해 검은 계단</a:t>
            </a:r>
            <a:r>
              <a:rPr b="0" lang="en-US" sz="2000" spc="-1" strike="noStrike">
                <a:latin typeface="Noto Sans CJK KR"/>
              </a:rPr>
              <a:t>, </a:t>
            </a:r>
            <a:r>
              <a:rPr b="0" lang="ko-KR" sz="2000" spc="-1" strike="noStrike">
                <a:latin typeface="Noto Sans CJK KR"/>
              </a:rPr>
              <a:t>미끄러운 바닥</a:t>
            </a:r>
            <a:r>
              <a:rPr b="0" lang="en-US" sz="2000" spc="-1" strike="noStrike">
                <a:latin typeface="Noto Sans CJK KR"/>
              </a:rPr>
              <a:t>, </a:t>
            </a:r>
            <a:r>
              <a:rPr b="0" lang="ko-KR" sz="2000" spc="-1" strike="noStrike">
                <a:latin typeface="Noto Sans CJK KR"/>
              </a:rPr>
              <a:t>움직이는 사람</a:t>
            </a:r>
            <a:r>
              <a:rPr b="0" lang="en-US" sz="2000" spc="-1" strike="noStrike">
                <a:latin typeface="Noto Sans CJK KR"/>
              </a:rPr>
              <a:t>, </a:t>
            </a:r>
            <a:r>
              <a:rPr b="0" lang="ko-KR" sz="2000" spc="-1" strike="noStrike">
                <a:latin typeface="Noto Sans CJK KR"/>
              </a:rPr>
              <a:t>뒤로 비켜 주기까지 비교합니다</a:t>
            </a:r>
            <a:r>
              <a:rPr b="0" lang="en-US" sz="2000" spc="-1" strike="noStrike">
                <a:latin typeface="Noto Sans CJK KR"/>
              </a:rPr>
              <a:t>. </a:t>
            </a:r>
            <a:r>
              <a:rPr b="0" lang="ko-KR" sz="2000" spc="-1" strike="noStrike">
                <a:latin typeface="Noto Sans CJK KR"/>
              </a:rPr>
              <a:t>비교 대상은 지도만 쓰는 방식부터 현장 표준인 </a:t>
            </a:r>
            <a:r>
              <a:rPr b="0" lang="ko-KR" sz="2000" spc="-1" strike="noStrike">
                <a:latin typeface="Noto Sans CJK KR"/>
              </a:rPr>
              <a:t>금지구역과 </a:t>
            </a:r>
            <a:r>
              <a:rPr b="0" lang="en-US" sz="2000" spc="-1" strike="noStrike">
                <a:latin typeface="Noto Sans CJK KR"/>
              </a:rPr>
              <a:t>IR</a:t>
            </a:r>
            <a:r>
              <a:rPr b="0" lang="ko-KR" sz="2000" spc="-1" strike="noStrike">
                <a:latin typeface="Noto Sans CJK KR"/>
              </a:rPr>
              <a:t>까지입니다</a:t>
            </a:r>
            <a:r>
              <a:rPr b="0" lang="en-US" sz="2000" spc="-1" strike="noStrike">
                <a:latin typeface="Noto Sans CJK KR"/>
              </a:rPr>
              <a:t>. </a:t>
            </a:r>
            <a:r>
              <a:rPr b="0" lang="ko-KR" sz="2000" spc="-1" strike="noStrike">
                <a:latin typeface="Noto Sans CJK KR"/>
              </a:rPr>
              <a:t>결과를 보고 기준을 고른다는 비판을 막기 위해</a:t>
            </a:r>
            <a:r>
              <a:rPr b="0" lang="en-US" sz="2000" spc="-1" strike="noStrike">
                <a:latin typeface="Noto Sans CJK KR"/>
              </a:rPr>
              <a:t>, </a:t>
            </a:r>
            <a:r>
              <a:rPr b="0" lang="ko-KR" sz="2000" spc="-1" strike="noStrike">
                <a:latin typeface="Noto Sans CJK KR"/>
              </a:rPr>
              <a:t>판정 기준은 </a:t>
            </a:r>
            <a:r>
              <a:rPr b="0" lang="ko-KR" sz="2000" spc="-1" strike="noStrike">
                <a:latin typeface="Noto Sans CJK KR"/>
              </a:rPr>
              <a:t>실험 전에 고정했습니다</a:t>
            </a:r>
            <a:r>
              <a:rPr b="0" lang="en-US" sz="2000" spc="-1" strike="noStrike">
                <a:latin typeface="Noto Sans CJK KR"/>
              </a:rPr>
              <a:t>.</a:t>
            </a:r>
            <a:endParaRPr b="0" lang="en-US" sz="2000" spc="-1" strike="noStrike">
              <a:latin typeface="Noto Sans CJK KR"/>
            </a:endParaRPr>
          </a:p>
        </p:txBody>
      </p:sp>
      <p:sp>
        <p:nvSpPr>
          <p:cNvPr id="391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B6155C68-C9BD-4CEC-8CC9-E8F9288262BE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8</a:t>
            </a:fld>
            <a:endParaRPr b="0" lang="en-US" sz="1800" spc="-1" strike="noStrike">
              <a:latin typeface="Noto Serif CJK KR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9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r>
              <a:rPr b="0" lang="en-US" sz="2000" spc="-1" strike="noStrike">
                <a:latin typeface="Noto Sans CJK KR"/>
              </a:rPr>
              <a:t>[35 s]</a:t>
            </a:r>
            <a:endParaRPr b="0" lang="en-US" sz="2000" spc="-1" strike="noStrike">
              <a:latin typeface="Noto Sans CJK KR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ko-KR" sz="2000" spc="-1" strike="noStrike">
                <a:latin typeface="Noto Sans CJK KR"/>
              </a:rPr>
              <a:t>가설은 네 가지입니다</a:t>
            </a:r>
            <a:r>
              <a:rPr b="0" lang="en-US" sz="2000" spc="-1" strike="noStrike">
                <a:latin typeface="Noto Sans CJK KR"/>
              </a:rPr>
              <a:t>. </a:t>
            </a:r>
            <a:r>
              <a:rPr b="0" lang="ko-KR" sz="2000" spc="-1" strike="noStrike">
                <a:latin typeface="Noto Sans CJK KR"/>
              </a:rPr>
              <a:t>가장 중요한 것은</a:t>
            </a:r>
            <a:r>
              <a:rPr b="0" lang="en-US" sz="2000" spc="-1" strike="noStrike">
                <a:latin typeface="Noto Sans CJK KR"/>
              </a:rPr>
              <a:t>, </a:t>
            </a:r>
            <a:r>
              <a:rPr b="0" lang="ko-KR" sz="2000" spc="-1" strike="noStrike">
                <a:latin typeface="Noto Sans CJK KR"/>
              </a:rPr>
              <a:t>악조건에서 제안 방식의 안전 실패율이 현장 표준보다 유의하게 낮고</a:t>
            </a:r>
            <a:r>
              <a:rPr b="0" lang="en-US" sz="2000" spc="-1" strike="noStrike">
                <a:latin typeface="Noto Sans CJK KR"/>
              </a:rPr>
              <a:t>, </a:t>
            </a:r>
            <a:r>
              <a:rPr b="0" lang="ko-KR" sz="2000" spc="-1" strike="noStrike">
                <a:latin typeface="Noto Sans CJK KR"/>
              </a:rPr>
              <a:t>도착률은 </a:t>
            </a:r>
            <a:r>
              <a:rPr b="0" lang="en-US" sz="2000" spc="-1" strike="noStrike">
                <a:latin typeface="Noto Sans CJK KR"/>
              </a:rPr>
              <a:t>10 %p </a:t>
            </a:r>
            <a:r>
              <a:rPr b="0" lang="ko-KR" sz="2000" spc="-1" strike="noStrike">
                <a:latin typeface="Noto Sans CJK KR"/>
              </a:rPr>
              <a:t>넘게 떨어지지 않는다는 것입니다</a:t>
            </a:r>
            <a:r>
              <a:rPr b="0" lang="en-US" sz="2000" spc="-1" strike="noStrike">
                <a:latin typeface="Noto Sans CJK KR"/>
              </a:rPr>
              <a:t>. </a:t>
            </a:r>
            <a:r>
              <a:rPr b="0" lang="ko-KR" sz="2000" spc="-1" strike="noStrike">
                <a:latin typeface="Noto Sans CJK KR"/>
              </a:rPr>
              <a:t>반대로 평상시에는 차이가 없을 것으로 봅니다</a:t>
            </a:r>
            <a:r>
              <a:rPr b="0" lang="en-US" sz="2000" spc="-1" strike="noStrike">
                <a:latin typeface="Noto Sans CJK KR"/>
              </a:rPr>
              <a:t>. </a:t>
            </a:r>
            <a:r>
              <a:rPr b="0" lang="ko-KR" sz="2000" spc="-1" strike="noStrike">
                <a:latin typeface="Noto Sans CJK KR"/>
              </a:rPr>
              <a:t>제안의 가치는 악조건에서 나온다는 뜻입니다</a:t>
            </a:r>
            <a:r>
              <a:rPr b="0" lang="en-US" sz="2000" spc="-1" strike="noStrike">
                <a:latin typeface="Noto Sans CJK KR"/>
              </a:rPr>
              <a:t>. </a:t>
            </a:r>
            <a:r>
              <a:rPr b="0" lang="ko-KR" sz="2000" spc="-1" strike="noStrike">
                <a:latin typeface="Noto Sans CJK KR"/>
              </a:rPr>
              <a:t>또 기억은 지도가 아니라 바퀴 기준 좌표에 둬야 위치 착각에 견딜 것으로 예상합니다</a:t>
            </a:r>
            <a:r>
              <a:rPr b="0" lang="en-US" sz="2000" spc="-1" strike="noStrike">
                <a:latin typeface="Noto Sans CJK KR"/>
              </a:rPr>
              <a:t>.</a:t>
            </a:r>
            <a:endParaRPr b="0" lang="en-US" sz="2000" spc="-1" strike="noStrike">
              <a:latin typeface="Noto Sans CJK KR"/>
            </a:endParaRPr>
          </a:p>
        </p:txBody>
      </p:sp>
      <p:sp>
        <p:nvSpPr>
          <p:cNvPr id="394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DD393D81-9C9D-491C-A585-6E36CFDF74E3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8</a:t>
            </a:fld>
            <a:endParaRPr b="0" lang="en-US" sz="1800" spc="-1" strike="noStrike">
              <a:latin typeface="Noto Serif CJK KR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9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r>
              <a:rPr b="0" lang="en-US" sz="2000" spc="-1" strike="noStrike">
                <a:latin typeface="Noto Sans CJK KR"/>
              </a:rPr>
              <a:t>[30 s]</a:t>
            </a:r>
            <a:endParaRPr b="0" lang="en-US" sz="2000" spc="-1" strike="noStrike">
              <a:latin typeface="Noto Sans CJK KR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ko-KR" sz="2000" spc="-1" strike="noStrike">
                <a:latin typeface="Noto Sans CJK KR"/>
              </a:rPr>
              <a:t>필터와 기억이 각각 왜 필요한지는 </a:t>
            </a:r>
            <a:r>
              <a:rPr b="0" lang="en-US" sz="2000" spc="-1" strike="noStrike">
                <a:latin typeface="Noto Sans CJK KR"/>
              </a:rPr>
              <a:t>2×2 </a:t>
            </a:r>
            <a:r>
              <a:rPr b="0" lang="ko-KR" sz="2000" spc="-1" strike="noStrike">
                <a:latin typeface="Noto Sans CJK KR"/>
              </a:rPr>
              <a:t>설계로 따로 검증합니다</a:t>
            </a:r>
            <a:r>
              <a:rPr b="0" lang="en-US" sz="2000" spc="-1" strike="noStrike">
                <a:latin typeface="Noto Sans CJK KR"/>
              </a:rPr>
              <a:t>. </a:t>
            </a:r>
            <a:r>
              <a:rPr b="0" lang="ko-KR" sz="2000" spc="-1" strike="noStrike">
                <a:latin typeface="Noto Sans CJK KR"/>
              </a:rPr>
              <a:t>필터 없이 기억만 두면 가짜 낭떠러지가 쌓여 길이 막히고</a:t>
            </a:r>
            <a:r>
              <a:rPr b="0" lang="en-US" sz="2000" spc="-1" strike="noStrike">
                <a:latin typeface="Noto Sans CJK KR"/>
              </a:rPr>
              <a:t>, </a:t>
            </a:r>
            <a:r>
              <a:rPr b="0" lang="ko-KR" sz="2000" spc="-1" strike="noStrike">
                <a:latin typeface="Noto Sans CJK KR"/>
              </a:rPr>
              <a:t>기억 없이 필터만 두면 뒤로 물러날 때 떨어질 </a:t>
            </a:r>
            <a:r>
              <a:rPr b="0" lang="ko-KR" sz="2000" spc="-1" strike="noStrike">
                <a:latin typeface="Noto Sans CJK KR"/>
              </a:rPr>
              <a:t>것으로 예측합니다</a:t>
            </a:r>
            <a:r>
              <a:rPr b="0" lang="en-US" sz="2000" spc="-1" strike="noStrike">
                <a:latin typeface="Noto Sans CJK KR"/>
              </a:rPr>
              <a:t>. </a:t>
            </a:r>
            <a:r>
              <a:rPr b="0" lang="ko-KR" sz="2000" spc="-1" strike="noStrike">
                <a:latin typeface="Noto Sans CJK KR"/>
              </a:rPr>
              <a:t>두 예측이 맞으면 두 요소가 각각 필요하다는 것을 따로 보일 수 있습니다</a:t>
            </a:r>
            <a:r>
              <a:rPr b="0" lang="en-US" sz="2000" spc="-1" strike="noStrike">
                <a:latin typeface="Noto Sans CJK KR"/>
              </a:rPr>
              <a:t>.</a:t>
            </a:r>
            <a:endParaRPr b="0" lang="en-US" sz="2000" spc="-1" strike="noStrike">
              <a:latin typeface="Noto Sans CJK KR"/>
            </a:endParaRPr>
          </a:p>
        </p:txBody>
      </p:sp>
      <p:sp>
        <p:nvSpPr>
          <p:cNvPr id="397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BE90B995-B812-47DF-89C1-7D40DD1F5C54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8</a:t>
            </a:fld>
            <a:endParaRPr b="0" lang="en-US" sz="1800" spc="-1" strike="noStrike">
              <a:latin typeface="Noto Serif CJK KR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9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r>
              <a:rPr b="0" lang="en-US" sz="2000" spc="-1" strike="noStrike">
                <a:latin typeface="Noto Sans CJK KR"/>
              </a:rPr>
              <a:t>[35 s]</a:t>
            </a:r>
            <a:endParaRPr b="0" lang="en-US" sz="2000" spc="-1" strike="noStrike">
              <a:latin typeface="Noto Sans CJK KR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ko-KR" sz="2000" spc="-1" strike="noStrike">
                <a:latin typeface="Noto Sans CJK KR"/>
              </a:rPr>
              <a:t>위험 요소도 미리 정리했습니다</a:t>
            </a:r>
            <a:r>
              <a:rPr b="0" lang="en-US" sz="2000" spc="-1" strike="noStrike">
                <a:latin typeface="Noto Sans CJK KR"/>
              </a:rPr>
              <a:t>. </a:t>
            </a:r>
            <a:r>
              <a:rPr b="0" lang="ko-KR" sz="2000" spc="-1" strike="noStrike">
                <a:latin typeface="Noto Sans CJK KR"/>
              </a:rPr>
              <a:t>반사가 없는 바닥에서는 깊이값이 </a:t>
            </a:r>
            <a:r>
              <a:rPr b="0" lang="ko-KR" sz="2000" spc="-1" strike="noStrike">
                <a:latin typeface="Noto Sans CJK KR"/>
              </a:rPr>
              <a:t>나오지 않아 </a:t>
            </a:r>
            <a:r>
              <a:rPr b="0" lang="en-US" sz="2000" spc="-1" strike="noStrike">
                <a:latin typeface="Noto Sans CJK KR"/>
              </a:rPr>
              <a:t>IR</a:t>
            </a:r>
            <a:r>
              <a:rPr b="0" lang="ko-KR" sz="2000" spc="-1" strike="noStrike">
                <a:latin typeface="Noto Sans CJK KR"/>
              </a:rPr>
              <a:t>을 마지막 층으로 </a:t>
            </a:r>
            <a:r>
              <a:rPr b="0" lang="ko-KR" sz="2000" spc="-1" strike="noStrike">
                <a:latin typeface="Noto Sans CJK KR"/>
              </a:rPr>
              <a:t>남겼고</a:t>
            </a:r>
            <a:r>
              <a:rPr b="0" lang="en-US" sz="2000" spc="-1" strike="noStrike">
                <a:latin typeface="Noto Sans CJK KR"/>
              </a:rPr>
              <a:t>, </a:t>
            </a:r>
            <a:r>
              <a:rPr b="0" lang="ko-KR" sz="2000" spc="-1" strike="noStrike">
                <a:latin typeface="Noto Sans CJK KR"/>
              </a:rPr>
              <a:t>한 월드에만 맞춘 설정이 </a:t>
            </a:r>
            <a:r>
              <a:rPr b="0" lang="ko-KR" sz="2000" spc="-1" strike="noStrike">
                <a:latin typeface="Noto Sans CJK KR"/>
              </a:rPr>
              <a:t>되지 않도록 두 번째 월드에서 </a:t>
            </a:r>
            <a:r>
              <a:rPr b="0" lang="ko-KR" sz="2000" spc="-1" strike="noStrike">
                <a:latin typeface="Noto Sans CJK KR"/>
              </a:rPr>
              <a:t>같은 설정으로 확인할 계획입니</a:t>
            </a:r>
            <a:r>
              <a:rPr b="0" lang="ko-KR" sz="2000" spc="-1" strike="noStrike">
                <a:latin typeface="Noto Sans CJK KR"/>
              </a:rPr>
              <a:t>다</a:t>
            </a:r>
            <a:r>
              <a:rPr b="0" lang="en-US" sz="2000" spc="-1" strike="noStrike">
                <a:latin typeface="Noto Sans CJK KR"/>
              </a:rPr>
              <a:t>. </a:t>
            </a:r>
            <a:r>
              <a:rPr b="0" lang="ko-KR" sz="2000" spc="-1" strike="noStrike">
                <a:latin typeface="Noto Sans CJK KR"/>
              </a:rPr>
              <a:t>최종 발표에서는 현장 </a:t>
            </a:r>
            <a:r>
              <a:rPr b="0" lang="ko-KR" sz="2000" spc="-1" strike="noStrike">
                <a:latin typeface="Noto Sans CJK KR"/>
              </a:rPr>
              <a:t>표준과의 비교</a:t>
            </a:r>
            <a:r>
              <a:rPr b="0" lang="en-US" sz="2000" spc="-1" strike="noStrike">
                <a:latin typeface="Noto Sans CJK KR"/>
              </a:rPr>
              <a:t>, </a:t>
            </a:r>
            <a:r>
              <a:rPr b="0" lang="ko-KR" sz="2000" spc="-1" strike="noStrike">
                <a:latin typeface="Noto Sans CJK KR"/>
              </a:rPr>
              <a:t>악조건별 결과</a:t>
            </a:r>
            <a:r>
              <a:rPr b="0" lang="en-US" sz="2000" spc="-1" strike="noStrike">
                <a:latin typeface="Noto Sans CJK KR"/>
              </a:rPr>
              <a:t>, </a:t>
            </a:r>
            <a:r>
              <a:rPr b="0" lang="ko-KR" sz="2000" spc="-1" strike="noStrike">
                <a:latin typeface="Noto Sans CJK KR"/>
              </a:rPr>
              <a:t>구성 요소 분석을 보여 </a:t>
            </a:r>
            <a:r>
              <a:rPr b="0" lang="ko-KR" sz="2000" spc="-1" strike="noStrike">
                <a:latin typeface="Noto Sans CJK KR"/>
              </a:rPr>
              <a:t>드리겠습니다</a:t>
            </a:r>
            <a:r>
              <a:rPr b="0" lang="en-US" sz="2000" spc="-1" strike="noStrike">
                <a:latin typeface="Noto Sans CJK KR"/>
              </a:rPr>
              <a:t>. </a:t>
            </a:r>
            <a:r>
              <a:rPr b="0" lang="ko-KR" sz="2000" spc="-1" strike="noStrike">
                <a:latin typeface="Noto Sans CJK KR"/>
              </a:rPr>
              <a:t>저희 제안은 현장 </a:t>
            </a:r>
            <a:r>
              <a:rPr b="0" lang="ko-KR" sz="2000" spc="-1" strike="noStrike">
                <a:latin typeface="Noto Sans CJK KR"/>
              </a:rPr>
              <a:t>방식을 대체하는 것이 아니라</a:t>
            </a:r>
            <a:r>
              <a:rPr b="0" lang="en-US" sz="2000" spc="-1" strike="noStrike">
                <a:latin typeface="Noto Sans CJK KR"/>
              </a:rPr>
              <a:t>, </a:t>
            </a:r>
            <a:r>
              <a:rPr b="0" lang="ko-KR" sz="2000" spc="-1" strike="noStrike">
                <a:latin typeface="Noto Sans CJK KR"/>
              </a:rPr>
              <a:t>두 </a:t>
            </a:r>
            <a:r>
              <a:rPr b="0" lang="ko-KR" sz="2000" spc="-1" strike="noStrike">
                <a:latin typeface="Noto Sans CJK KR"/>
              </a:rPr>
              <a:t>겹 방어 사이의 빈 구간을 메우는 </a:t>
            </a:r>
            <a:r>
              <a:rPr b="0" lang="ko-KR" sz="2000" spc="-1" strike="noStrike">
                <a:latin typeface="Noto Sans CJK KR"/>
              </a:rPr>
              <a:t>것입니다</a:t>
            </a:r>
            <a:r>
              <a:rPr b="0" lang="en-US" sz="2000" spc="-1" strike="noStrike">
                <a:latin typeface="Noto Sans CJK KR"/>
              </a:rPr>
              <a:t>. </a:t>
            </a:r>
            <a:r>
              <a:rPr b="0" lang="ko-KR" sz="2000" spc="-1" strike="noStrike">
                <a:latin typeface="Noto Sans CJK KR"/>
              </a:rPr>
              <a:t>감사합니다</a:t>
            </a:r>
            <a:r>
              <a:rPr b="0" lang="en-US" sz="2000" spc="-1" strike="noStrike">
                <a:latin typeface="Noto Sans CJK KR"/>
              </a:rPr>
              <a:t>.</a:t>
            </a:r>
            <a:endParaRPr b="0" lang="en-US" sz="2000" spc="-1" strike="noStrike">
              <a:latin typeface="Noto Sans CJK KR"/>
            </a:endParaRPr>
          </a:p>
        </p:txBody>
      </p:sp>
      <p:sp>
        <p:nvSpPr>
          <p:cNvPr id="400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D68056B7-A647-4440-AE45-1AF1D95CE8B8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8</a:t>
            </a:fld>
            <a:endParaRPr b="0" lang="en-US" sz="1800" spc="-1" strike="noStrike">
              <a:latin typeface="Noto Serif CJK KR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Noto Sans CJK KR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914400" y="410400"/>
            <a:ext cx="16458840" cy="796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Noto Sans CJK KR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647928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1204416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91440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647928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1204416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ko-KR" sz="1800" spc="-1" strike="noStrike">
                <a:solidFill>
                  <a:srgbClr val="000000"/>
                </a:solidFill>
                <a:latin typeface="Calibri"/>
              </a:rPr>
              <a:t>제목 텍스트의 서식을 편집하려면 클릭하십시오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.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ko-KR" sz="3200" spc="-1" strike="noStrike">
                <a:solidFill>
                  <a:srgbClr val="000000"/>
                </a:solidFill>
                <a:latin typeface="Calibri"/>
              </a:rPr>
              <a:t>개요 텍스트의 서식을 편집하려면 클릭하십시오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2</a:t>
            </a:r>
            <a:r>
              <a:rPr b="0" lang="ko-KR" sz="2400" spc="-1" strike="noStrike">
                <a:solidFill>
                  <a:srgbClr val="000000"/>
                </a:solidFill>
                <a:latin typeface="Calibri"/>
              </a:rPr>
              <a:t>번째 개요 수준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3</a:t>
            </a:r>
            <a:r>
              <a:rPr b="0" lang="ko-KR" sz="2000" spc="-1" strike="noStrike">
                <a:solidFill>
                  <a:srgbClr val="000000"/>
                </a:solidFill>
                <a:latin typeface="Calibri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4</a:t>
            </a:r>
            <a:r>
              <a:rPr b="0" lang="ko-KR" sz="2000" spc="-1" strike="noStrike">
                <a:solidFill>
                  <a:srgbClr val="000000"/>
                </a:solidFill>
                <a:latin typeface="Calibri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5</a:t>
            </a:r>
            <a:r>
              <a:rPr b="0" lang="ko-KR" sz="2000" spc="-1" strike="noStrike">
                <a:solidFill>
                  <a:srgbClr val="000000"/>
                </a:solidFill>
                <a:latin typeface="Calibri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6</a:t>
            </a:r>
            <a:r>
              <a:rPr b="0" lang="ko-KR" sz="2000" spc="-1" strike="noStrike">
                <a:solidFill>
                  <a:srgbClr val="000000"/>
                </a:solidFill>
                <a:latin typeface="Calibri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7</a:t>
            </a:r>
            <a:r>
              <a:rPr b="0" lang="ko-KR" sz="2000" spc="-1" strike="noStrike">
                <a:solidFill>
                  <a:srgbClr val="000000"/>
                </a:solidFill>
                <a:latin typeface="Calibri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video" Target="../media/media1.mp4"/><Relationship Id="rId2" Type="http://schemas.microsoft.com/office/2007/relationships/media" Target="../media/media1.mp4"/><Relationship Id="rId3" Type="http://schemas.openxmlformats.org/officeDocument/2006/relationships/image" Target="../media/image2.png"/><Relationship Id="rId4" Type="http://schemas.openxmlformats.org/officeDocument/2006/relationships/image" Target="../media/image3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 0"/>
          <p:cNvSpPr/>
          <p:nvPr/>
        </p:nvSpPr>
        <p:spPr>
          <a:xfrm>
            <a:off x="914400" y="1905120"/>
            <a:ext cx="18104760" cy="156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>
              <a:lnSpc>
                <a:spcPct val="98000"/>
              </a:lnSpc>
              <a:buNone/>
              <a:tabLst>
                <a:tab algn="l" pos="0"/>
              </a:tabLst>
            </a:pPr>
            <a:r>
              <a:rPr b="1" lang="ko-KR" sz="9600" spc="-290" strike="noStrike">
                <a:solidFill>
                  <a:srgbClr val="1f2328"/>
                </a:solidFill>
                <a:latin typeface="Pretendard"/>
                <a:ea typeface="Pretendard"/>
              </a:rPr>
              <a:t>보이지 않는 계단</a:t>
            </a:r>
            <a:endParaRPr b="0" lang="en-US" sz="9600" spc="-1" strike="noStrike">
              <a:latin typeface="Noto Sans CJK KR"/>
            </a:endParaRPr>
          </a:p>
        </p:txBody>
      </p:sp>
      <p:sp>
        <p:nvSpPr>
          <p:cNvPr id="45" name="Text 1"/>
          <p:cNvSpPr/>
          <p:nvPr/>
        </p:nvSpPr>
        <p:spPr>
          <a:xfrm>
            <a:off x="914400" y="3657600"/>
            <a:ext cx="1810476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>
              <a:lnSpc>
                <a:spcPct val="108000"/>
              </a:lnSpc>
              <a:buNone/>
              <a:tabLst>
                <a:tab algn="l" pos="0"/>
              </a:tabLst>
            </a:pPr>
            <a:r>
              <a:rPr b="0" lang="en-US" sz="3000" spc="-1" strike="noStrike">
                <a:solidFill>
                  <a:srgbClr val="5b6470"/>
                </a:solidFill>
                <a:latin typeface="Pretendard"/>
                <a:ea typeface="Pretendard"/>
              </a:rPr>
              <a:t>2D LiDAR </a:t>
            </a:r>
            <a:r>
              <a:rPr b="0" lang="ko-KR" sz="3000" spc="-1" strike="noStrike">
                <a:solidFill>
                  <a:srgbClr val="5b6470"/>
                </a:solidFill>
                <a:latin typeface="Pretendard"/>
                <a:ea typeface="Pretendard"/>
              </a:rPr>
              <a:t>지도에 없는 낭떠러지를 피하는 깊이카메라 안전층</a:t>
            </a:r>
            <a:endParaRPr b="0" lang="en-US" sz="3000" spc="-1" strike="noStrike">
              <a:latin typeface="Noto Sans CJK KR"/>
            </a:endParaRPr>
          </a:p>
        </p:txBody>
      </p:sp>
      <p:sp>
        <p:nvSpPr>
          <p:cNvPr id="46" name="Shape 2"/>
          <p:cNvSpPr/>
          <p:nvPr/>
        </p:nvSpPr>
        <p:spPr>
          <a:xfrm>
            <a:off x="914400" y="7334280"/>
            <a:ext cx="10096200" cy="37800"/>
          </a:xfrm>
          <a:prstGeom prst="rect">
            <a:avLst/>
          </a:pr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Shape 3"/>
          <p:cNvSpPr/>
          <p:nvPr/>
        </p:nvSpPr>
        <p:spPr>
          <a:xfrm>
            <a:off x="11010960" y="7334280"/>
            <a:ext cx="37800" cy="275760"/>
          </a:xfrm>
          <a:prstGeom prst="rect">
            <a:avLst/>
          </a:prstGeom>
          <a:solidFill>
            <a:srgbClr val="d33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8" name="Shape 4"/>
          <p:cNvSpPr/>
          <p:nvPr/>
        </p:nvSpPr>
        <p:spPr>
          <a:xfrm>
            <a:off x="11010960" y="7572240"/>
            <a:ext cx="704520" cy="37800"/>
          </a:xfrm>
          <a:prstGeom prst="rect">
            <a:avLst/>
          </a:prstGeom>
          <a:solidFill>
            <a:srgbClr val="d33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9" name="Shape 5"/>
          <p:cNvSpPr/>
          <p:nvPr/>
        </p:nvSpPr>
        <p:spPr>
          <a:xfrm>
            <a:off x="11677680" y="7572240"/>
            <a:ext cx="37800" cy="275760"/>
          </a:xfrm>
          <a:prstGeom prst="rect">
            <a:avLst/>
          </a:prstGeom>
          <a:solidFill>
            <a:srgbClr val="d33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0" name="Shape 6"/>
          <p:cNvSpPr/>
          <p:nvPr/>
        </p:nvSpPr>
        <p:spPr>
          <a:xfrm>
            <a:off x="11677680" y="7810560"/>
            <a:ext cx="704520" cy="37800"/>
          </a:xfrm>
          <a:prstGeom prst="rect">
            <a:avLst/>
          </a:prstGeom>
          <a:solidFill>
            <a:srgbClr val="d33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1" name="Shape 7"/>
          <p:cNvSpPr/>
          <p:nvPr/>
        </p:nvSpPr>
        <p:spPr>
          <a:xfrm>
            <a:off x="12344400" y="7810560"/>
            <a:ext cx="37800" cy="275760"/>
          </a:xfrm>
          <a:prstGeom prst="rect">
            <a:avLst/>
          </a:prstGeom>
          <a:solidFill>
            <a:srgbClr val="d33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2" name="Shape 8"/>
          <p:cNvSpPr/>
          <p:nvPr/>
        </p:nvSpPr>
        <p:spPr>
          <a:xfrm>
            <a:off x="12344400" y="8048520"/>
            <a:ext cx="704520" cy="37800"/>
          </a:xfrm>
          <a:prstGeom prst="rect">
            <a:avLst/>
          </a:prstGeom>
          <a:solidFill>
            <a:srgbClr val="d33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3" name="Shape 9"/>
          <p:cNvSpPr/>
          <p:nvPr/>
        </p:nvSpPr>
        <p:spPr>
          <a:xfrm>
            <a:off x="13011120" y="8048520"/>
            <a:ext cx="37800" cy="237600"/>
          </a:xfrm>
          <a:prstGeom prst="rect">
            <a:avLst/>
          </a:prstGeom>
          <a:solidFill>
            <a:srgbClr val="d33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4" name="Shape 10"/>
          <p:cNvSpPr/>
          <p:nvPr/>
        </p:nvSpPr>
        <p:spPr>
          <a:xfrm>
            <a:off x="13011120" y="8248680"/>
            <a:ext cx="2381040" cy="37800"/>
          </a:xfrm>
          <a:prstGeom prst="rect">
            <a:avLst/>
          </a:pr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5" name="Shape 11"/>
          <p:cNvSpPr/>
          <p:nvPr/>
        </p:nvSpPr>
        <p:spPr>
          <a:xfrm>
            <a:off x="15392520" y="5334120"/>
            <a:ext cx="266400" cy="2952360"/>
          </a:xfrm>
          <a:prstGeom prst="rect">
            <a:avLst/>
          </a:pr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6" name="Shape 12"/>
          <p:cNvSpPr/>
          <p:nvPr/>
        </p:nvSpPr>
        <p:spPr>
          <a:xfrm>
            <a:off x="7010280" y="6153120"/>
            <a:ext cx="1333080" cy="952200"/>
          </a:xfrm>
          <a:prstGeom prst="roundRect">
            <a:avLst>
              <a:gd name="adj" fmla="val 8000"/>
            </a:avLst>
          </a:prstGeom>
          <a:solidFill>
            <a:srgbClr val="fcfcfb"/>
          </a:solidFill>
          <a:ln w="38100">
            <a:solidFill>
              <a:srgbClr val="1f232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Shape 13"/>
          <p:cNvSpPr/>
          <p:nvPr/>
        </p:nvSpPr>
        <p:spPr>
          <a:xfrm>
            <a:off x="7162920" y="7067520"/>
            <a:ext cx="266400" cy="266400"/>
          </a:xfrm>
          <a:prstGeom prst="ellipse">
            <a:avLst/>
          </a:pr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8" name="Shape 14"/>
          <p:cNvSpPr/>
          <p:nvPr/>
        </p:nvSpPr>
        <p:spPr>
          <a:xfrm>
            <a:off x="7924680" y="7067520"/>
            <a:ext cx="266400" cy="266400"/>
          </a:xfrm>
          <a:prstGeom prst="ellipse">
            <a:avLst/>
          </a:pr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9" name="Shape 15"/>
          <p:cNvSpPr/>
          <p:nvPr/>
        </p:nvSpPr>
        <p:spPr>
          <a:xfrm>
            <a:off x="8344080" y="6419880"/>
            <a:ext cx="228240" cy="266400"/>
          </a:xfrm>
          <a:prstGeom prst="roundRect">
            <a:avLst>
              <a:gd name="adj" fmla="val 16667"/>
            </a:avLst>
          </a:pr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0" name="Shape 16"/>
          <p:cNvSpPr/>
          <p:nvPr/>
        </p:nvSpPr>
        <p:spPr>
          <a:xfrm>
            <a:off x="8572680" y="6534000"/>
            <a:ext cx="6819480" cy="37800"/>
          </a:xfrm>
          <a:prstGeom prst="rect">
            <a:avLst/>
          </a:pr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1" name="Shape 17"/>
          <p:cNvSpPr/>
          <p:nvPr/>
        </p:nvSpPr>
        <p:spPr>
          <a:xfrm>
            <a:off x="914400" y="8610480"/>
            <a:ext cx="16458840" cy="18720"/>
          </a:xfrm>
          <a:prstGeom prst="rect">
            <a:avLst/>
          </a:prstGeom>
          <a:solidFill>
            <a:srgbClr val="e3e6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2" name="Text 18"/>
          <p:cNvSpPr/>
          <p:nvPr/>
        </p:nvSpPr>
        <p:spPr>
          <a:xfrm>
            <a:off x="914400" y="8839080"/>
            <a:ext cx="4952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96000"/>
          </a:bodyPr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ko-KR" sz="2400" spc="-1" strike="noStrike">
                <a:solidFill>
                  <a:srgbClr val="5b6470"/>
                </a:solidFill>
                <a:latin typeface="Pretendard"/>
                <a:ea typeface="Pretendard"/>
              </a:rPr>
              <a:t>로봇내비게이션 텀프로젝트 </a:t>
            </a:r>
            <a:r>
              <a:rPr b="0" lang="en-US" sz="2400" spc="-1" strike="noStrike">
                <a:solidFill>
                  <a:srgbClr val="5b6470"/>
                </a:solidFill>
                <a:latin typeface="Pretendard"/>
                <a:ea typeface="Pretendard"/>
              </a:rPr>
              <a:t>Proposal</a:t>
            </a:r>
            <a:endParaRPr b="0" lang="en-US" sz="2400" spc="-1" strike="noStrike">
              <a:latin typeface="Noto Sans CJK KR"/>
            </a:endParaRPr>
          </a:p>
        </p:txBody>
      </p:sp>
      <p:sp>
        <p:nvSpPr>
          <p:cNvPr id="63" name="Text 20"/>
          <p:cNvSpPr/>
          <p:nvPr/>
        </p:nvSpPr>
        <p:spPr>
          <a:xfrm>
            <a:off x="5875560" y="8839080"/>
            <a:ext cx="972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Autofit/>
          </a:bodyPr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ko-KR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박정원</a:t>
            </a:r>
            <a:endParaRPr b="0" lang="en-US" sz="2400" spc="-1" strike="noStrike">
              <a:latin typeface="Noto Sans CJK KR"/>
            </a:endParaRPr>
          </a:p>
        </p:txBody>
      </p:sp>
      <p:sp>
        <p:nvSpPr>
          <p:cNvPr id="64" name="Text 21"/>
          <p:cNvSpPr/>
          <p:nvPr/>
        </p:nvSpPr>
        <p:spPr>
          <a:xfrm>
            <a:off x="6856200" y="8839080"/>
            <a:ext cx="153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96000"/>
          </a:bodyPr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5b6470"/>
                </a:solidFill>
                <a:latin typeface="Pretendard"/>
                <a:ea typeface="Pretendard"/>
              </a:rPr>
              <a:t>·</a:t>
            </a:r>
            <a:endParaRPr b="0" lang="en-US" sz="2400" spc="-1" strike="noStrike">
              <a:latin typeface="Noto Sans CJK KR"/>
            </a:endParaRPr>
          </a:p>
        </p:txBody>
      </p:sp>
      <p:sp>
        <p:nvSpPr>
          <p:cNvPr id="65" name="Text 22"/>
          <p:cNvSpPr/>
          <p:nvPr/>
        </p:nvSpPr>
        <p:spPr>
          <a:xfrm>
            <a:off x="7124400" y="8839080"/>
            <a:ext cx="980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96000"/>
          </a:bodyPr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ko-KR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박준우</a:t>
            </a:r>
            <a:endParaRPr b="0" lang="en-US" sz="2400" spc="-1" strike="noStrike">
              <a:latin typeface="Noto Sans CJK KR"/>
            </a:endParaRPr>
          </a:p>
        </p:txBody>
      </p:sp>
      <p:sp>
        <p:nvSpPr>
          <p:cNvPr id="66" name="Text 23"/>
          <p:cNvSpPr/>
          <p:nvPr/>
        </p:nvSpPr>
        <p:spPr>
          <a:xfrm>
            <a:off x="8105040" y="8839080"/>
            <a:ext cx="153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96000"/>
          </a:bodyPr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5b6470"/>
                </a:solidFill>
                <a:latin typeface="Pretendard"/>
                <a:ea typeface="Pretendard"/>
              </a:rPr>
              <a:t>·</a:t>
            </a:r>
            <a:endParaRPr b="0" lang="en-US" sz="2400" spc="-1" strike="noStrike">
              <a:latin typeface="Noto Sans CJK KR"/>
            </a:endParaRPr>
          </a:p>
        </p:txBody>
      </p:sp>
      <p:sp>
        <p:nvSpPr>
          <p:cNvPr id="67" name="Text 24"/>
          <p:cNvSpPr/>
          <p:nvPr/>
        </p:nvSpPr>
        <p:spPr>
          <a:xfrm>
            <a:off x="8372880" y="8839080"/>
            <a:ext cx="1670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92000"/>
          </a:bodyPr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5b6470"/>
                </a:solidFill>
                <a:latin typeface="Pretendard"/>
                <a:ea typeface="Pretendard"/>
              </a:rPr>
              <a:t>2026.10.26</a:t>
            </a:r>
            <a:endParaRPr b="0" lang="en-US" sz="2400" spc="-1" strike="noStrike"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 0"/>
          <p:cNvSpPr/>
          <p:nvPr/>
        </p:nvSpPr>
        <p:spPr>
          <a:xfrm>
            <a:off x="914400" y="685800"/>
            <a:ext cx="942948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97000"/>
          </a:bodyPr>
          <a:p>
            <a:pPr>
              <a:lnSpc>
                <a:spcPct val="110000"/>
              </a:lnSpc>
              <a:buNone/>
              <a:tabLst>
                <a:tab algn="l" pos="0"/>
              </a:tabLst>
            </a:pPr>
            <a:r>
              <a:rPr b="1" lang="en-US" sz="1800" spc="250" strike="noStrike">
                <a:solidFill>
                  <a:srgbClr val="5b6470"/>
                </a:solidFill>
                <a:latin typeface="Pretendard"/>
                <a:ea typeface="Pretendard"/>
              </a:rPr>
              <a:t>PROBLEM</a:t>
            </a:r>
            <a:endParaRPr b="0" lang="en-US" sz="1800" spc="-1" strike="noStrike">
              <a:latin typeface="Noto Sans CJK KR"/>
            </a:endParaRPr>
          </a:p>
        </p:txBody>
      </p:sp>
      <p:sp>
        <p:nvSpPr>
          <p:cNvPr id="69" name="Text 1"/>
          <p:cNvSpPr/>
          <p:nvPr/>
        </p:nvSpPr>
        <p:spPr>
          <a:xfrm>
            <a:off x="914400" y="1066680"/>
            <a:ext cx="18104760" cy="102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>
              <a:lnSpc>
                <a:spcPct val="109000"/>
              </a:lnSpc>
              <a:buNone/>
              <a:tabLst>
                <a:tab algn="l" pos="0"/>
              </a:tabLst>
            </a:pPr>
            <a:r>
              <a:rPr b="1" lang="ko-KR" sz="5400" spc="-109" strike="noStrike">
                <a:solidFill>
                  <a:srgbClr val="1f2328"/>
                </a:solidFill>
                <a:latin typeface="Pretendard"/>
                <a:ea typeface="Pretendard"/>
              </a:rPr>
              <a:t>내려가는 계단은 지도에 </a:t>
            </a:r>
            <a:r>
              <a:rPr b="1" lang="en-US" sz="5400" spc="-109" strike="noStrike">
                <a:solidFill>
                  <a:srgbClr val="1f2328"/>
                </a:solidFill>
                <a:latin typeface="Pretendard"/>
                <a:ea typeface="Pretendard"/>
              </a:rPr>
              <a:t>'</a:t>
            </a:r>
            <a:r>
              <a:rPr b="1" lang="ko-KR" sz="5400" spc="-109" strike="noStrike">
                <a:solidFill>
                  <a:srgbClr val="1f2328"/>
                </a:solidFill>
                <a:latin typeface="Pretendard"/>
                <a:ea typeface="Pretendard"/>
              </a:rPr>
              <a:t>빈 바닥</a:t>
            </a:r>
            <a:r>
              <a:rPr b="1" lang="en-US" sz="5400" spc="-109" strike="noStrike">
                <a:solidFill>
                  <a:srgbClr val="1f2328"/>
                </a:solidFill>
                <a:latin typeface="Pretendard"/>
                <a:ea typeface="Pretendard"/>
              </a:rPr>
              <a:t>'</a:t>
            </a:r>
            <a:r>
              <a:rPr b="1" lang="ko-KR" sz="5400" spc="-109" strike="noStrike">
                <a:solidFill>
                  <a:srgbClr val="1f2328"/>
                </a:solidFill>
                <a:latin typeface="Pretendard"/>
                <a:ea typeface="Pretendard"/>
              </a:rPr>
              <a:t>으로 찍힌다</a:t>
            </a:r>
            <a:endParaRPr b="0" lang="en-US" sz="5400" spc="-1" strike="noStrike">
              <a:latin typeface="Noto Sans CJK KR"/>
            </a:endParaRPr>
          </a:p>
        </p:txBody>
      </p:sp>
      <p:sp>
        <p:nvSpPr>
          <p:cNvPr id="70" name="Shape 2"/>
          <p:cNvSpPr/>
          <p:nvPr/>
        </p:nvSpPr>
        <p:spPr>
          <a:xfrm>
            <a:off x="914400" y="3981600"/>
            <a:ext cx="4190760" cy="37800"/>
          </a:xfrm>
          <a:prstGeom prst="rect">
            <a:avLst/>
          </a:pr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1" name="Shape 3"/>
          <p:cNvSpPr/>
          <p:nvPr/>
        </p:nvSpPr>
        <p:spPr>
          <a:xfrm>
            <a:off x="5105520" y="3981600"/>
            <a:ext cx="37800" cy="247320"/>
          </a:xfrm>
          <a:prstGeom prst="rect">
            <a:avLst/>
          </a:prstGeom>
          <a:solidFill>
            <a:srgbClr val="d33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2" name="Shape 4"/>
          <p:cNvSpPr/>
          <p:nvPr/>
        </p:nvSpPr>
        <p:spPr>
          <a:xfrm>
            <a:off x="5105520" y="4191120"/>
            <a:ext cx="666360" cy="37800"/>
          </a:xfrm>
          <a:prstGeom prst="rect">
            <a:avLst/>
          </a:prstGeom>
          <a:solidFill>
            <a:srgbClr val="d33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3" name="Shape 5"/>
          <p:cNvSpPr/>
          <p:nvPr/>
        </p:nvSpPr>
        <p:spPr>
          <a:xfrm>
            <a:off x="5734080" y="4191120"/>
            <a:ext cx="37800" cy="228240"/>
          </a:xfrm>
          <a:prstGeom prst="rect">
            <a:avLst/>
          </a:prstGeom>
          <a:solidFill>
            <a:srgbClr val="d33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4" name="Shape 6"/>
          <p:cNvSpPr/>
          <p:nvPr/>
        </p:nvSpPr>
        <p:spPr>
          <a:xfrm>
            <a:off x="5734080" y="4381560"/>
            <a:ext cx="666360" cy="37800"/>
          </a:xfrm>
          <a:prstGeom prst="rect">
            <a:avLst/>
          </a:prstGeom>
          <a:solidFill>
            <a:srgbClr val="d33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5" name="Shape 7"/>
          <p:cNvSpPr/>
          <p:nvPr/>
        </p:nvSpPr>
        <p:spPr>
          <a:xfrm>
            <a:off x="6362640" y="4381560"/>
            <a:ext cx="37800" cy="266400"/>
          </a:xfrm>
          <a:prstGeom prst="rect">
            <a:avLst/>
          </a:prstGeom>
          <a:solidFill>
            <a:srgbClr val="d33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6" name="Shape 8"/>
          <p:cNvSpPr/>
          <p:nvPr/>
        </p:nvSpPr>
        <p:spPr>
          <a:xfrm>
            <a:off x="6362640" y="4610160"/>
            <a:ext cx="2514240" cy="37800"/>
          </a:xfrm>
          <a:prstGeom prst="rect">
            <a:avLst/>
          </a:pr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7" name="Shape 9"/>
          <p:cNvSpPr/>
          <p:nvPr/>
        </p:nvSpPr>
        <p:spPr>
          <a:xfrm>
            <a:off x="8877240" y="2400480"/>
            <a:ext cx="266400" cy="2285640"/>
          </a:xfrm>
          <a:prstGeom prst="rect">
            <a:avLst/>
          </a:pr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8" name="Shape 10"/>
          <p:cNvSpPr/>
          <p:nvPr/>
        </p:nvSpPr>
        <p:spPr>
          <a:xfrm>
            <a:off x="2724120" y="3029040"/>
            <a:ext cx="1047240" cy="761760"/>
          </a:xfrm>
          <a:prstGeom prst="roundRect">
            <a:avLst>
              <a:gd name="adj" fmla="val 10000"/>
            </a:avLst>
          </a:prstGeom>
          <a:solidFill>
            <a:srgbClr val="fcfcfb"/>
          </a:solidFill>
          <a:ln w="38100">
            <a:solidFill>
              <a:srgbClr val="1f232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9" name="Shape 11"/>
          <p:cNvSpPr/>
          <p:nvPr/>
        </p:nvSpPr>
        <p:spPr>
          <a:xfrm>
            <a:off x="2819520" y="3753000"/>
            <a:ext cx="228240" cy="228240"/>
          </a:xfrm>
          <a:prstGeom prst="ellipse">
            <a:avLst/>
          </a:pr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0" name="Shape 12"/>
          <p:cNvSpPr/>
          <p:nvPr/>
        </p:nvSpPr>
        <p:spPr>
          <a:xfrm>
            <a:off x="3448080" y="3753000"/>
            <a:ext cx="228240" cy="228240"/>
          </a:xfrm>
          <a:prstGeom prst="ellipse">
            <a:avLst/>
          </a:pr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1" name="Shape 13"/>
          <p:cNvSpPr/>
          <p:nvPr/>
        </p:nvSpPr>
        <p:spPr>
          <a:xfrm>
            <a:off x="3772080" y="3162240"/>
            <a:ext cx="209160" cy="228240"/>
          </a:xfrm>
          <a:prstGeom prst="roundRect">
            <a:avLst>
              <a:gd name="adj" fmla="val 18182"/>
            </a:avLst>
          </a:pr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2" name="Shape 14"/>
          <p:cNvSpPr/>
          <p:nvPr/>
        </p:nvSpPr>
        <p:spPr>
          <a:xfrm>
            <a:off x="3981600" y="3257640"/>
            <a:ext cx="4895640" cy="37800"/>
          </a:xfrm>
          <a:prstGeom prst="rect">
            <a:avLst/>
          </a:pr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3" name="Text 15"/>
          <p:cNvSpPr/>
          <p:nvPr/>
        </p:nvSpPr>
        <p:spPr>
          <a:xfrm>
            <a:off x="5162400" y="2400480"/>
            <a:ext cx="356184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5560" rIns="25560" tIns="25560" bIns="25560" anchor="t">
            <a:normAutofit fontScale="95000"/>
          </a:bodyPr>
          <a:p>
            <a:pPr algn="r">
              <a:lnSpc>
                <a:spcPct val="105000"/>
              </a:lnSpc>
              <a:buNone/>
              <a:tabLst>
                <a:tab algn="l" pos="0"/>
              </a:tabLst>
            </a:pPr>
            <a:r>
              <a:rPr b="0" lang="ko-KR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건너편 벽에 맞는다</a:t>
            </a:r>
            <a:endParaRPr b="0" lang="en-US" sz="2400" spc="-1" strike="noStrike">
              <a:latin typeface="Noto Sans CJK KR"/>
            </a:endParaRPr>
          </a:p>
        </p:txBody>
      </p:sp>
      <p:sp>
        <p:nvSpPr>
          <p:cNvPr id="84" name="Text 16"/>
          <p:cNvSpPr/>
          <p:nvPr/>
        </p:nvSpPr>
        <p:spPr>
          <a:xfrm>
            <a:off x="4152960" y="2819520"/>
            <a:ext cx="419076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5560" rIns="25560" tIns="25560" bIns="25560" anchor="t">
            <a:normAutofit fontScale="95000"/>
          </a:bodyPr>
          <a:p>
            <a:pPr>
              <a:lnSpc>
                <a:spcPct val="105000"/>
              </a:lnSpc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2D LiDAR </a:t>
            </a:r>
            <a:r>
              <a:rPr b="0" lang="ko-KR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레이저 </a:t>
            </a:r>
            <a:r>
              <a:rPr b="0" lang="en-US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(</a:t>
            </a:r>
            <a:r>
              <a:rPr b="0" lang="ko-KR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수평</a:t>
            </a:r>
            <a:r>
              <a:rPr b="0" lang="en-US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)</a:t>
            </a:r>
            <a:endParaRPr b="0" lang="en-US" sz="2400" spc="-1" strike="noStrike">
              <a:latin typeface="Noto Sans CJK KR"/>
            </a:endParaRPr>
          </a:p>
        </p:txBody>
      </p:sp>
      <p:sp>
        <p:nvSpPr>
          <p:cNvPr id="85" name="Text 17"/>
          <p:cNvSpPr/>
          <p:nvPr/>
        </p:nvSpPr>
        <p:spPr>
          <a:xfrm>
            <a:off x="5219640" y="3429000"/>
            <a:ext cx="393912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5560" rIns="25560" tIns="25560" bIns="25560" anchor="t">
            <a:normAutofit fontScale="95000"/>
          </a:bodyPr>
          <a:p>
            <a:pPr>
              <a:lnSpc>
                <a:spcPct val="105000"/>
              </a:lnSpc>
              <a:buNone/>
              <a:tabLst>
                <a:tab algn="l" pos="0"/>
              </a:tabLst>
            </a:pPr>
            <a:r>
              <a:rPr b="1" lang="ko-KR" sz="2400" spc="-1" strike="noStrike">
                <a:solidFill>
                  <a:srgbClr val="d33c3c"/>
                </a:solidFill>
                <a:latin typeface="Pretendard"/>
                <a:ea typeface="Pretendard"/>
              </a:rPr>
              <a:t>계단 위 허공을 지나간다</a:t>
            </a:r>
            <a:endParaRPr b="0" lang="en-US" sz="2400" spc="-1" strike="noStrike">
              <a:latin typeface="Noto Sans CJK KR"/>
            </a:endParaRPr>
          </a:p>
        </p:txBody>
      </p:sp>
      <p:sp>
        <p:nvSpPr>
          <p:cNvPr id="86" name="Shape 18"/>
          <p:cNvSpPr/>
          <p:nvPr/>
        </p:nvSpPr>
        <p:spPr>
          <a:xfrm>
            <a:off x="2419200" y="3943440"/>
            <a:ext cx="151920" cy="37800"/>
          </a:xfrm>
          <a:prstGeom prst="rect">
            <a:avLst/>
          </a:prstGeom>
          <a:solidFill>
            <a:srgbClr val="5b64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7" name="Shape 19"/>
          <p:cNvSpPr/>
          <p:nvPr/>
        </p:nvSpPr>
        <p:spPr>
          <a:xfrm>
            <a:off x="2419200" y="3276720"/>
            <a:ext cx="151920" cy="37800"/>
          </a:xfrm>
          <a:prstGeom prst="rect">
            <a:avLst/>
          </a:prstGeom>
          <a:solidFill>
            <a:srgbClr val="5b64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8" name="Shape 20"/>
          <p:cNvSpPr/>
          <p:nvPr/>
        </p:nvSpPr>
        <p:spPr>
          <a:xfrm>
            <a:off x="2419200" y="3276720"/>
            <a:ext cx="37800" cy="704520"/>
          </a:xfrm>
          <a:prstGeom prst="rect">
            <a:avLst/>
          </a:prstGeom>
          <a:solidFill>
            <a:srgbClr val="5b64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9" name="Text 21"/>
          <p:cNvSpPr/>
          <p:nvPr/>
        </p:nvSpPr>
        <p:spPr>
          <a:xfrm>
            <a:off x="628560" y="3238560"/>
            <a:ext cx="167616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95000"/>
          </a:bodyPr>
          <a:p>
            <a:pPr algn="r">
              <a:lnSpc>
                <a:spcPct val="105000"/>
              </a:lnSpc>
              <a:buNone/>
              <a:tabLst>
                <a:tab algn="l" pos="0"/>
              </a:tabLst>
            </a:pPr>
            <a:r>
              <a:rPr b="0" lang="ko-KR" sz="2400" spc="-1" strike="noStrike">
                <a:solidFill>
                  <a:srgbClr val="5b6470"/>
                </a:solidFill>
                <a:latin typeface="Pretendard"/>
                <a:ea typeface="Pretendard"/>
              </a:rPr>
              <a:t>바닥 위</a:t>
            </a:r>
            <a:endParaRPr b="0" lang="en-US" sz="2400" spc="-1" strike="noStrike">
              <a:latin typeface="Noto Sans CJK KR"/>
            </a:endParaRPr>
          </a:p>
        </p:txBody>
      </p:sp>
      <p:sp>
        <p:nvSpPr>
          <p:cNvPr id="90" name="Text 22"/>
          <p:cNvSpPr/>
          <p:nvPr/>
        </p:nvSpPr>
        <p:spPr>
          <a:xfrm>
            <a:off x="628560" y="3619440"/>
            <a:ext cx="167616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5560" rIns="25560" tIns="25560" bIns="25560" anchor="t">
            <a:normAutofit fontScale="95000"/>
          </a:bodyPr>
          <a:p>
            <a:pPr algn="r">
              <a:lnSpc>
                <a:spcPct val="105000"/>
              </a:lnSpc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5b6470"/>
                </a:solidFill>
                <a:latin typeface="Pretendard"/>
                <a:ea typeface="Pretendard"/>
              </a:rPr>
              <a:t>20–30 cm</a:t>
            </a:r>
            <a:endParaRPr b="0" lang="en-US" sz="2400" spc="-1" strike="noStrike">
              <a:latin typeface="Noto Sans CJK KR"/>
            </a:endParaRPr>
          </a:p>
        </p:txBody>
      </p:sp>
      <p:sp>
        <p:nvSpPr>
          <p:cNvPr id="91" name="Text 23"/>
          <p:cNvSpPr/>
          <p:nvPr/>
        </p:nvSpPr>
        <p:spPr>
          <a:xfrm>
            <a:off x="914400" y="4800600"/>
            <a:ext cx="921996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95000"/>
          </a:bodyPr>
          <a:p>
            <a:pPr>
              <a:lnSpc>
                <a:spcPct val="105000"/>
              </a:lnSpc>
              <a:buNone/>
              <a:tabLst>
                <a:tab algn="l" pos="0"/>
              </a:tabLst>
            </a:pPr>
            <a:r>
              <a:rPr b="1" lang="ko-KR" sz="2400" spc="-1" strike="noStrike">
                <a:solidFill>
                  <a:srgbClr val="5b6470"/>
                </a:solidFill>
                <a:latin typeface="Pretendard"/>
                <a:ea typeface="Pretendard"/>
              </a:rPr>
              <a:t>지도에 찍히는 모습</a:t>
            </a:r>
            <a:endParaRPr b="0" lang="en-US" sz="2400" spc="-1" strike="noStrike">
              <a:latin typeface="Noto Sans CJK KR"/>
            </a:endParaRPr>
          </a:p>
        </p:txBody>
      </p:sp>
      <p:sp>
        <p:nvSpPr>
          <p:cNvPr id="92" name="Shape 24"/>
          <p:cNvSpPr/>
          <p:nvPr/>
        </p:nvSpPr>
        <p:spPr>
          <a:xfrm>
            <a:off x="914400" y="5219640"/>
            <a:ext cx="4190760" cy="533160"/>
          </a:xfrm>
          <a:prstGeom prst="rect">
            <a:avLst/>
          </a:prstGeom>
          <a:noFill/>
          <a:ln w="19050">
            <a:solidFill>
              <a:srgbClr val="5b64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3" name="Text 25"/>
          <p:cNvSpPr/>
          <p:nvPr/>
        </p:nvSpPr>
        <p:spPr>
          <a:xfrm>
            <a:off x="1123920" y="5238720"/>
            <a:ext cx="408780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400" spc="-1" strike="noStrike">
                <a:solidFill>
                  <a:srgbClr val="5b6470"/>
                </a:solidFill>
                <a:latin typeface="Pretendard"/>
                <a:ea typeface="Pretendard"/>
              </a:rPr>
              <a:t>빈 바닥</a:t>
            </a:r>
            <a:endParaRPr b="0" lang="en-US" sz="2400" spc="-1" strike="noStrike">
              <a:latin typeface="Noto Sans CJK KR"/>
            </a:endParaRPr>
          </a:p>
        </p:txBody>
      </p:sp>
      <p:sp>
        <p:nvSpPr>
          <p:cNvPr id="94" name="Shape 26"/>
          <p:cNvSpPr/>
          <p:nvPr/>
        </p:nvSpPr>
        <p:spPr>
          <a:xfrm>
            <a:off x="5105520" y="5219640"/>
            <a:ext cx="3771720" cy="533160"/>
          </a:xfrm>
          <a:prstGeom prst="rect">
            <a:avLst/>
          </a:prstGeom>
          <a:noFill/>
          <a:ln w="38100">
            <a:solidFill>
              <a:srgbClr val="d33c3c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5" name="Text 27"/>
          <p:cNvSpPr/>
          <p:nvPr/>
        </p:nvSpPr>
        <p:spPr>
          <a:xfrm>
            <a:off x="5334120" y="5257800"/>
            <a:ext cx="3618000" cy="49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5560" rIns="25560" tIns="25560" bIns="2556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ko-KR" sz="2400" spc="-1" strike="noStrike">
                <a:solidFill>
                  <a:srgbClr val="d33c3c"/>
                </a:solidFill>
                <a:latin typeface="Pretendard"/>
                <a:ea typeface="Pretendard"/>
              </a:rPr>
              <a:t>빈 바닥 </a:t>
            </a:r>
            <a:r>
              <a:rPr b="1" lang="en-US" sz="2400" spc="-1" strike="noStrike">
                <a:solidFill>
                  <a:srgbClr val="d33c3c"/>
                </a:solidFill>
                <a:latin typeface="Pretendard"/>
                <a:ea typeface="Pretendard"/>
              </a:rPr>
              <a:t>(</a:t>
            </a:r>
            <a:r>
              <a:rPr b="1" lang="ko-KR" sz="2400" spc="-1" strike="noStrike">
                <a:solidFill>
                  <a:srgbClr val="d33c3c"/>
                </a:solidFill>
                <a:latin typeface="Pretendard"/>
                <a:ea typeface="Pretendard"/>
              </a:rPr>
              <a:t>실제는 계단</a:t>
            </a:r>
            <a:r>
              <a:rPr b="1" lang="en-US" sz="2400" spc="-1" strike="noStrike">
                <a:solidFill>
                  <a:srgbClr val="d33c3c"/>
                </a:solidFill>
                <a:latin typeface="Pretendard"/>
                <a:ea typeface="Pretendard"/>
              </a:rPr>
              <a:t>)</a:t>
            </a:r>
            <a:endParaRPr b="0" lang="en-US" sz="2400" spc="-1" strike="noStrike">
              <a:latin typeface="Noto Sans CJK KR"/>
            </a:endParaRPr>
          </a:p>
        </p:txBody>
      </p:sp>
      <p:sp>
        <p:nvSpPr>
          <p:cNvPr id="96" name="Shape 28"/>
          <p:cNvSpPr/>
          <p:nvPr/>
        </p:nvSpPr>
        <p:spPr>
          <a:xfrm>
            <a:off x="8877240" y="5219640"/>
            <a:ext cx="266400" cy="533160"/>
          </a:xfrm>
          <a:prstGeom prst="rect">
            <a:avLst/>
          </a:pr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7" name="Text 29"/>
          <p:cNvSpPr/>
          <p:nvPr/>
        </p:nvSpPr>
        <p:spPr>
          <a:xfrm>
            <a:off x="9524880" y="2400480"/>
            <a:ext cx="863316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95000"/>
          </a:bodyPr>
          <a:p>
            <a:pPr>
              <a:lnSpc>
                <a:spcPct val="105000"/>
              </a:lnSpc>
              <a:buNone/>
              <a:tabLst>
                <a:tab algn="l" pos="0"/>
              </a:tabLst>
            </a:pPr>
            <a:r>
              <a:rPr b="1" lang="ko-KR" sz="2400" spc="-1" strike="noStrike">
                <a:solidFill>
                  <a:srgbClr val="5b6470"/>
                </a:solidFill>
                <a:latin typeface="Pretendard"/>
                <a:ea typeface="Pretendard"/>
              </a:rPr>
              <a:t>위험해지는 </a:t>
            </a:r>
            <a:r>
              <a:rPr b="1" lang="en-US" sz="2400" spc="-1" strike="noStrike">
                <a:solidFill>
                  <a:srgbClr val="5b6470"/>
                </a:solidFill>
                <a:latin typeface="Pretendard"/>
                <a:ea typeface="Pretendard"/>
              </a:rPr>
              <a:t>4</a:t>
            </a:r>
            <a:r>
              <a:rPr b="1" lang="ko-KR" sz="2400" spc="-1" strike="noStrike">
                <a:solidFill>
                  <a:srgbClr val="5b6470"/>
                </a:solidFill>
                <a:latin typeface="Pretendard"/>
                <a:ea typeface="Pretendard"/>
              </a:rPr>
              <a:t>가지 순간</a:t>
            </a:r>
            <a:endParaRPr b="0" lang="en-US" sz="2400" spc="-1" strike="noStrike">
              <a:latin typeface="Noto Sans CJK KR"/>
            </a:endParaRPr>
          </a:p>
        </p:txBody>
      </p:sp>
      <p:sp>
        <p:nvSpPr>
          <p:cNvPr id="98" name="Text 30"/>
          <p:cNvSpPr/>
          <p:nvPr/>
        </p:nvSpPr>
        <p:spPr>
          <a:xfrm>
            <a:off x="10134720" y="2952720"/>
            <a:ext cx="7238520" cy="79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>
              <a:lnSpc>
                <a:spcPct val="105000"/>
              </a:lnSpc>
              <a:buNone/>
              <a:tabLst>
                <a:tab algn="l" pos="0"/>
              </a:tabLst>
            </a:pPr>
            <a:r>
              <a:rPr b="0" lang="ko-KR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사람이 길을 막을 때 → 돌아갈 길로 계단 쪽을 고른다</a:t>
            </a:r>
            <a:endParaRPr b="0" lang="en-US" sz="2400" spc="-1" strike="noStrike">
              <a:latin typeface="Noto Sans CJK KR"/>
            </a:endParaRPr>
          </a:p>
        </p:txBody>
      </p:sp>
      <p:sp>
        <p:nvSpPr>
          <p:cNvPr id="99" name="Text 31"/>
          <p:cNvSpPr/>
          <p:nvPr/>
        </p:nvSpPr>
        <p:spPr>
          <a:xfrm>
            <a:off x="10134720" y="3886200"/>
            <a:ext cx="563616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95000"/>
          </a:bodyPr>
          <a:p>
            <a:pPr>
              <a:lnSpc>
                <a:spcPct val="105000"/>
              </a:lnSpc>
              <a:buNone/>
              <a:tabLst>
                <a:tab algn="l" pos="0"/>
              </a:tabLst>
            </a:pPr>
            <a:r>
              <a:rPr b="0" lang="ko-KR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밀리거나 미끄러져 위치를 착각할 때</a:t>
            </a:r>
            <a:endParaRPr b="0" lang="en-US" sz="2400" spc="-1" strike="noStrike">
              <a:latin typeface="Noto Sans CJK KR"/>
            </a:endParaRPr>
          </a:p>
        </p:txBody>
      </p:sp>
      <p:sp>
        <p:nvSpPr>
          <p:cNvPr id="100" name="Text 32"/>
          <p:cNvSpPr/>
          <p:nvPr/>
        </p:nvSpPr>
        <p:spPr>
          <a:xfrm>
            <a:off x="10134720" y="4457880"/>
            <a:ext cx="621324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95000"/>
          </a:bodyPr>
          <a:p>
            <a:pPr>
              <a:lnSpc>
                <a:spcPct val="105000"/>
              </a:lnSpc>
              <a:buNone/>
              <a:tabLst>
                <a:tab algn="l" pos="0"/>
              </a:tabLst>
            </a:pPr>
            <a:r>
              <a:rPr b="0" lang="ko-KR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운영자가 계단 금지구역 표시를 빠뜨렸을 때</a:t>
            </a:r>
            <a:endParaRPr b="0" lang="en-US" sz="2400" spc="-1" strike="noStrike">
              <a:latin typeface="Noto Sans CJK KR"/>
            </a:endParaRPr>
          </a:p>
        </p:txBody>
      </p:sp>
      <p:sp>
        <p:nvSpPr>
          <p:cNvPr id="101" name="Text 33"/>
          <p:cNvSpPr/>
          <p:nvPr/>
        </p:nvSpPr>
        <p:spPr>
          <a:xfrm>
            <a:off x="10134720" y="5029200"/>
            <a:ext cx="517428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95000"/>
          </a:bodyPr>
          <a:p>
            <a:pPr>
              <a:lnSpc>
                <a:spcPct val="105000"/>
              </a:lnSpc>
              <a:buNone/>
              <a:tabLst>
                <a:tab algn="l" pos="0"/>
              </a:tabLst>
            </a:pPr>
            <a:r>
              <a:rPr b="0" lang="ko-KR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뒤로 물러날 때 </a:t>
            </a:r>
            <a:r>
              <a:rPr b="0" lang="en-US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(</a:t>
            </a:r>
            <a:r>
              <a:rPr b="0" lang="ko-KR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카메라는 앞만 본다</a:t>
            </a:r>
            <a:r>
              <a:rPr b="0" lang="en-US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)</a:t>
            </a:r>
            <a:endParaRPr b="0" lang="en-US" sz="2400" spc="-1" strike="noStrike">
              <a:latin typeface="Noto Sans CJK KR"/>
            </a:endParaRPr>
          </a:p>
        </p:txBody>
      </p:sp>
      <p:sp>
        <p:nvSpPr>
          <p:cNvPr id="102" name="Shape 34"/>
          <p:cNvSpPr/>
          <p:nvPr/>
        </p:nvSpPr>
        <p:spPr>
          <a:xfrm>
            <a:off x="914400" y="5943600"/>
            <a:ext cx="16458840" cy="18720"/>
          </a:xfrm>
          <a:prstGeom prst="rect">
            <a:avLst/>
          </a:prstGeom>
          <a:solidFill>
            <a:srgbClr val="e3e6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3" name="Shape 35"/>
          <p:cNvSpPr/>
          <p:nvPr/>
        </p:nvSpPr>
        <p:spPr>
          <a:xfrm>
            <a:off x="914400" y="6172200"/>
            <a:ext cx="5486040" cy="308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c3c8ce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4" name="Text 36"/>
          <p:cNvSpPr/>
          <p:nvPr/>
        </p:nvSpPr>
        <p:spPr>
          <a:xfrm>
            <a:off x="851040" y="6191280"/>
            <a:ext cx="5612400" cy="308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rmAutofit/>
          </a:bodyPr>
          <a:p>
            <a:pPr algn="ctr">
              <a:lnSpc>
                <a:spcPct val="105000"/>
              </a:lnSpc>
              <a:buNone/>
              <a:tabLst>
                <a:tab algn="l" pos="0"/>
              </a:tabLst>
            </a:pPr>
            <a:r>
              <a:rPr b="0" lang="ko-KR" sz="2400" spc="-1" strike="noStrike">
                <a:solidFill>
                  <a:srgbClr val="5b6470"/>
                </a:solidFill>
                <a:latin typeface="Pretendard"/>
                <a:ea typeface="Pretendard"/>
              </a:rPr>
              <a:t>재현 장면 — 영상 또는 스크린샷</a:t>
            </a:r>
            <a:endParaRPr b="0" lang="en-US" sz="2400" spc="-1" strike="noStrike">
              <a:latin typeface="Noto Sans CJK KR"/>
            </a:endParaRPr>
          </a:p>
        </p:txBody>
      </p:sp>
      <p:sp>
        <p:nvSpPr>
          <p:cNvPr id="105" name="Text 37"/>
          <p:cNvSpPr/>
          <p:nvPr/>
        </p:nvSpPr>
        <p:spPr>
          <a:xfrm>
            <a:off x="6858000" y="6172200"/>
            <a:ext cx="10830600" cy="133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>
              <a:lnSpc>
                <a:spcPct val="106000"/>
              </a:lnSpc>
              <a:buNone/>
              <a:tabLst>
                <a:tab algn="l" pos="0"/>
              </a:tabLst>
            </a:pPr>
            <a:r>
              <a:rPr b="1" lang="ko-KR" sz="3600" spc="-38" strike="noStrike">
                <a:solidFill>
                  <a:srgbClr val="1f2328"/>
                </a:solidFill>
                <a:latin typeface="Pretendard"/>
                <a:ea typeface="Pretendard"/>
              </a:rPr>
              <a:t>지도만 쓰는 로봇이 계단으로 떨어지는 장면을 시뮬레이션에서 재현했다</a:t>
            </a:r>
            <a:endParaRPr b="0" lang="en-US" sz="3600" spc="-1" strike="noStrike">
              <a:latin typeface="Noto Sans CJK KR"/>
            </a:endParaRPr>
          </a:p>
        </p:txBody>
      </p:sp>
      <p:sp>
        <p:nvSpPr>
          <p:cNvPr id="106" name="Text 38"/>
          <p:cNvSpPr/>
          <p:nvPr/>
        </p:nvSpPr>
        <p:spPr>
          <a:xfrm>
            <a:off x="6858000" y="8267760"/>
            <a:ext cx="981036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99000"/>
          </a:bodyPr>
          <a:p>
            <a:pPr>
              <a:lnSpc>
                <a:spcPct val="110000"/>
              </a:lnSpc>
              <a:buNone/>
              <a:tabLst>
                <a:tab algn="l" pos="0"/>
              </a:tabLst>
            </a:pPr>
            <a:r>
              <a:rPr b="0" lang="ko-KR" sz="1800" spc="-1" strike="noStrike">
                <a:solidFill>
                  <a:srgbClr val="5b6470"/>
                </a:solidFill>
                <a:latin typeface="Pretendard"/>
                <a:ea typeface="Pretendard"/>
              </a:rPr>
              <a:t>산업용 </a:t>
            </a:r>
            <a:r>
              <a:rPr b="0" lang="en-US" sz="1800" spc="-1" strike="noStrike">
                <a:solidFill>
                  <a:srgbClr val="5b6470"/>
                </a:solidFill>
                <a:latin typeface="Pretendard"/>
                <a:ea typeface="Pretendard"/>
              </a:rPr>
              <a:t>AMR </a:t>
            </a:r>
            <a:r>
              <a:rPr b="0" lang="ko-KR" sz="1800" spc="-1" strike="noStrike">
                <a:solidFill>
                  <a:srgbClr val="5b6470"/>
                </a:solidFill>
                <a:latin typeface="Pretendard"/>
                <a:ea typeface="Pretendard"/>
              </a:rPr>
              <a:t>제조사 </a:t>
            </a:r>
            <a:r>
              <a:rPr b="0" lang="en-US" sz="1800" spc="-1" strike="noStrike">
                <a:solidFill>
                  <a:srgbClr val="5b6470"/>
                </a:solidFill>
                <a:latin typeface="Pretendard"/>
                <a:ea typeface="Pretendard"/>
              </a:rPr>
              <a:t>MiR</a:t>
            </a:r>
            <a:r>
              <a:rPr b="0" lang="ko-KR" sz="1800" spc="-1" strike="noStrike">
                <a:solidFill>
                  <a:srgbClr val="5b6470"/>
                </a:solidFill>
                <a:latin typeface="Pretendard"/>
                <a:ea typeface="Pretendard"/>
              </a:rPr>
              <a:t>의 매뉴얼</a:t>
            </a:r>
            <a:r>
              <a:rPr b="0" lang="en-US" sz="1800" spc="-1" strike="noStrike">
                <a:solidFill>
                  <a:srgbClr val="5b6470"/>
                </a:solidFill>
                <a:latin typeface="Pretendard"/>
                <a:ea typeface="Pretendard"/>
              </a:rPr>
              <a:t>: </a:t>
            </a:r>
            <a:r>
              <a:rPr b="0" lang="ko-KR" sz="1800" spc="-1" strike="noStrike">
                <a:solidFill>
                  <a:srgbClr val="5b6470"/>
                </a:solidFill>
                <a:latin typeface="Pretendard"/>
                <a:ea typeface="Pretendard"/>
              </a:rPr>
              <a:t>내려가는 계단과 바닥 구멍을 제때 감지하지 못하므로 지도에 금지구역으로 표시하라고 안내한다</a:t>
            </a:r>
            <a:endParaRPr b="0" lang="en-US" sz="1800" spc="-1" strike="noStrike">
              <a:latin typeface="Noto Sans CJK KR"/>
            </a:endParaRPr>
          </a:p>
        </p:txBody>
      </p:sp>
      <p:sp>
        <p:nvSpPr>
          <p:cNvPr id="107" name="Text 39"/>
          <p:cNvSpPr/>
          <p:nvPr/>
        </p:nvSpPr>
        <p:spPr>
          <a:xfrm>
            <a:off x="6858000" y="8877240"/>
            <a:ext cx="1047708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97000"/>
          </a:bodyPr>
          <a:p>
            <a:pPr>
              <a:lnSpc>
                <a:spcPct val="11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5b6470"/>
                </a:solidFill>
                <a:latin typeface="Pretendard"/>
                <a:ea typeface="Pretendard"/>
              </a:rPr>
              <a:t>2024</a:t>
            </a:r>
            <a:r>
              <a:rPr b="0" lang="ko-KR" sz="1800" spc="-1" strike="noStrike">
                <a:solidFill>
                  <a:srgbClr val="5b6470"/>
                </a:solidFill>
                <a:latin typeface="Pretendard"/>
                <a:ea typeface="Pretendard"/>
              </a:rPr>
              <a:t>년 </a:t>
            </a:r>
            <a:r>
              <a:rPr b="0" lang="en-US" sz="1800" spc="-1" strike="noStrike">
                <a:solidFill>
                  <a:srgbClr val="5b6470"/>
                </a:solidFill>
                <a:latin typeface="Pretendard"/>
                <a:ea typeface="Pretendard"/>
              </a:rPr>
              <a:t>6</a:t>
            </a:r>
            <a:r>
              <a:rPr b="0" lang="ko-KR" sz="1800" spc="-1" strike="noStrike">
                <a:solidFill>
                  <a:srgbClr val="5b6470"/>
                </a:solidFill>
                <a:latin typeface="Pretendard"/>
                <a:ea typeface="Pretendard"/>
              </a:rPr>
              <a:t>월</a:t>
            </a:r>
            <a:r>
              <a:rPr b="0" lang="en-US" sz="1800" spc="-1" strike="noStrike">
                <a:solidFill>
                  <a:srgbClr val="5b6470"/>
                </a:solidFill>
                <a:latin typeface="Pretendard"/>
                <a:ea typeface="Pretendard"/>
              </a:rPr>
              <a:t>, </a:t>
            </a:r>
            <a:r>
              <a:rPr b="0" lang="ko-KR" sz="1800" spc="-1" strike="noStrike">
                <a:solidFill>
                  <a:srgbClr val="5b6470"/>
                </a:solidFill>
                <a:latin typeface="Pretendard"/>
                <a:ea typeface="Pretendard"/>
              </a:rPr>
              <a:t>구미시의회 건물 계단에서 </a:t>
            </a:r>
            <a:r>
              <a:rPr b="0" lang="en-US" sz="1800" spc="-1" strike="noStrike">
                <a:solidFill>
                  <a:srgbClr val="5b6470"/>
                </a:solidFill>
                <a:latin typeface="Pretendard"/>
                <a:ea typeface="Pretendard"/>
              </a:rPr>
              <a:t>'</a:t>
            </a:r>
            <a:r>
              <a:rPr b="0" lang="ko-KR" sz="1800" spc="-1" strike="noStrike">
                <a:solidFill>
                  <a:srgbClr val="5b6470"/>
                </a:solidFill>
                <a:latin typeface="Pretendard"/>
                <a:ea typeface="Pretendard"/>
              </a:rPr>
              <a:t>로봇 주무관</a:t>
            </a:r>
            <a:r>
              <a:rPr b="0" lang="en-US" sz="1800" spc="-1" strike="noStrike">
                <a:solidFill>
                  <a:srgbClr val="5b6470"/>
                </a:solidFill>
                <a:latin typeface="Pretendard"/>
                <a:ea typeface="Pretendard"/>
              </a:rPr>
              <a:t>' </a:t>
            </a:r>
            <a:r>
              <a:rPr b="0" lang="ko-KR" sz="1800" spc="-1" strike="noStrike">
                <a:solidFill>
                  <a:srgbClr val="5b6470"/>
                </a:solidFill>
                <a:latin typeface="Pretendard"/>
                <a:ea typeface="Pretendard"/>
              </a:rPr>
              <a:t>추락</a:t>
            </a:r>
            <a:r>
              <a:rPr b="0" lang="en-US" sz="1800" spc="-1" strike="noStrike">
                <a:solidFill>
                  <a:srgbClr val="5b6470"/>
                </a:solidFill>
                <a:latin typeface="Pretendard"/>
                <a:ea typeface="Pretendard"/>
              </a:rPr>
              <a:t>. </a:t>
            </a:r>
            <a:r>
              <a:rPr b="0" lang="ko-KR" sz="1800" spc="-1" strike="noStrike">
                <a:solidFill>
                  <a:srgbClr val="5b6470"/>
                </a:solidFill>
                <a:latin typeface="Pretendard"/>
                <a:ea typeface="Pretendard"/>
              </a:rPr>
              <a:t>공식 원인은 비공개</a:t>
            </a:r>
            <a:endParaRPr b="0" lang="en-US" sz="1800" spc="-1" strike="noStrike">
              <a:latin typeface="Noto Sans CJK KR"/>
            </a:endParaRPr>
          </a:p>
        </p:txBody>
      </p:sp>
      <p:sp>
        <p:nvSpPr>
          <p:cNvPr id="108" name="Text 40"/>
          <p:cNvSpPr/>
          <p:nvPr/>
        </p:nvSpPr>
        <p:spPr>
          <a:xfrm>
            <a:off x="16535520" y="9296280"/>
            <a:ext cx="83772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97000"/>
          </a:bodyPr>
          <a:p>
            <a:pPr algn="r">
              <a:lnSpc>
                <a:spcPct val="11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5b6470"/>
                </a:solidFill>
                <a:latin typeface="Pretendard"/>
                <a:ea typeface="Pretendard"/>
              </a:rPr>
              <a:t>2</a:t>
            </a:r>
            <a:endParaRPr b="0" lang="en-US" sz="1800" spc="-1" strike="noStrike">
              <a:latin typeface="Noto Sans CJK KR"/>
            </a:endParaRPr>
          </a:p>
        </p:txBody>
      </p:sp>
      <p:pic>
        <p:nvPicPr>
          <p:cNvPr id="109" name="" descr="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914400" y="6174000"/>
            <a:ext cx="5500440" cy="3084840"/>
          </a:xfrm>
          <a:prstGeom prst="rect">
            <a:avLst/>
          </a:prstGeom>
          <a:ln w="0">
            <a:noFill/>
          </a:ln>
        </p:spPr>
      </p:pic>
      <p:pic>
        <p:nvPicPr>
          <p:cNvPr id="110" name="그림 47" descr="구미시 '1호 로봇 주무관' 계단서 추락해 파손…병가 처리? | 연합뉴스TV"/>
          <p:cNvPicPr/>
          <p:nvPr/>
        </p:nvPicPr>
        <p:blipFill>
          <a:blip r:embed="rId4"/>
          <a:stretch/>
        </p:blipFill>
        <p:spPr>
          <a:xfrm>
            <a:off x="2286000" y="1285920"/>
            <a:ext cx="13715640" cy="7714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nodeType="clickEffect" fill="hold" presetClass="mediacall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9250" fill="hold"/>
                                        <p:tgtEl>
                                          <p:spTgt spid="10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seq>
              <p:cTn id="11" restart="whenNotActive" nodeType="interactiveSeq" fill="hold">
                <p:stCondLst>
                  <p:cond delay="0" evt="onClick">
                    <p:tgtEl>
                      <p:spTgt spid="109"/>
                    </p:tgtEl>
                  </p:cond>
                </p:stCondLst>
                <p:childTnLst>
                  <p:par>
                    <p:cTn id="12" fill="hold">
                      <p:stCondLst>
                        <p:cond delay="0" evt="onClick">
                          <p:tgtEl>
                            <p:spTgt spid="109"/>
                          </p:tgtEl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nodeType="clickEffect" fill="hold" presetClass="mediacall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5" dur="1" fill="hold"/>
                                        <p:tgtEl>
                                          <p:spTgt spid="10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ext 0"/>
          <p:cNvSpPr/>
          <p:nvPr/>
        </p:nvSpPr>
        <p:spPr>
          <a:xfrm>
            <a:off x="914400" y="685800"/>
            <a:ext cx="942948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97000"/>
          </a:bodyPr>
          <a:p>
            <a:pPr>
              <a:lnSpc>
                <a:spcPct val="110000"/>
              </a:lnSpc>
              <a:buNone/>
              <a:tabLst>
                <a:tab algn="l" pos="0"/>
              </a:tabLst>
            </a:pPr>
            <a:r>
              <a:rPr b="1" lang="en-US" sz="1800" spc="250" strike="noStrike">
                <a:solidFill>
                  <a:srgbClr val="5b6470"/>
                </a:solidFill>
                <a:latin typeface="Pretendard"/>
                <a:ea typeface="Pretendard"/>
              </a:rPr>
              <a:t>GAP</a:t>
            </a:r>
            <a:endParaRPr b="0" lang="en-US" sz="1800" spc="-1" strike="noStrike">
              <a:latin typeface="Noto Sans CJK KR"/>
            </a:endParaRPr>
          </a:p>
        </p:txBody>
      </p:sp>
      <p:sp>
        <p:nvSpPr>
          <p:cNvPr id="112" name="Text 1"/>
          <p:cNvSpPr/>
          <p:nvPr/>
        </p:nvSpPr>
        <p:spPr>
          <a:xfrm>
            <a:off x="914400" y="1066680"/>
            <a:ext cx="18104760" cy="102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>
              <a:lnSpc>
                <a:spcPct val="109000"/>
              </a:lnSpc>
              <a:buNone/>
              <a:tabLst>
                <a:tab algn="l" pos="0"/>
              </a:tabLst>
            </a:pPr>
            <a:r>
              <a:rPr b="1" lang="ko-KR" sz="5400" spc="-109" strike="noStrike">
                <a:solidFill>
                  <a:srgbClr val="1f2328"/>
                </a:solidFill>
                <a:latin typeface="Pretendard"/>
                <a:ea typeface="Pretendard"/>
              </a:rPr>
              <a:t>현장의 두 겹 방어 사이에는 빈 구간이 있다</a:t>
            </a:r>
            <a:endParaRPr b="0" lang="en-US" sz="5400" spc="-1" strike="noStrike">
              <a:latin typeface="Noto Sans CJK KR"/>
            </a:endParaRPr>
          </a:p>
        </p:txBody>
      </p:sp>
      <p:sp>
        <p:nvSpPr>
          <p:cNvPr id="113" name="Text 2"/>
          <p:cNvSpPr/>
          <p:nvPr/>
        </p:nvSpPr>
        <p:spPr>
          <a:xfrm>
            <a:off x="914400" y="2476440"/>
            <a:ext cx="1676160" cy="79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rmAutofit/>
          </a:bodyPr>
          <a:p>
            <a:pPr>
              <a:lnSpc>
                <a:spcPct val="113000"/>
              </a:lnSpc>
              <a:buNone/>
              <a:tabLst>
                <a:tab algn="l" pos="0"/>
              </a:tabLst>
            </a:pPr>
            <a:r>
              <a:rPr b="1" lang="ko-KR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현장</a:t>
            </a:r>
            <a:endParaRPr b="0" lang="en-US" sz="2400" spc="-1" strike="noStrike">
              <a:latin typeface="Noto Sans CJK KR"/>
            </a:endParaRPr>
          </a:p>
        </p:txBody>
      </p:sp>
      <p:sp>
        <p:nvSpPr>
          <p:cNvPr id="114" name="Shape 3"/>
          <p:cNvSpPr/>
          <p:nvPr/>
        </p:nvSpPr>
        <p:spPr>
          <a:xfrm>
            <a:off x="2857680" y="2476440"/>
            <a:ext cx="4762080" cy="761760"/>
          </a:xfrm>
          <a:prstGeom prst="roundRect">
            <a:avLst>
              <a:gd name="adj" fmla="val 10000"/>
            </a:avLst>
          </a:prstGeom>
          <a:noFill/>
          <a:ln w="38100">
            <a:solidFill>
              <a:srgbClr val="1f232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5" name="Text 4"/>
          <p:cNvSpPr/>
          <p:nvPr/>
        </p:nvSpPr>
        <p:spPr>
          <a:xfrm>
            <a:off x="2824200" y="2514600"/>
            <a:ext cx="4828680" cy="72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rmAutofit/>
          </a:bodyPr>
          <a:p>
            <a:pPr algn="ctr">
              <a:lnSpc>
                <a:spcPct val="113000"/>
              </a:lnSpc>
              <a:buNone/>
              <a:tabLst>
                <a:tab algn="l" pos="0"/>
              </a:tabLst>
            </a:pPr>
            <a:r>
              <a:rPr b="0" lang="ko-KR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지도 금지구역 </a:t>
            </a:r>
            <a:r>
              <a:rPr b="0" lang="en-US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keepout</a:t>
            </a:r>
            <a:endParaRPr b="0" lang="en-US" sz="2400" spc="-1" strike="noStrike">
              <a:latin typeface="Noto Sans CJK KR"/>
            </a:endParaRPr>
          </a:p>
        </p:txBody>
      </p:sp>
      <p:sp>
        <p:nvSpPr>
          <p:cNvPr id="116" name="Shape 5"/>
          <p:cNvSpPr/>
          <p:nvPr/>
        </p:nvSpPr>
        <p:spPr>
          <a:xfrm>
            <a:off x="8001000" y="2476440"/>
            <a:ext cx="4952520" cy="761760"/>
          </a:xfrm>
          <a:prstGeom prst="roundRect">
            <a:avLst>
              <a:gd name="adj" fmla="val 10000"/>
            </a:avLst>
          </a:prstGeom>
          <a:noFill/>
          <a:ln w="38100">
            <a:solidFill>
              <a:srgbClr val="d33c3c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7" name="Text 6"/>
          <p:cNvSpPr/>
          <p:nvPr/>
        </p:nvSpPr>
        <p:spPr>
          <a:xfrm>
            <a:off x="7964640" y="2514600"/>
            <a:ext cx="5024880" cy="72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rmAutofit/>
          </a:bodyPr>
          <a:p>
            <a:pPr algn="ctr">
              <a:lnSpc>
                <a:spcPct val="113000"/>
              </a:lnSpc>
              <a:buNone/>
              <a:tabLst>
                <a:tab algn="l" pos="0"/>
              </a:tabLst>
            </a:pPr>
            <a:r>
              <a:rPr b="1" lang="ko-KR" sz="2400" spc="-1" strike="noStrike">
                <a:solidFill>
                  <a:srgbClr val="d33c3c"/>
                </a:solidFill>
                <a:latin typeface="Pretendard"/>
                <a:ea typeface="Pretendard"/>
              </a:rPr>
              <a:t>빈 구간</a:t>
            </a:r>
            <a:endParaRPr b="0" lang="en-US" sz="2400" spc="-1" strike="noStrike">
              <a:latin typeface="Noto Sans CJK KR"/>
            </a:endParaRPr>
          </a:p>
        </p:txBody>
      </p:sp>
      <p:sp>
        <p:nvSpPr>
          <p:cNvPr id="118" name="Shape 7"/>
          <p:cNvSpPr/>
          <p:nvPr/>
        </p:nvSpPr>
        <p:spPr>
          <a:xfrm>
            <a:off x="13335120" y="2476440"/>
            <a:ext cx="3847680" cy="761760"/>
          </a:xfrm>
          <a:prstGeom prst="roundRect">
            <a:avLst>
              <a:gd name="adj" fmla="val 10000"/>
            </a:avLst>
          </a:prstGeom>
          <a:noFill/>
          <a:ln w="38100">
            <a:solidFill>
              <a:srgbClr val="1f232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9" name="Text 8"/>
          <p:cNvSpPr/>
          <p:nvPr/>
        </p:nvSpPr>
        <p:spPr>
          <a:xfrm>
            <a:off x="13315320" y="2514600"/>
            <a:ext cx="3886920" cy="72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rmAutofit/>
          </a:bodyPr>
          <a:p>
            <a:pPr algn="ctr">
              <a:lnSpc>
                <a:spcPct val="113000"/>
              </a:lnSpc>
              <a:buNone/>
              <a:tabLst>
                <a:tab algn="l" pos="0"/>
              </a:tabLst>
            </a:pPr>
            <a:r>
              <a:rPr b="0" lang="ko-KR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하향 </a:t>
            </a:r>
            <a:r>
              <a:rPr b="0" lang="en-US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IR </a:t>
            </a:r>
            <a:r>
              <a:rPr b="0" lang="ko-KR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급정지</a:t>
            </a:r>
            <a:endParaRPr b="0" lang="en-US" sz="2400" spc="-1" strike="noStrike">
              <a:latin typeface="Noto Sans CJK KR"/>
            </a:endParaRPr>
          </a:p>
        </p:txBody>
      </p:sp>
      <p:sp>
        <p:nvSpPr>
          <p:cNvPr id="120" name="Shape 9"/>
          <p:cNvSpPr/>
          <p:nvPr/>
        </p:nvSpPr>
        <p:spPr>
          <a:xfrm>
            <a:off x="914400" y="4219560"/>
            <a:ext cx="1752120" cy="18720"/>
          </a:xfrm>
          <a:prstGeom prst="rect">
            <a:avLst/>
          </a:pr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1" name="Text 10"/>
          <p:cNvSpPr/>
          <p:nvPr/>
        </p:nvSpPr>
        <p:spPr>
          <a:xfrm>
            <a:off x="914400" y="3390840"/>
            <a:ext cx="1676160" cy="79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rmAutofit/>
          </a:bodyPr>
          <a:p>
            <a:pPr>
              <a:lnSpc>
                <a:spcPct val="113000"/>
              </a:lnSpc>
              <a:buNone/>
              <a:tabLst>
                <a:tab algn="l" pos="0"/>
              </a:tabLst>
            </a:pPr>
            <a:r>
              <a:rPr b="1" lang="ko-KR" sz="2400" spc="-1" strike="noStrike">
                <a:solidFill>
                  <a:srgbClr val="008300"/>
                </a:solidFill>
                <a:latin typeface="Pretendard"/>
                <a:ea typeface="Pretendard"/>
              </a:rPr>
              <a:t>제안</a:t>
            </a:r>
            <a:endParaRPr b="0" lang="en-US" sz="2400" spc="-1" strike="noStrike">
              <a:latin typeface="Noto Sans CJK KR"/>
            </a:endParaRPr>
          </a:p>
        </p:txBody>
      </p:sp>
      <p:sp>
        <p:nvSpPr>
          <p:cNvPr id="122" name="Shape 11"/>
          <p:cNvSpPr/>
          <p:nvPr/>
        </p:nvSpPr>
        <p:spPr>
          <a:xfrm>
            <a:off x="2666880" y="4219560"/>
            <a:ext cx="5143320" cy="18720"/>
          </a:xfrm>
          <a:prstGeom prst="rect">
            <a:avLst/>
          </a:pr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3" name="Shape 12"/>
          <p:cNvSpPr/>
          <p:nvPr/>
        </p:nvSpPr>
        <p:spPr>
          <a:xfrm>
            <a:off x="2857680" y="3390840"/>
            <a:ext cx="4762080" cy="761760"/>
          </a:xfrm>
          <a:prstGeom prst="roundRect">
            <a:avLst>
              <a:gd name="adj" fmla="val 10000"/>
            </a:avLst>
          </a:prstGeom>
          <a:noFill/>
          <a:ln w="38100">
            <a:solidFill>
              <a:srgbClr val="1f232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4" name="Text 13"/>
          <p:cNvSpPr/>
          <p:nvPr/>
        </p:nvSpPr>
        <p:spPr>
          <a:xfrm>
            <a:off x="2824200" y="3429000"/>
            <a:ext cx="4828680" cy="72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rmAutofit/>
          </a:bodyPr>
          <a:p>
            <a:pPr algn="ctr">
              <a:lnSpc>
                <a:spcPct val="113000"/>
              </a:lnSpc>
              <a:buNone/>
              <a:tabLst>
                <a:tab algn="l" pos="0"/>
              </a:tabLst>
            </a:pPr>
            <a:r>
              <a:rPr b="0" lang="ko-KR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지도 금지구역 </a:t>
            </a:r>
            <a:r>
              <a:rPr b="0" lang="en-US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keepout</a:t>
            </a:r>
            <a:endParaRPr b="0" lang="en-US" sz="2400" spc="-1" strike="noStrike">
              <a:latin typeface="Noto Sans CJK KR"/>
            </a:endParaRPr>
          </a:p>
        </p:txBody>
      </p:sp>
      <p:sp>
        <p:nvSpPr>
          <p:cNvPr id="125" name="Shape 14"/>
          <p:cNvSpPr/>
          <p:nvPr/>
        </p:nvSpPr>
        <p:spPr>
          <a:xfrm>
            <a:off x="7810560" y="3314880"/>
            <a:ext cx="5333760" cy="923400"/>
          </a:xfrm>
          <a:prstGeom prst="rect">
            <a:avLst/>
          </a:prstGeom>
          <a:solidFill>
            <a:srgbClr val="eaf4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6" name="Shape 15"/>
          <p:cNvSpPr/>
          <p:nvPr/>
        </p:nvSpPr>
        <p:spPr>
          <a:xfrm>
            <a:off x="7810560" y="4219560"/>
            <a:ext cx="5333760" cy="18720"/>
          </a:xfrm>
          <a:prstGeom prst="rect">
            <a:avLst/>
          </a:pr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7" name="Shape 16"/>
          <p:cNvSpPr/>
          <p:nvPr/>
        </p:nvSpPr>
        <p:spPr>
          <a:xfrm>
            <a:off x="8001000" y="3390840"/>
            <a:ext cx="4952520" cy="761760"/>
          </a:xfrm>
          <a:prstGeom prst="roundRect">
            <a:avLst>
              <a:gd name="adj" fmla="val 10000"/>
            </a:avLst>
          </a:prstGeom>
          <a:solidFill>
            <a:srgbClr val="008300"/>
          </a:solidFill>
          <a:ln w="38100">
            <a:solidFill>
              <a:srgbClr val="0083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8" name="Text 17"/>
          <p:cNvSpPr/>
          <p:nvPr/>
        </p:nvSpPr>
        <p:spPr>
          <a:xfrm>
            <a:off x="7964640" y="3429000"/>
            <a:ext cx="5024880" cy="72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rmAutofit/>
          </a:bodyPr>
          <a:p>
            <a:pPr algn="ctr">
              <a:lnSpc>
                <a:spcPct val="113000"/>
              </a:lnSpc>
              <a:buNone/>
              <a:tabLst>
                <a:tab algn="l" pos="0"/>
              </a:tabLst>
            </a:pPr>
            <a:r>
              <a:rPr b="1" lang="ko-KR" sz="2400" spc="-1" strike="noStrike">
                <a:solidFill>
                  <a:srgbClr val="ffffff"/>
                </a:solidFill>
                <a:latin typeface="Pretendard"/>
                <a:ea typeface="Pretendard"/>
              </a:rPr>
              <a:t>깊이카메라 안전층</a:t>
            </a:r>
            <a:endParaRPr b="0" lang="en-US" sz="2400" spc="-1" strike="noStrike">
              <a:latin typeface="Noto Sans CJK KR"/>
            </a:endParaRPr>
          </a:p>
        </p:txBody>
      </p:sp>
      <p:sp>
        <p:nvSpPr>
          <p:cNvPr id="129" name="Shape 18"/>
          <p:cNvSpPr/>
          <p:nvPr/>
        </p:nvSpPr>
        <p:spPr>
          <a:xfrm>
            <a:off x="13144680" y="4219560"/>
            <a:ext cx="4228920" cy="18720"/>
          </a:xfrm>
          <a:prstGeom prst="rect">
            <a:avLst/>
          </a:pr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0" name="Shape 19"/>
          <p:cNvSpPr/>
          <p:nvPr/>
        </p:nvSpPr>
        <p:spPr>
          <a:xfrm>
            <a:off x="13335120" y="3390840"/>
            <a:ext cx="3847680" cy="761760"/>
          </a:xfrm>
          <a:prstGeom prst="roundRect">
            <a:avLst>
              <a:gd name="adj" fmla="val 10000"/>
            </a:avLst>
          </a:prstGeom>
          <a:noFill/>
          <a:ln w="38100">
            <a:solidFill>
              <a:srgbClr val="1f232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1" name="Text 20"/>
          <p:cNvSpPr/>
          <p:nvPr/>
        </p:nvSpPr>
        <p:spPr>
          <a:xfrm>
            <a:off x="13315320" y="3429000"/>
            <a:ext cx="3886920" cy="72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rmAutofit/>
          </a:bodyPr>
          <a:p>
            <a:pPr algn="ctr">
              <a:lnSpc>
                <a:spcPct val="113000"/>
              </a:lnSpc>
              <a:buNone/>
              <a:tabLst>
                <a:tab algn="l" pos="0"/>
              </a:tabLst>
            </a:pPr>
            <a:r>
              <a:rPr b="0" lang="ko-KR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하향 </a:t>
            </a:r>
            <a:r>
              <a:rPr b="0" lang="en-US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IR </a:t>
            </a:r>
            <a:r>
              <a:rPr b="0" lang="ko-KR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급정지</a:t>
            </a:r>
            <a:endParaRPr b="0" lang="en-US" sz="2400" spc="-1" strike="noStrike">
              <a:latin typeface="Noto Sans CJK KR"/>
            </a:endParaRPr>
          </a:p>
        </p:txBody>
      </p:sp>
      <p:sp>
        <p:nvSpPr>
          <p:cNvPr id="132" name="Shape 21"/>
          <p:cNvSpPr/>
          <p:nvPr/>
        </p:nvSpPr>
        <p:spPr>
          <a:xfrm>
            <a:off x="914400" y="5289840"/>
            <a:ext cx="1752120" cy="18720"/>
          </a:xfrm>
          <a:prstGeom prst="rect">
            <a:avLst/>
          </a:prstGeom>
          <a:solidFill>
            <a:srgbClr val="e3e6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3" name="Text 22"/>
          <p:cNvSpPr/>
          <p:nvPr/>
        </p:nvSpPr>
        <p:spPr>
          <a:xfrm>
            <a:off x="914400" y="4352760"/>
            <a:ext cx="1676160" cy="86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97000"/>
          </a:bodyPr>
          <a:p>
            <a:pPr>
              <a:lnSpc>
                <a:spcPct val="113000"/>
              </a:lnSpc>
              <a:buNone/>
              <a:tabLst>
                <a:tab algn="l" pos="0"/>
              </a:tabLst>
            </a:pPr>
            <a:r>
              <a:rPr b="1" lang="ko-KR" sz="2400" spc="-1" strike="noStrike">
                <a:solidFill>
                  <a:srgbClr val="5b6470"/>
                </a:solidFill>
                <a:latin typeface="Pretendard"/>
                <a:ea typeface="Pretendard"/>
              </a:rPr>
              <a:t>언제 알아채나</a:t>
            </a:r>
            <a:endParaRPr b="0" lang="en-US" sz="2400" spc="-1" strike="noStrike">
              <a:latin typeface="Noto Sans CJK KR"/>
            </a:endParaRPr>
          </a:p>
        </p:txBody>
      </p:sp>
      <p:sp>
        <p:nvSpPr>
          <p:cNvPr id="134" name="Shape 23"/>
          <p:cNvSpPr/>
          <p:nvPr/>
        </p:nvSpPr>
        <p:spPr>
          <a:xfrm>
            <a:off x="2666880" y="5289840"/>
            <a:ext cx="5143320" cy="18720"/>
          </a:xfrm>
          <a:prstGeom prst="rect">
            <a:avLst/>
          </a:prstGeom>
          <a:solidFill>
            <a:srgbClr val="e3e6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5" name="Text 24"/>
          <p:cNvSpPr/>
          <p:nvPr/>
        </p:nvSpPr>
        <p:spPr>
          <a:xfrm>
            <a:off x="2857680" y="4352760"/>
            <a:ext cx="4916520" cy="86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98000"/>
          </a:bodyPr>
          <a:p>
            <a:pPr>
              <a:lnSpc>
                <a:spcPct val="113000"/>
              </a:lnSpc>
              <a:buNone/>
              <a:tabLst>
                <a:tab algn="l" pos="0"/>
              </a:tabLst>
            </a:pPr>
            <a:r>
              <a:rPr b="0" lang="ko-KR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미리 안다</a:t>
            </a:r>
            <a:r>
              <a:rPr b="0" lang="en-US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. </a:t>
            </a:r>
            <a:r>
              <a:rPr b="0" lang="ko-KR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단</a:t>
            </a:r>
            <a:r>
              <a:rPr b="0" lang="en-US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, </a:t>
            </a:r>
            <a:r>
              <a:rPr b="1" lang="ko-KR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자기 위치가 정확할 때만</a:t>
            </a:r>
            <a:endParaRPr b="0" lang="en-US" sz="2400" spc="-1" strike="noStrike">
              <a:latin typeface="Noto Sans CJK KR"/>
            </a:endParaRPr>
          </a:p>
        </p:txBody>
      </p:sp>
      <p:sp>
        <p:nvSpPr>
          <p:cNvPr id="136" name="Shape 25"/>
          <p:cNvSpPr/>
          <p:nvPr/>
        </p:nvSpPr>
        <p:spPr>
          <a:xfrm>
            <a:off x="7810560" y="4238640"/>
            <a:ext cx="5333760" cy="1069920"/>
          </a:xfrm>
          <a:prstGeom prst="rect">
            <a:avLst/>
          </a:prstGeom>
          <a:solidFill>
            <a:srgbClr val="eaf4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7" name="Shape 26"/>
          <p:cNvSpPr/>
          <p:nvPr/>
        </p:nvSpPr>
        <p:spPr>
          <a:xfrm>
            <a:off x="7810560" y="5289840"/>
            <a:ext cx="5333760" cy="18720"/>
          </a:xfrm>
          <a:prstGeom prst="rect">
            <a:avLst/>
          </a:prstGeom>
          <a:solidFill>
            <a:srgbClr val="e3e6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8" name="Text 27"/>
          <p:cNvSpPr/>
          <p:nvPr/>
        </p:nvSpPr>
        <p:spPr>
          <a:xfrm>
            <a:off x="8001000" y="4352760"/>
            <a:ext cx="5112720" cy="86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>
              <a:lnSpc>
                <a:spcPct val="113000"/>
              </a:lnSpc>
              <a:buNone/>
              <a:tabLst>
                <a:tab algn="l" pos="0"/>
              </a:tabLst>
            </a:pPr>
            <a:r>
              <a:rPr b="1" lang="ko-KR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약 </a:t>
            </a:r>
            <a:r>
              <a:rPr b="1" lang="en-US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2.5 m </a:t>
            </a:r>
            <a:r>
              <a:rPr b="1" lang="ko-KR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앞에서 미리</a:t>
            </a:r>
            <a:endParaRPr b="0" lang="en-US" sz="2400" spc="-1" strike="noStrike">
              <a:latin typeface="Noto Sans CJK KR"/>
            </a:endParaRPr>
          </a:p>
        </p:txBody>
      </p:sp>
      <p:sp>
        <p:nvSpPr>
          <p:cNvPr id="139" name="Shape 28"/>
          <p:cNvSpPr/>
          <p:nvPr/>
        </p:nvSpPr>
        <p:spPr>
          <a:xfrm>
            <a:off x="13144680" y="5289840"/>
            <a:ext cx="4228920" cy="18720"/>
          </a:xfrm>
          <a:prstGeom prst="rect">
            <a:avLst/>
          </a:prstGeom>
          <a:solidFill>
            <a:srgbClr val="e3e6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0" name="Text 29"/>
          <p:cNvSpPr/>
          <p:nvPr/>
        </p:nvSpPr>
        <p:spPr>
          <a:xfrm>
            <a:off x="13335120" y="4352760"/>
            <a:ext cx="3974760" cy="86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97000"/>
          </a:bodyPr>
          <a:p>
            <a:pPr>
              <a:lnSpc>
                <a:spcPct val="113000"/>
              </a:lnSpc>
              <a:buNone/>
              <a:tabLst>
                <a:tab algn="l" pos="0"/>
              </a:tabLst>
            </a:pPr>
            <a:r>
              <a:rPr b="1" lang="ko-KR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몸체 끝이 가장자리에 닿아야 안다</a:t>
            </a:r>
            <a:endParaRPr b="0" lang="en-US" sz="2400" spc="-1" strike="noStrike">
              <a:latin typeface="Noto Sans CJK KR"/>
            </a:endParaRPr>
          </a:p>
        </p:txBody>
      </p:sp>
      <p:sp>
        <p:nvSpPr>
          <p:cNvPr id="141" name="Shape 30"/>
          <p:cNvSpPr/>
          <p:nvPr/>
        </p:nvSpPr>
        <p:spPr>
          <a:xfrm>
            <a:off x="914400" y="5949000"/>
            <a:ext cx="1752120" cy="18720"/>
          </a:xfrm>
          <a:prstGeom prst="rect">
            <a:avLst/>
          </a:prstGeom>
          <a:solidFill>
            <a:srgbClr val="e3e6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2" name="Text 31"/>
          <p:cNvSpPr/>
          <p:nvPr/>
        </p:nvSpPr>
        <p:spPr>
          <a:xfrm>
            <a:off x="914400" y="5423400"/>
            <a:ext cx="1676160" cy="44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96000"/>
          </a:bodyPr>
          <a:p>
            <a:pPr>
              <a:lnSpc>
                <a:spcPct val="113000"/>
              </a:lnSpc>
              <a:buNone/>
              <a:tabLst>
                <a:tab algn="l" pos="0"/>
              </a:tabLst>
            </a:pPr>
            <a:r>
              <a:rPr b="1" lang="ko-KR" sz="2400" spc="-1" strike="noStrike">
                <a:solidFill>
                  <a:srgbClr val="5b6470"/>
                </a:solidFill>
                <a:latin typeface="Pretendard"/>
                <a:ea typeface="Pretendard"/>
              </a:rPr>
              <a:t>기억</a:t>
            </a:r>
            <a:endParaRPr b="0" lang="en-US" sz="2400" spc="-1" strike="noStrike">
              <a:latin typeface="Noto Sans CJK KR"/>
            </a:endParaRPr>
          </a:p>
        </p:txBody>
      </p:sp>
      <p:sp>
        <p:nvSpPr>
          <p:cNvPr id="143" name="Shape 32"/>
          <p:cNvSpPr/>
          <p:nvPr/>
        </p:nvSpPr>
        <p:spPr>
          <a:xfrm>
            <a:off x="2666880" y="5949000"/>
            <a:ext cx="5143320" cy="18720"/>
          </a:xfrm>
          <a:prstGeom prst="rect">
            <a:avLst/>
          </a:prstGeom>
          <a:solidFill>
            <a:srgbClr val="e3e6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4" name="Text 33"/>
          <p:cNvSpPr/>
          <p:nvPr/>
        </p:nvSpPr>
        <p:spPr>
          <a:xfrm>
            <a:off x="2857680" y="5423400"/>
            <a:ext cx="4916520" cy="44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96000"/>
          </a:bodyPr>
          <a:p>
            <a:pPr>
              <a:lnSpc>
                <a:spcPct val="113000"/>
              </a:lnSpc>
              <a:buNone/>
              <a:tabLst>
                <a:tab algn="l" pos="0"/>
              </a:tabLst>
            </a:pPr>
            <a:r>
              <a:rPr b="0" lang="ko-KR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지도 좌표에 고정</a:t>
            </a:r>
            <a:endParaRPr b="0" lang="en-US" sz="2400" spc="-1" strike="noStrike">
              <a:latin typeface="Noto Sans CJK KR"/>
            </a:endParaRPr>
          </a:p>
        </p:txBody>
      </p:sp>
      <p:sp>
        <p:nvSpPr>
          <p:cNvPr id="145" name="Shape 34"/>
          <p:cNvSpPr/>
          <p:nvPr/>
        </p:nvSpPr>
        <p:spPr>
          <a:xfrm>
            <a:off x="7810560" y="5308920"/>
            <a:ext cx="5333760" cy="658800"/>
          </a:xfrm>
          <a:prstGeom prst="rect">
            <a:avLst/>
          </a:prstGeom>
          <a:solidFill>
            <a:srgbClr val="eaf4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6" name="Shape 35"/>
          <p:cNvSpPr/>
          <p:nvPr/>
        </p:nvSpPr>
        <p:spPr>
          <a:xfrm>
            <a:off x="7810560" y="5949000"/>
            <a:ext cx="5333760" cy="18720"/>
          </a:xfrm>
          <a:prstGeom prst="rect">
            <a:avLst/>
          </a:prstGeom>
          <a:solidFill>
            <a:srgbClr val="e3e6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7" name="Text 36"/>
          <p:cNvSpPr/>
          <p:nvPr/>
        </p:nvSpPr>
        <p:spPr>
          <a:xfrm>
            <a:off x="8001000" y="5423400"/>
            <a:ext cx="5112720" cy="44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96000"/>
          </a:bodyPr>
          <a:p>
            <a:pPr>
              <a:lnSpc>
                <a:spcPct val="113000"/>
              </a:lnSpc>
              <a:buNone/>
              <a:tabLst>
                <a:tab algn="l" pos="0"/>
              </a:tabLst>
            </a:pPr>
            <a:r>
              <a:rPr b="0" lang="ko-KR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바퀴 기준 좌표 </a:t>
            </a:r>
            <a:r>
              <a:rPr b="0" lang="en-US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(odom)</a:t>
            </a:r>
            <a:endParaRPr b="0" lang="en-US" sz="2400" spc="-1" strike="noStrike">
              <a:latin typeface="Noto Sans CJK KR"/>
            </a:endParaRPr>
          </a:p>
        </p:txBody>
      </p:sp>
      <p:sp>
        <p:nvSpPr>
          <p:cNvPr id="148" name="Shape 37"/>
          <p:cNvSpPr/>
          <p:nvPr/>
        </p:nvSpPr>
        <p:spPr>
          <a:xfrm>
            <a:off x="13144680" y="5949000"/>
            <a:ext cx="4228920" cy="18720"/>
          </a:xfrm>
          <a:prstGeom prst="rect">
            <a:avLst/>
          </a:prstGeom>
          <a:solidFill>
            <a:srgbClr val="e3e6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9" name="Text 38"/>
          <p:cNvSpPr/>
          <p:nvPr/>
        </p:nvSpPr>
        <p:spPr>
          <a:xfrm>
            <a:off x="13335120" y="5423400"/>
            <a:ext cx="3974760" cy="44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96000"/>
          </a:bodyPr>
          <a:p>
            <a:pPr>
              <a:lnSpc>
                <a:spcPct val="113000"/>
              </a:lnSpc>
              <a:buNone/>
              <a:tabLst>
                <a:tab algn="l" pos="0"/>
              </a:tabLst>
            </a:pPr>
            <a:r>
              <a:rPr b="0" lang="ko-KR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없음</a:t>
            </a:r>
            <a:endParaRPr b="0" lang="en-US" sz="2400" spc="-1" strike="noStrike">
              <a:latin typeface="Noto Sans CJK KR"/>
            </a:endParaRPr>
          </a:p>
        </p:txBody>
      </p:sp>
      <p:sp>
        <p:nvSpPr>
          <p:cNvPr id="150" name="Shape 39"/>
          <p:cNvSpPr/>
          <p:nvPr/>
        </p:nvSpPr>
        <p:spPr>
          <a:xfrm>
            <a:off x="914400" y="7430760"/>
            <a:ext cx="1752120" cy="18720"/>
          </a:xfrm>
          <a:prstGeom prst="rect">
            <a:avLst/>
          </a:prstGeom>
          <a:solidFill>
            <a:srgbClr val="e3e6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1" name="Text 40"/>
          <p:cNvSpPr/>
          <p:nvPr/>
        </p:nvSpPr>
        <p:spPr>
          <a:xfrm>
            <a:off x="914400" y="6082200"/>
            <a:ext cx="1676160" cy="127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>
              <a:lnSpc>
                <a:spcPct val="113000"/>
              </a:lnSpc>
              <a:buNone/>
              <a:tabLst>
                <a:tab algn="l" pos="0"/>
              </a:tabLst>
            </a:pPr>
            <a:r>
              <a:rPr b="1" lang="ko-KR" sz="2400" spc="-1" strike="noStrike">
                <a:solidFill>
                  <a:srgbClr val="5b6470"/>
                </a:solidFill>
                <a:latin typeface="Pretendard"/>
                <a:ea typeface="Pretendard"/>
              </a:rPr>
              <a:t>약점</a:t>
            </a:r>
            <a:endParaRPr b="0" lang="en-US" sz="2400" spc="-1" strike="noStrike">
              <a:latin typeface="Noto Sans CJK KR"/>
            </a:endParaRPr>
          </a:p>
        </p:txBody>
      </p:sp>
      <p:sp>
        <p:nvSpPr>
          <p:cNvPr id="152" name="Shape 41"/>
          <p:cNvSpPr/>
          <p:nvPr/>
        </p:nvSpPr>
        <p:spPr>
          <a:xfrm>
            <a:off x="2666880" y="7430760"/>
            <a:ext cx="5143320" cy="18720"/>
          </a:xfrm>
          <a:prstGeom prst="rect">
            <a:avLst/>
          </a:prstGeom>
          <a:solidFill>
            <a:srgbClr val="e3e6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3" name="Text 42"/>
          <p:cNvSpPr/>
          <p:nvPr/>
        </p:nvSpPr>
        <p:spPr>
          <a:xfrm>
            <a:off x="2857680" y="6082200"/>
            <a:ext cx="4916520" cy="127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>
              <a:lnSpc>
                <a:spcPct val="113000"/>
              </a:lnSpc>
              <a:buNone/>
              <a:tabLst>
                <a:tab algn="l" pos="0"/>
              </a:tabLst>
            </a:pPr>
            <a:r>
              <a:rPr b="0" lang="ko-KR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위치 착각 </a:t>
            </a:r>
            <a:r>
              <a:rPr b="0" lang="en-US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· </a:t>
            </a:r>
            <a:r>
              <a:rPr b="0" lang="ko-KR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표시 누락</a:t>
            </a:r>
            <a:endParaRPr b="0" lang="en-US" sz="2400" spc="-1" strike="noStrike">
              <a:latin typeface="Noto Sans CJK KR"/>
            </a:endParaRPr>
          </a:p>
        </p:txBody>
      </p:sp>
      <p:sp>
        <p:nvSpPr>
          <p:cNvPr id="154" name="Shape 43"/>
          <p:cNvSpPr/>
          <p:nvPr/>
        </p:nvSpPr>
        <p:spPr>
          <a:xfrm>
            <a:off x="7810560" y="5968080"/>
            <a:ext cx="5333760" cy="1481400"/>
          </a:xfrm>
          <a:prstGeom prst="rect">
            <a:avLst/>
          </a:prstGeom>
          <a:solidFill>
            <a:srgbClr val="eaf4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5" name="Shape 44"/>
          <p:cNvSpPr/>
          <p:nvPr/>
        </p:nvSpPr>
        <p:spPr>
          <a:xfrm>
            <a:off x="7810560" y="7430760"/>
            <a:ext cx="5333760" cy="18720"/>
          </a:xfrm>
          <a:prstGeom prst="rect">
            <a:avLst/>
          </a:prstGeom>
          <a:solidFill>
            <a:srgbClr val="e3e6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6" name="Text 45"/>
          <p:cNvSpPr/>
          <p:nvPr/>
        </p:nvSpPr>
        <p:spPr>
          <a:xfrm>
            <a:off x="8001000" y="6082200"/>
            <a:ext cx="5112720" cy="127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>
              <a:lnSpc>
                <a:spcPct val="113000"/>
              </a:lnSpc>
              <a:buNone/>
              <a:tabLst>
                <a:tab algn="l" pos="0"/>
              </a:tabLst>
            </a:pPr>
            <a:r>
              <a:rPr b="0" lang="ko-KR" sz="2400" spc="-1" strike="noStrike">
                <a:solidFill>
                  <a:srgbClr val="1f2328"/>
                </a:solidFill>
                <a:highlight>
                  <a:srgbClr val="eaf4ea"/>
                </a:highlight>
                <a:latin typeface="Pretendard"/>
                <a:ea typeface="Pretendard"/>
              </a:rPr>
              <a:t>반사가 없는 바닥은 못 본다 → </a:t>
            </a:r>
            <a:r>
              <a:rPr b="0" lang="en-US" sz="2400" spc="-1" strike="noStrike">
                <a:solidFill>
                  <a:srgbClr val="1f2328"/>
                </a:solidFill>
                <a:highlight>
                  <a:srgbClr val="eaf4ea"/>
                </a:highlight>
                <a:latin typeface="Pretendard"/>
                <a:ea typeface="Pretendard"/>
              </a:rPr>
              <a:t>IR</a:t>
            </a:r>
            <a:r>
              <a:rPr b="0" lang="ko-KR" sz="2400" spc="-1" strike="noStrike">
                <a:solidFill>
                  <a:srgbClr val="1f2328"/>
                </a:solidFill>
                <a:highlight>
                  <a:srgbClr val="eaf4ea"/>
                </a:highlight>
                <a:latin typeface="Pretendard"/>
                <a:ea typeface="Pretendard"/>
              </a:rPr>
              <a:t>로 보완</a:t>
            </a:r>
            <a:endParaRPr b="0" lang="en-US" sz="2400" spc="-1" strike="noStrike">
              <a:latin typeface="Noto Sans CJK KR"/>
            </a:endParaRPr>
          </a:p>
        </p:txBody>
      </p:sp>
      <p:sp>
        <p:nvSpPr>
          <p:cNvPr id="157" name="Shape 46"/>
          <p:cNvSpPr/>
          <p:nvPr/>
        </p:nvSpPr>
        <p:spPr>
          <a:xfrm>
            <a:off x="13144680" y="7430760"/>
            <a:ext cx="4228920" cy="18720"/>
          </a:xfrm>
          <a:prstGeom prst="rect">
            <a:avLst/>
          </a:prstGeom>
          <a:solidFill>
            <a:srgbClr val="e3e6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8" name="Text 47"/>
          <p:cNvSpPr/>
          <p:nvPr/>
        </p:nvSpPr>
        <p:spPr>
          <a:xfrm>
            <a:off x="13335120" y="6082200"/>
            <a:ext cx="3974760" cy="127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>
              <a:lnSpc>
                <a:spcPct val="113000"/>
              </a:lnSpc>
              <a:buNone/>
              <a:tabLst>
                <a:tab algn="l" pos="0"/>
              </a:tabLst>
            </a:pPr>
            <a:r>
              <a:rPr b="0" lang="ko-KR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너무 늦게 알아</a:t>
            </a:r>
            <a:r>
              <a:rPr b="0" lang="en-US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, </a:t>
            </a:r>
            <a:r>
              <a:rPr b="0" lang="ko-KR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바닥이 미끄러우면 멈추지 못한다</a:t>
            </a:r>
            <a:endParaRPr b="0" lang="en-US" sz="2400" spc="-1" strike="noStrike">
              <a:latin typeface="Noto Sans CJK KR"/>
            </a:endParaRPr>
          </a:p>
        </p:txBody>
      </p:sp>
      <p:sp>
        <p:nvSpPr>
          <p:cNvPr id="159" name="Shape 48"/>
          <p:cNvSpPr/>
          <p:nvPr/>
        </p:nvSpPr>
        <p:spPr>
          <a:xfrm>
            <a:off x="7632000" y="2838600"/>
            <a:ext cx="380520" cy="37800"/>
          </a:xfrm>
          <a:prstGeom prst="rect">
            <a:avLst/>
          </a:pr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0" name="Shape 49"/>
          <p:cNvSpPr/>
          <p:nvPr/>
        </p:nvSpPr>
        <p:spPr>
          <a:xfrm>
            <a:off x="12960000" y="2838600"/>
            <a:ext cx="380520" cy="37800"/>
          </a:xfrm>
          <a:prstGeom prst="rect">
            <a:avLst/>
          </a:pr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1" name="Shape 50"/>
          <p:cNvSpPr/>
          <p:nvPr/>
        </p:nvSpPr>
        <p:spPr>
          <a:xfrm>
            <a:off x="7632000" y="3753000"/>
            <a:ext cx="380520" cy="37800"/>
          </a:xfrm>
          <a:prstGeom prst="rect">
            <a:avLst/>
          </a:pr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2" name="Shape 51"/>
          <p:cNvSpPr/>
          <p:nvPr/>
        </p:nvSpPr>
        <p:spPr>
          <a:xfrm>
            <a:off x="12960000" y="3753000"/>
            <a:ext cx="380520" cy="37800"/>
          </a:xfrm>
          <a:prstGeom prst="rect">
            <a:avLst/>
          </a:pr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3" name="Text 52"/>
          <p:cNvSpPr/>
          <p:nvPr/>
        </p:nvSpPr>
        <p:spPr>
          <a:xfrm>
            <a:off x="914400" y="8115480"/>
            <a:ext cx="16952760" cy="106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>
              <a:lnSpc>
                <a:spcPct val="108000"/>
              </a:lnSpc>
              <a:buNone/>
              <a:tabLst>
                <a:tab algn="l" pos="0"/>
              </a:tabLst>
            </a:pPr>
            <a:r>
              <a:rPr b="0" lang="ko-KR" sz="3000" spc="-1" strike="noStrike">
                <a:solidFill>
                  <a:srgbClr val="1f2328"/>
                </a:solidFill>
                <a:latin typeface="Pretendard"/>
                <a:ea typeface="Pretendard"/>
              </a:rPr>
              <a:t>서빙로봇도 카메라를 달지만 </a:t>
            </a:r>
            <a:endParaRPr b="0" lang="en-US" sz="3000" spc="-1" strike="noStrike">
              <a:latin typeface="Noto Sans CJK KR"/>
            </a:endParaRPr>
          </a:p>
          <a:p>
            <a:pPr>
              <a:lnSpc>
                <a:spcPct val="108000"/>
              </a:lnSpc>
              <a:buNone/>
              <a:tabLst>
                <a:tab algn="l" pos="0"/>
              </a:tabLst>
            </a:pPr>
            <a:r>
              <a:rPr b="0" lang="ko-KR" sz="3000" spc="-1" strike="noStrike">
                <a:solidFill>
                  <a:srgbClr val="1f2328"/>
                </a:solidFill>
                <a:latin typeface="Pretendard"/>
                <a:ea typeface="Pretendard"/>
              </a:rPr>
              <a:t>차이는 카메라의 유무가 아니라 </a:t>
            </a:r>
            <a:r>
              <a:rPr b="1" lang="ko-KR" sz="3000" spc="-1" strike="noStrike">
                <a:solidFill>
                  <a:srgbClr val="1f2328"/>
                </a:solidFill>
                <a:latin typeface="Pretendard"/>
                <a:ea typeface="Pretendard"/>
              </a:rPr>
              <a:t>카메라 데이터를 처리하는 방식</a:t>
            </a:r>
            <a:r>
              <a:rPr b="0" lang="ko-KR" sz="3000" spc="-1" strike="noStrike">
                <a:solidFill>
                  <a:srgbClr val="1f2328"/>
                </a:solidFill>
                <a:latin typeface="Pretendard"/>
                <a:ea typeface="Pretendard"/>
              </a:rPr>
              <a:t>이다</a:t>
            </a:r>
            <a:r>
              <a:rPr b="0" lang="en-US" sz="3000" spc="-1" strike="noStrike">
                <a:solidFill>
                  <a:srgbClr val="1f2328"/>
                </a:solidFill>
                <a:latin typeface="Pretendard"/>
                <a:ea typeface="Pretendard"/>
              </a:rPr>
              <a:t>.</a:t>
            </a:r>
            <a:endParaRPr b="0" lang="en-US" sz="3000" spc="-1" strike="noStrike">
              <a:latin typeface="Noto Sans CJK KR"/>
            </a:endParaRPr>
          </a:p>
        </p:txBody>
      </p:sp>
      <p:sp>
        <p:nvSpPr>
          <p:cNvPr id="164" name="Text 53"/>
          <p:cNvSpPr/>
          <p:nvPr/>
        </p:nvSpPr>
        <p:spPr>
          <a:xfrm>
            <a:off x="16535520" y="9296280"/>
            <a:ext cx="83772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97000"/>
          </a:bodyPr>
          <a:p>
            <a:pPr algn="r">
              <a:lnSpc>
                <a:spcPct val="11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5b6470"/>
                </a:solidFill>
                <a:latin typeface="Pretendard"/>
                <a:ea typeface="Pretendard"/>
              </a:rPr>
              <a:t>3</a:t>
            </a:r>
            <a:endParaRPr b="0" lang="en-US" sz="1800" spc="-1" strike="noStrike"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Text 0"/>
          <p:cNvSpPr/>
          <p:nvPr/>
        </p:nvSpPr>
        <p:spPr>
          <a:xfrm>
            <a:off x="914400" y="685800"/>
            <a:ext cx="942948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97000"/>
          </a:bodyPr>
          <a:p>
            <a:pPr>
              <a:lnSpc>
                <a:spcPct val="110000"/>
              </a:lnSpc>
              <a:buNone/>
              <a:tabLst>
                <a:tab algn="l" pos="0"/>
              </a:tabLst>
            </a:pPr>
            <a:r>
              <a:rPr b="1" lang="en-US" sz="1800" spc="250" strike="noStrike">
                <a:solidFill>
                  <a:srgbClr val="5b6470"/>
                </a:solidFill>
                <a:latin typeface="Pretendard"/>
                <a:ea typeface="Pretendard"/>
              </a:rPr>
              <a:t>METHOD</a:t>
            </a:r>
            <a:endParaRPr b="0" lang="en-US" sz="1800" spc="-1" strike="noStrike">
              <a:latin typeface="Noto Sans CJK KR"/>
            </a:endParaRPr>
          </a:p>
        </p:txBody>
      </p:sp>
      <p:sp>
        <p:nvSpPr>
          <p:cNvPr id="166" name="Text 1"/>
          <p:cNvSpPr/>
          <p:nvPr/>
        </p:nvSpPr>
        <p:spPr>
          <a:xfrm>
            <a:off x="914400" y="1066680"/>
            <a:ext cx="16952760" cy="19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>
              <a:lnSpc>
                <a:spcPct val="109000"/>
              </a:lnSpc>
              <a:buNone/>
              <a:tabLst>
                <a:tab algn="l" pos="0"/>
              </a:tabLst>
            </a:pPr>
            <a:r>
              <a:rPr b="1" lang="ko-KR" sz="5400" spc="-109" strike="noStrike">
                <a:solidFill>
                  <a:srgbClr val="1f2328"/>
                </a:solidFill>
                <a:latin typeface="Pretendard"/>
                <a:ea typeface="Pretendard"/>
              </a:rPr>
              <a:t>앞을 보고 </a:t>
            </a:r>
            <a:r>
              <a:rPr b="1" lang="en-US" sz="5400" spc="-109" strike="noStrike">
                <a:solidFill>
                  <a:srgbClr val="1f2328"/>
                </a:solidFill>
                <a:latin typeface="Pretendard"/>
                <a:ea typeface="Pretendard"/>
              </a:rPr>
              <a:t>· </a:t>
            </a:r>
            <a:r>
              <a:rPr b="1" lang="ko-KR" sz="5400" spc="-109" strike="noStrike">
                <a:solidFill>
                  <a:srgbClr val="1f2328"/>
                </a:solidFill>
                <a:latin typeface="Pretendard"/>
                <a:ea typeface="Pretendard"/>
              </a:rPr>
              <a:t>쌓아서 판단하고 </a:t>
            </a:r>
            <a:r>
              <a:rPr b="1" lang="en-US" sz="5400" spc="-109" strike="noStrike">
                <a:solidFill>
                  <a:srgbClr val="1f2328"/>
                </a:solidFill>
                <a:latin typeface="Pretendard"/>
                <a:ea typeface="Pretendard"/>
              </a:rPr>
              <a:t>· </a:t>
            </a:r>
            <a:r>
              <a:rPr b="1" lang="ko-KR" sz="5400" spc="-109" strike="noStrike">
                <a:solidFill>
                  <a:srgbClr val="1f2328"/>
                </a:solidFill>
                <a:latin typeface="Pretendard"/>
                <a:ea typeface="Pretendard"/>
              </a:rPr>
              <a:t>로봇 기준으로 기억한다</a:t>
            </a:r>
            <a:endParaRPr b="0" lang="en-US" sz="5400" spc="-1" strike="noStrike">
              <a:latin typeface="Noto Sans CJK KR"/>
            </a:endParaRPr>
          </a:p>
        </p:txBody>
      </p:sp>
      <p:sp>
        <p:nvSpPr>
          <p:cNvPr id="167" name="Shape 2"/>
          <p:cNvSpPr/>
          <p:nvPr/>
        </p:nvSpPr>
        <p:spPr>
          <a:xfrm>
            <a:off x="914400" y="3086280"/>
            <a:ext cx="3580920" cy="3238200"/>
          </a:xfrm>
          <a:prstGeom prst="roundRect">
            <a:avLst>
              <a:gd name="adj" fmla="val 2353"/>
            </a:avLst>
          </a:prstGeom>
          <a:noFill/>
          <a:ln w="38100">
            <a:solidFill>
              <a:srgbClr val="1f232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8" name="Shape 3"/>
          <p:cNvSpPr/>
          <p:nvPr/>
        </p:nvSpPr>
        <p:spPr>
          <a:xfrm>
            <a:off x="1104840" y="3276000"/>
            <a:ext cx="418680" cy="418680"/>
          </a:xfrm>
          <a:prstGeom prst="ellipse">
            <a:avLst/>
          </a:pr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9" name="Text 4"/>
          <p:cNvSpPr/>
          <p:nvPr/>
        </p:nvSpPr>
        <p:spPr>
          <a:xfrm>
            <a:off x="1066680" y="3240000"/>
            <a:ext cx="495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98000"/>
          </a:bodyPr>
          <a:p>
            <a:pPr algn="ctr">
              <a:lnSpc>
                <a:spcPct val="151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Pretendard"/>
                <a:ea typeface="Pretendard"/>
              </a:rPr>
              <a:t>1</a:t>
            </a:r>
            <a:endParaRPr b="0" lang="en-US" sz="1800" spc="-1" strike="noStrike">
              <a:latin typeface="Noto Sans CJK KR"/>
            </a:endParaRPr>
          </a:p>
        </p:txBody>
      </p:sp>
      <p:sp>
        <p:nvSpPr>
          <p:cNvPr id="170" name="Text 5"/>
          <p:cNvSpPr/>
          <p:nvPr/>
        </p:nvSpPr>
        <p:spPr>
          <a:xfrm>
            <a:off x="1104840" y="3733920"/>
            <a:ext cx="3520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96000"/>
          </a:bodyPr>
          <a:p>
            <a:pPr>
              <a:lnSpc>
                <a:spcPct val="102000"/>
              </a:lnSpc>
              <a:buNone/>
              <a:tabLst>
                <a:tab algn="l" pos="0"/>
              </a:tabLst>
            </a:pPr>
            <a:r>
              <a:rPr b="1" lang="ko-KR" sz="2700" spc="-1" strike="noStrike">
                <a:solidFill>
                  <a:srgbClr val="1f2328"/>
                </a:solidFill>
                <a:latin typeface="Pretendard"/>
                <a:ea typeface="Pretendard"/>
              </a:rPr>
              <a:t>깊이카메라</a:t>
            </a:r>
            <a:endParaRPr b="0" lang="en-US" sz="2700" spc="-1" strike="noStrike">
              <a:latin typeface="Noto Sans CJK KR"/>
            </a:endParaRPr>
          </a:p>
        </p:txBody>
      </p:sp>
      <p:sp>
        <p:nvSpPr>
          <p:cNvPr id="171" name="Text 6"/>
          <p:cNvSpPr/>
          <p:nvPr/>
        </p:nvSpPr>
        <p:spPr>
          <a:xfrm>
            <a:off x="1104840" y="4210200"/>
            <a:ext cx="3296160" cy="156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93000"/>
          </a:bodyPr>
          <a:p>
            <a:pPr>
              <a:lnSpc>
                <a:spcPct val="105000"/>
              </a:lnSpc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0.6 m </a:t>
            </a:r>
            <a:r>
              <a:rPr b="0" lang="ko-KR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높이에서 </a:t>
            </a:r>
            <a:r>
              <a:rPr b="0" lang="en-US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45° </a:t>
            </a:r>
            <a:r>
              <a:rPr b="0" lang="ko-KR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아래를 본다</a:t>
            </a:r>
            <a:r>
              <a:rPr b="0" lang="en-US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. 0.3–3 m </a:t>
            </a:r>
            <a:r>
              <a:rPr b="0" lang="ko-KR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앞 바닥을 </a:t>
            </a:r>
            <a:r>
              <a:rPr b="0" lang="en-US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10 cm </a:t>
            </a:r>
            <a:r>
              <a:rPr b="0" lang="ko-KR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칸으로 나눠 </a:t>
            </a:r>
            <a:r>
              <a:rPr b="1" lang="ko-KR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낮음 </a:t>
            </a:r>
            <a:r>
              <a:rPr b="1" lang="en-US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/ </a:t>
            </a:r>
            <a:r>
              <a:rPr b="1" lang="ko-KR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바닥 </a:t>
            </a:r>
            <a:r>
              <a:rPr b="1" lang="en-US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/ </a:t>
            </a:r>
            <a:r>
              <a:rPr b="1" lang="ko-KR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값 없음 </a:t>
            </a:r>
            <a:r>
              <a:rPr b="0" lang="ko-KR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분류</a:t>
            </a:r>
            <a:endParaRPr b="0" lang="en-US" sz="2400" spc="-1" strike="noStrike">
              <a:latin typeface="Noto Sans CJK KR"/>
            </a:endParaRPr>
          </a:p>
        </p:txBody>
      </p:sp>
      <p:sp>
        <p:nvSpPr>
          <p:cNvPr id="172" name="Text 7"/>
          <p:cNvSpPr/>
          <p:nvPr/>
        </p:nvSpPr>
        <p:spPr>
          <a:xfrm>
            <a:off x="914400" y="6438960"/>
            <a:ext cx="368856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96000"/>
          </a:bodyPr>
          <a:p>
            <a:pPr>
              <a:lnSpc>
                <a:spcPct val="103000"/>
              </a:lnSpc>
              <a:buNone/>
              <a:tabLst>
                <a:tab algn="l" pos="0"/>
              </a:tabLst>
            </a:pPr>
            <a:r>
              <a:rPr b="1" lang="ko-KR" sz="1800" spc="-1" strike="noStrike">
                <a:solidFill>
                  <a:srgbClr val="1f2328"/>
                </a:solidFill>
                <a:latin typeface="Pretendard"/>
                <a:ea typeface="Pretendard"/>
              </a:rPr>
              <a:t>설계 이유 </a:t>
            </a:r>
            <a:r>
              <a:rPr b="0" lang="en-US" sz="1800" spc="-1" strike="noStrike">
                <a:solidFill>
                  <a:srgbClr val="5b6470"/>
                </a:solidFill>
                <a:latin typeface="Pretendard"/>
                <a:ea typeface="Pretendard"/>
              </a:rPr>
              <a:t>IR</a:t>
            </a:r>
            <a:r>
              <a:rPr b="0" lang="ko-KR" sz="1800" spc="-1" strike="noStrike">
                <a:solidFill>
                  <a:srgbClr val="5b6470"/>
                </a:solidFill>
                <a:latin typeface="Pretendard"/>
                <a:ea typeface="Pretendard"/>
              </a:rPr>
              <a:t>은 가장자리에 닿아야 안다</a:t>
            </a:r>
            <a:r>
              <a:rPr b="0" lang="en-US" sz="1800" spc="-1" strike="noStrike">
                <a:solidFill>
                  <a:srgbClr val="5b6470"/>
                </a:solidFill>
                <a:latin typeface="Pretendard"/>
                <a:ea typeface="Pretendard"/>
              </a:rPr>
              <a:t>. </a:t>
            </a:r>
            <a:r>
              <a:rPr b="0" lang="ko-KR" sz="1800" spc="-1" strike="noStrike">
                <a:solidFill>
                  <a:srgbClr val="5b6470"/>
                </a:solidFill>
                <a:latin typeface="Pretendard"/>
                <a:ea typeface="Pretendard"/>
              </a:rPr>
              <a:t>미리 알아야 경로를 바꿀 시간이 생긴다</a:t>
            </a:r>
            <a:endParaRPr b="0" lang="en-US" sz="1800" spc="-1" strike="noStrike">
              <a:latin typeface="Noto Sans CJK KR"/>
            </a:endParaRPr>
          </a:p>
        </p:txBody>
      </p:sp>
      <p:sp>
        <p:nvSpPr>
          <p:cNvPr id="173" name="Text 8"/>
          <p:cNvSpPr/>
          <p:nvPr/>
        </p:nvSpPr>
        <p:spPr>
          <a:xfrm>
            <a:off x="4457880" y="3086280"/>
            <a:ext cx="38052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rmAutofit/>
          </a:bodyPr>
          <a:p>
            <a:pPr algn="ctr">
              <a:lnSpc>
                <a:spcPct val="105000"/>
              </a:lnSpc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→</a:t>
            </a:r>
            <a:endParaRPr b="0" lang="en-US" sz="2400" spc="-1" strike="noStrike">
              <a:latin typeface="Noto Sans CJK KR"/>
            </a:endParaRPr>
          </a:p>
        </p:txBody>
      </p:sp>
      <p:sp>
        <p:nvSpPr>
          <p:cNvPr id="174" name="Shape 9"/>
          <p:cNvSpPr/>
          <p:nvPr/>
        </p:nvSpPr>
        <p:spPr>
          <a:xfrm>
            <a:off x="4800600" y="3086280"/>
            <a:ext cx="3047760" cy="3238200"/>
          </a:xfrm>
          <a:prstGeom prst="roundRect">
            <a:avLst>
              <a:gd name="adj" fmla="val 2500"/>
            </a:avLst>
          </a:prstGeom>
          <a:noFill/>
          <a:ln w="38100">
            <a:solidFill>
              <a:srgbClr val="1f232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5" name="Shape 10"/>
          <p:cNvSpPr/>
          <p:nvPr/>
        </p:nvSpPr>
        <p:spPr>
          <a:xfrm>
            <a:off x="4991040" y="3276000"/>
            <a:ext cx="418680" cy="418680"/>
          </a:xfrm>
          <a:prstGeom prst="ellipse">
            <a:avLst/>
          </a:pr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6" name="Text 11"/>
          <p:cNvSpPr/>
          <p:nvPr/>
        </p:nvSpPr>
        <p:spPr>
          <a:xfrm>
            <a:off x="4952880" y="3238560"/>
            <a:ext cx="495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98000"/>
          </a:bodyPr>
          <a:p>
            <a:pPr algn="ctr">
              <a:lnSpc>
                <a:spcPct val="151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Pretendard"/>
                <a:ea typeface="Pretendard"/>
              </a:rPr>
              <a:t>2</a:t>
            </a:r>
            <a:endParaRPr b="0" lang="en-US" sz="1800" spc="-1" strike="noStrike">
              <a:latin typeface="Noto Sans CJK KR"/>
            </a:endParaRPr>
          </a:p>
        </p:txBody>
      </p:sp>
      <p:sp>
        <p:nvSpPr>
          <p:cNvPr id="177" name="Text 12"/>
          <p:cNvSpPr/>
          <p:nvPr/>
        </p:nvSpPr>
        <p:spPr>
          <a:xfrm>
            <a:off x="4991040" y="3733920"/>
            <a:ext cx="2933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96000"/>
          </a:bodyPr>
          <a:p>
            <a:pPr>
              <a:lnSpc>
                <a:spcPct val="102000"/>
              </a:lnSpc>
              <a:buNone/>
              <a:tabLst>
                <a:tab algn="l" pos="0"/>
              </a:tabLst>
            </a:pPr>
            <a:r>
              <a:rPr b="1" lang="ko-KR" sz="2700" spc="-1" strike="noStrike">
                <a:solidFill>
                  <a:srgbClr val="1f2328"/>
                </a:solidFill>
                <a:latin typeface="Pretendard"/>
                <a:ea typeface="Pretendard"/>
              </a:rPr>
              <a:t>베이즈 필터</a:t>
            </a:r>
            <a:endParaRPr b="0" lang="en-US" sz="2700" spc="-1" strike="noStrike">
              <a:latin typeface="Noto Sans CJK KR"/>
            </a:endParaRPr>
          </a:p>
        </p:txBody>
      </p:sp>
      <p:sp>
        <p:nvSpPr>
          <p:cNvPr id="178" name="Text 13"/>
          <p:cNvSpPr/>
          <p:nvPr/>
        </p:nvSpPr>
        <p:spPr>
          <a:xfrm>
            <a:off x="4991040" y="4152960"/>
            <a:ext cx="293328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95000"/>
          </a:bodyPr>
          <a:p>
            <a:pPr>
              <a:lnSpc>
                <a:spcPct val="105000"/>
              </a:lnSpc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5b6470"/>
                </a:solidFill>
                <a:latin typeface="Pretendard"/>
                <a:ea typeface="Pretendard"/>
              </a:rPr>
              <a:t>(log-odds)</a:t>
            </a:r>
            <a:endParaRPr b="0" lang="en-US" sz="2400" spc="-1" strike="noStrike">
              <a:latin typeface="Noto Sans CJK KR"/>
            </a:endParaRPr>
          </a:p>
        </p:txBody>
      </p:sp>
      <p:sp>
        <p:nvSpPr>
          <p:cNvPr id="179" name="Text 14"/>
          <p:cNvSpPr/>
          <p:nvPr/>
        </p:nvSpPr>
        <p:spPr>
          <a:xfrm>
            <a:off x="4991040" y="4591080"/>
            <a:ext cx="2746800" cy="118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96000"/>
          </a:bodyPr>
          <a:p>
            <a:pPr>
              <a:lnSpc>
                <a:spcPct val="105000"/>
              </a:lnSpc>
              <a:buNone/>
              <a:tabLst>
                <a:tab algn="l" pos="0"/>
              </a:tabLst>
            </a:pPr>
            <a:r>
              <a:rPr b="0" lang="ko-KR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칸마다 점수를 쌓아</a:t>
            </a:r>
            <a:r>
              <a:rPr b="0" lang="en-US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, </a:t>
            </a:r>
            <a:r>
              <a:rPr b="1" lang="ko-KR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여러 장 연속 </a:t>
            </a:r>
            <a:r>
              <a:rPr b="1" lang="en-US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'</a:t>
            </a:r>
            <a:r>
              <a:rPr b="1" lang="ko-KR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낮음</a:t>
            </a:r>
            <a:r>
              <a:rPr b="1" lang="en-US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' </a:t>
            </a:r>
            <a:r>
              <a:rPr b="0" lang="ko-KR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일 때만 낭떠러지로 판정</a:t>
            </a:r>
            <a:endParaRPr b="0" lang="en-US" sz="2400" spc="-1" strike="noStrike">
              <a:latin typeface="Noto Sans CJK KR"/>
            </a:endParaRPr>
          </a:p>
        </p:txBody>
      </p:sp>
      <p:sp>
        <p:nvSpPr>
          <p:cNvPr id="180" name="Text 15"/>
          <p:cNvSpPr/>
          <p:nvPr/>
        </p:nvSpPr>
        <p:spPr>
          <a:xfrm>
            <a:off x="4800600" y="6438960"/>
            <a:ext cx="313920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99000"/>
          </a:bodyPr>
          <a:p>
            <a:pPr>
              <a:lnSpc>
                <a:spcPct val="103000"/>
              </a:lnSpc>
              <a:buNone/>
              <a:tabLst>
                <a:tab algn="l" pos="0"/>
              </a:tabLst>
            </a:pPr>
            <a:r>
              <a:rPr b="1" lang="ko-KR" sz="1800" spc="-1" strike="noStrike">
                <a:solidFill>
                  <a:srgbClr val="1f2328"/>
                </a:solidFill>
                <a:latin typeface="Pretendard"/>
                <a:ea typeface="Pretendard"/>
              </a:rPr>
              <a:t>설계 이유 </a:t>
            </a:r>
            <a:r>
              <a:rPr b="0" lang="ko-KR" sz="1800" spc="-1" strike="noStrike">
                <a:solidFill>
                  <a:srgbClr val="5b6470"/>
                </a:solidFill>
                <a:latin typeface="Pretendard"/>
                <a:ea typeface="Pretendard"/>
              </a:rPr>
              <a:t>한 장만 보면 햇빛이나 잡음을 낭떠러지로 오인한다</a:t>
            </a:r>
            <a:endParaRPr b="0" lang="en-US" sz="1800" spc="-1" strike="noStrike">
              <a:latin typeface="Noto Sans CJK KR"/>
            </a:endParaRPr>
          </a:p>
        </p:txBody>
      </p:sp>
      <p:sp>
        <p:nvSpPr>
          <p:cNvPr id="181" name="Text 16"/>
          <p:cNvSpPr/>
          <p:nvPr/>
        </p:nvSpPr>
        <p:spPr>
          <a:xfrm>
            <a:off x="7810560" y="3086280"/>
            <a:ext cx="38052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rmAutofit/>
          </a:bodyPr>
          <a:p>
            <a:pPr algn="ctr">
              <a:lnSpc>
                <a:spcPct val="105000"/>
              </a:lnSpc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→</a:t>
            </a:r>
            <a:endParaRPr b="0" lang="en-US" sz="2400" spc="-1" strike="noStrike">
              <a:latin typeface="Noto Sans CJK KR"/>
            </a:endParaRPr>
          </a:p>
        </p:txBody>
      </p:sp>
      <p:sp>
        <p:nvSpPr>
          <p:cNvPr id="182" name="Shape 17"/>
          <p:cNvSpPr/>
          <p:nvPr/>
        </p:nvSpPr>
        <p:spPr>
          <a:xfrm>
            <a:off x="8153280" y="3086280"/>
            <a:ext cx="3428640" cy="3238200"/>
          </a:xfrm>
          <a:prstGeom prst="roundRect">
            <a:avLst>
              <a:gd name="adj" fmla="val 2353"/>
            </a:avLst>
          </a:prstGeom>
          <a:noFill/>
          <a:ln w="38100">
            <a:solidFill>
              <a:srgbClr val="1f232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3" name="Shape 18"/>
          <p:cNvSpPr/>
          <p:nvPr/>
        </p:nvSpPr>
        <p:spPr>
          <a:xfrm>
            <a:off x="8344080" y="3276000"/>
            <a:ext cx="418680" cy="418680"/>
          </a:xfrm>
          <a:prstGeom prst="ellipse">
            <a:avLst/>
          </a:pr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4" name="Text 19"/>
          <p:cNvSpPr/>
          <p:nvPr/>
        </p:nvSpPr>
        <p:spPr>
          <a:xfrm>
            <a:off x="8305920" y="3238560"/>
            <a:ext cx="495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98000"/>
          </a:bodyPr>
          <a:p>
            <a:pPr algn="ctr">
              <a:lnSpc>
                <a:spcPct val="151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Pretendard"/>
                <a:ea typeface="Pretendard"/>
              </a:rPr>
              <a:t>3</a:t>
            </a:r>
            <a:endParaRPr b="0" lang="en-US" sz="1800" spc="-1" strike="noStrike">
              <a:latin typeface="Noto Sans CJK KR"/>
            </a:endParaRPr>
          </a:p>
        </p:txBody>
      </p:sp>
      <p:sp>
        <p:nvSpPr>
          <p:cNvPr id="185" name="Text 20"/>
          <p:cNvSpPr/>
          <p:nvPr/>
        </p:nvSpPr>
        <p:spPr>
          <a:xfrm>
            <a:off x="8344080" y="3733920"/>
            <a:ext cx="3352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96000"/>
          </a:bodyPr>
          <a:p>
            <a:pPr>
              <a:lnSpc>
                <a:spcPct val="102000"/>
              </a:lnSpc>
              <a:buNone/>
              <a:tabLst>
                <a:tab algn="l" pos="0"/>
              </a:tabLst>
            </a:pPr>
            <a:r>
              <a:rPr b="1" lang="en-US" sz="2700" spc="-1" strike="noStrike">
                <a:solidFill>
                  <a:srgbClr val="1f2328"/>
                </a:solidFill>
                <a:latin typeface="Pretendard"/>
                <a:ea typeface="Pretendard"/>
              </a:rPr>
              <a:t>odom </a:t>
            </a:r>
            <a:r>
              <a:rPr b="1" lang="ko-KR" sz="2700" spc="-1" strike="noStrike">
                <a:solidFill>
                  <a:srgbClr val="1f2328"/>
                </a:solidFill>
                <a:latin typeface="Pretendard"/>
                <a:ea typeface="Pretendard"/>
              </a:rPr>
              <a:t>기억</a:t>
            </a:r>
            <a:endParaRPr b="0" lang="en-US" sz="2700" spc="-1" strike="noStrike">
              <a:latin typeface="Noto Sans CJK KR"/>
            </a:endParaRPr>
          </a:p>
        </p:txBody>
      </p:sp>
      <p:sp>
        <p:nvSpPr>
          <p:cNvPr id="186" name="Text 21"/>
          <p:cNvSpPr/>
          <p:nvPr/>
        </p:nvSpPr>
        <p:spPr>
          <a:xfrm>
            <a:off x="8344080" y="4210200"/>
            <a:ext cx="3139200" cy="79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97000"/>
          </a:bodyPr>
          <a:p>
            <a:pPr>
              <a:lnSpc>
                <a:spcPct val="105000"/>
              </a:lnSpc>
              <a:buNone/>
              <a:tabLst>
                <a:tab algn="l" pos="0"/>
              </a:tabLst>
            </a:pPr>
            <a:r>
              <a:rPr b="0" lang="ko-KR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찾은 낭떠러지 위치를 바퀴 기준 좌표에 저장</a:t>
            </a:r>
            <a:endParaRPr b="0" lang="en-US" sz="2400" spc="-1" strike="noStrike">
              <a:latin typeface="Noto Sans CJK KR"/>
            </a:endParaRPr>
          </a:p>
        </p:txBody>
      </p:sp>
      <p:sp>
        <p:nvSpPr>
          <p:cNvPr id="187" name="Text 22"/>
          <p:cNvSpPr/>
          <p:nvPr/>
        </p:nvSpPr>
        <p:spPr>
          <a:xfrm>
            <a:off x="8153280" y="6438960"/>
            <a:ext cx="3531600" cy="118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93000"/>
          </a:bodyPr>
          <a:p>
            <a:pPr>
              <a:lnSpc>
                <a:spcPct val="103000"/>
              </a:lnSpc>
              <a:buNone/>
              <a:tabLst>
                <a:tab algn="l" pos="0"/>
              </a:tabLst>
            </a:pPr>
            <a:r>
              <a:rPr b="1" lang="ko-KR" sz="1800" spc="-1" strike="noStrike">
                <a:solidFill>
                  <a:srgbClr val="1f2328"/>
                </a:solidFill>
                <a:latin typeface="Pretendard"/>
                <a:ea typeface="Pretendard"/>
              </a:rPr>
              <a:t>설계 이유 </a:t>
            </a:r>
            <a:r>
              <a:rPr b="0" lang="ko-KR" sz="1800" spc="-1" strike="noStrike">
                <a:solidFill>
                  <a:srgbClr val="5b6470"/>
                </a:solidFill>
                <a:latin typeface="Pretendard"/>
                <a:ea typeface="Pretendard"/>
              </a:rPr>
              <a:t>카메라는 앞만 본다 → 지나친 낭떠러지를 기억해야 돌거나 물러날 수 있다</a:t>
            </a:r>
            <a:r>
              <a:rPr b="0" lang="en-US" sz="1800" spc="-1" strike="noStrike">
                <a:solidFill>
                  <a:srgbClr val="5b6470"/>
                </a:solidFill>
                <a:latin typeface="Pretendard"/>
                <a:ea typeface="Pretendard"/>
              </a:rPr>
              <a:t>. map </a:t>
            </a:r>
            <a:r>
              <a:rPr b="0" lang="ko-KR" sz="1800" spc="-1" strike="noStrike">
                <a:solidFill>
                  <a:srgbClr val="5b6470"/>
                </a:solidFill>
                <a:latin typeface="Pretendard"/>
                <a:ea typeface="Pretendard"/>
              </a:rPr>
              <a:t>좌표는 위치추정이 보정될 때 튄다 </a:t>
            </a:r>
            <a:r>
              <a:rPr b="0" lang="en-US" sz="1800" spc="-1" strike="noStrike">
                <a:solidFill>
                  <a:srgbClr val="5b6470"/>
                </a:solidFill>
                <a:latin typeface="Pretendard"/>
                <a:ea typeface="Pretendard"/>
              </a:rPr>
              <a:t>(REP-105)</a:t>
            </a:r>
            <a:endParaRPr b="0" lang="en-US" sz="1800" spc="-1" strike="noStrike">
              <a:latin typeface="Noto Sans CJK KR"/>
            </a:endParaRPr>
          </a:p>
        </p:txBody>
      </p:sp>
      <p:sp>
        <p:nvSpPr>
          <p:cNvPr id="188" name="Text 23"/>
          <p:cNvSpPr/>
          <p:nvPr/>
        </p:nvSpPr>
        <p:spPr>
          <a:xfrm>
            <a:off x="11544480" y="3086280"/>
            <a:ext cx="38052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rmAutofit/>
          </a:bodyPr>
          <a:p>
            <a:pPr algn="ctr">
              <a:lnSpc>
                <a:spcPct val="105000"/>
              </a:lnSpc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→</a:t>
            </a:r>
            <a:endParaRPr b="0" lang="en-US" sz="2400" spc="-1" strike="noStrike">
              <a:latin typeface="Noto Sans CJK KR"/>
            </a:endParaRPr>
          </a:p>
        </p:txBody>
      </p:sp>
      <p:sp>
        <p:nvSpPr>
          <p:cNvPr id="189" name="Shape 24"/>
          <p:cNvSpPr/>
          <p:nvPr/>
        </p:nvSpPr>
        <p:spPr>
          <a:xfrm>
            <a:off x="11887200" y="3086280"/>
            <a:ext cx="2971440" cy="3238200"/>
          </a:xfrm>
          <a:prstGeom prst="roundRect">
            <a:avLst>
              <a:gd name="adj" fmla="val 2564"/>
            </a:avLst>
          </a:prstGeom>
          <a:noFill/>
          <a:ln w="38100">
            <a:solidFill>
              <a:srgbClr val="1f232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0" name="Shape 25"/>
          <p:cNvSpPr/>
          <p:nvPr/>
        </p:nvSpPr>
        <p:spPr>
          <a:xfrm>
            <a:off x="12077640" y="3276000"/>
            <a:ext cx="418680" cy="418680"/>
          </a:xfrm>
          <a:prstGeom prst="ellipse">
            <a:avLst/>
          </a:pr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1" name="Text 26"/>
          <p:cNvSpPr/>
          <p:nvPr/>
        </p:nvSpPr>
        <p:spPr>
          <a:xfrm>
            <a:off x="12039480" y="3238560"/>
            <a:ext cx="495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98000"/>
          </a:bodyPr>
          <a:p>
            <a:pPr algn="ctr">
              <a:lnSpc>
                <a:spcPct val="151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Pretendard"/>
                <a:ea typeface="Pretendard"/>
              </a:rPr>
              <a:t>4</a:t>
            </a:r>
            <a:endParaRPr b="0" lang="en-US" sz="1800" spc="-1" strike="noStrike">
              <a:latin typeface="Noto Sans CJK KR"/>
            </a:endParaRPr>
          </a:p>
        </p:txBody>
      </p:sp>
      <p:sp>
        <p:nvSpPr>
          <p:cNvPr id="192" name="Text 27"/>
          <p:cNvSpPr/>
          <p:nvPr/>
        </p:nvSpPr>
        <p:spPr>
          <a:xfrm>
            <a:off x="12077640" y="3733920"/>
            <a:ext cx="2849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96000"/>
          </a:bodyPr>
          <a:p>
            <a:pPr>
              <a:lnSpc>
                <a:spcPct val="102000"/>
              </a:lnSpc>
              <a:buNone/>
              <a:tabLst>
                <a:tab algn="l" pos="0"/>
              </a:tabLst>
            </a:pPr>
            <a:r>
              <a:rPr b="1" lang="en-US" sz="2700" spc="-1" strike="noStrike">
                <a:solidFill>
                  <a:srgbClr val="1f2328"/>
                </a:solidFill>
                <a:latin typeface="Pretendard"/>
                <a:ea typeface="Pretendard"/>
              </a:rPr>
              <a:t>Nav2 </a:t>
            </a:r>
            <a:r>
              <a:rPr b="1" lang="ko-KR" sz="2700" spc="-1" strike="noStrike">
                <a:solidFill>
                  <a:srgbClr val="1f2328"/>
                </a:solidFill>
                <a:latin typeface="Pretendard"/>
                <a:ea typeface="Pretendard"/>
              </a:rPr>
              <a:t>금지구역</a:t>
            </a:r>
            <a:endParaRPr b="0" lang="en-US" sz="2700" spc="-1" strike="noStrike">
              <a:latin typeface="Noto Sans CJK KR"/>
            </a:endParaRPr>
          </a:p>
        </p:txBody>
      </p:sp>
      <p:sp>
        <p:nvSpPr>
          <p:cNvPr id="193" name="Text 28"/>
          <p:cNvSpPr/>
          <p:nvPr/>
        </p:nvSpPr>
        <p:spPr>
          <a:xfrm>
            <a:off x="12077640" y="4210200"/>
            <a:ext cx="2668320" cy="19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99000"/>
          </a:bodyPr>
          <a:p>
            <a:pPr>
              <a:lnSpc>
                <a:spcPct val="105000"/>
              </a:lnSpc>
              <a:buNone/>
              <a:tabLst>
                <a:tab algn="l" pos="0"/>
              </a:tabLst>
            </a:pPr>
            <a:r>
              <a:rPr b="0" lang="ko-KR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가장자리 </a:t>
            </a:r>
            <a:r>
              <a:rPr b="0" lang="en-US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0.3 m </a:t>
            </a:r>
            <a:r>
              <a:rPr b="0" lang="ko-KR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안은 진입 금지</a:t>
            </a:r>
            <a:r>
              <a:rPr b="0" lang="en-US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, 0.7 m</a:t>
            </a:r>
            <a:r>
              <a:rPr b="0" lang="ko-KR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까지는 가까울수록 비용이 높다</a:t>
            </a:r>
            <a:endParaRPr b="0" lang="en-US" sz="2400" spc="-1" strike="noStrike">
              <a:latin typeface="Noto Sans CJK KR"/>
            </a:endParaRPr>
          </a:p>
        </p:txBody>
      </p:sp>
      <p:sp>
        <p:nvSpPr>
          <p:cNvPr id="194" name="Text 29"/>
          <p:cNvSpPr/>
          <p:nvPr/>
        </p:nvSpPr>
        <p:spPr>
          <a:xfrm>
            <a:off x="11887200" y="6438960"/>
            <a:ext cx="306072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99000"/>
          </a:bodyPr>
          <a:p>
            <a:pPr>
              <a:lnSpc>
                <a:spcPct val="103000"/>
              </a:lnSpc>
              <a:buNone/>
              <a:tabLst>
                <a:tab algn="l" pos="0"/>
              </a:tabLst>
            </a:pPr>
            <a:r>
              <a:rPr b="1" lang="ko-KR" sz="1800" spc="-1" strike="noStrike">
                <a:solidFill>
                  <a:srgbClr val="1f2328"/>
                </a:solidFill>
                <a:latin typeface="Pretendard"/>
                <a:ea typeface="Pretendard"/>
              </a:rPr>
              <a:t>설계 이유 </a:t>
            </a:r>
            <a:r>
              <a:rPr b="0" lang="ko-KR" sz="1800" spc="-1" strike="noStrike">
                <a:solidFill>
                  <a:srgbClr val="5b6470"/>
                </a:solidFill>
                <a:latin typeface="Pretendard"/>
                <a:ea typeface="Pretendard"/>
              </a:rPr>
              <a:t>경로 계획 단계에서 미리 돌아가게 한다</a:t>
            </a:r>
            <a:endParaRPr b="0" lang="en-US" sz="1800" spc="-1" strike="noStrike">
              <a:latin typeface="Noto Sans CJK KR"/>
            </a:endParaRPr>
          </a:p>
        </p:txBody>
      </p:sp>
      <p:sp>
        <p:nvSpPr>
          <p:cNvPr id="195" name="Text 30"/>
          <p:cNvSpPr/>
          <p:nvPr/>
        </p:nvSpPr>
        <p:spPr>
          <a:xfrm>
            <a:off x="14820840" y="3086280"/>
            <a:ext cx="38052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rmAutofit/>
          </a:bodyPr>
          <a:p>
            <a:pPr algn="ctr">
              <a:lnSpc>
                <a:spcPct val="105000"/>
              </a:lnSpc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→</a:t>
            </a:r>
            <a:endParaRPr b="0" lang="en-US" sz="2400" spc="-1" strike="noStrike">
              <a:latin typeface="Noto Sans CJK KR"/>
            </a:endParaRPr>
          </a:p>
        </p:txBody>
      </p:sp>
      <p:sp>
        <p:nvSpPr>
          <p:cNvPr id="196" name="Shape 31"/>
          <p:cNvSpPr/>
          <p:nvPr/>
        </p:nvSpPr>
        <p:spPr>
          <a:xfrm>
            <a:off x="15163920" y="3086280"/>
            <a:ext cx="2209320" cy="3238200"/>
          </a:xfrm>
          <a:prstGeom prst="roundRect">
            <a:avLst>
              <a:gd name="adj" fmla="val 3448"/>
            </a:avLst>
          </a:prstGeom>
          <a:noFill/>
          <a:ln w="38100">
            <a:solidFill>
              <a:srgbClr val="1f232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7" name="Shape 32"/>
          <p:cNvSpPr/>
          <p:nvPr/>
        </p:nvSpPr>
        <p:spPr>
          <a:xfrm>
            <a:off x="15354360" y="3276000"/>
            <a:ext cx="418680" cy="418680"/>
          </a:xfrm>
          <a:prstGeom prst="ellipse">
            <a:avLst/>
          </a:pr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8" name="Text 33"/>
          <p:cNvSpPr/>
          <p:nvPr/>
        </p:nvSpPr>
        <p:spPr>
          <a:xfrm>
            <a:off x="15316200" y="3240000"/>
            <a:ext cx="495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98000"/>
          </a:bodyPr>
          <a:p>
            <a:pPr algn="ctr">
              <a:lnSpc>
                <a:spcPct val="151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Pretendard"/>
                <a:ea typeface="Pretendard"/>
              </a:rPr>
              <a:t>5</a:t>
            </a:r>
            <a:endParaRPr b="0" lang="en-US" sz="1800" spc="-1" strike="noStrike">
              <a:latin typeface="Noto Sans CJK KR"/>
            </a:endParaRPr>
          </a:p>
        </p:txBody>
      </p:sp>
      <p:sp>
        <p:nvSpPr>
          <p:cNvPr id="199" name="Text 34"/>
          <p:cNvSpPr/>
          <p:nvPr/>
        </p:nvSpPr>
        <p:spPr>
          <a:xfrm>
            <a:off x="15354360" y="3733920"/>
            <a:ext cx="2011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96000"/>
          </a:bodyPr>
          <a:p>
            <a:pPr>
              <a:lnSpc>
                <a:spcPct val="102000"/>
              </a:lnSpc>
              <a:buNone/>
              <a:tabLst>
                <a:tab algn="l" pos="0"/>
              </a:tabLst>
            </a:pPr>
            <a:r>
              <a:rPr b="1" lang="ko-KR" sz="2700" spc="-1" strike="noStrike">
                <a:solidFill>
                  <a:srgbClr val="1f2328"/>
                </a:solidFill>
                <a:latin typeface="Pretendard"/>
                <a:ea typeface="Pretendard"/>
              </a:rPr>
              <a:t>하향 </a:t>
            </a:r>
            <a:r>
              <a:rPr b="1" lang="en-US" sz="2700" spc="-1" strike="noStrike">
                <a:solidFill>
                  <a:srgbClr val="1f2328"/>
                </a:solidFill>
                <a:latin typeface="Pretendard"/>
                <a:ea typeface="Pretendard"/>
              </a:rPr>
              <a:t>IR</a:t>
            </a:r>
            <a:endParaRPr b="0" lang="en-US" sz="2700" spc="-1" strike="noStrike">
              <a:latin typeface="Noto Sans CJK KR"/>
            </a:endParaRPr>
          </a:p>
        </p:txBody>
      </p:sp>
      <p:sp>
        <p:nvSpPr>
          <p:cNvPr id="200" name="Text 35"/>
          <p:cNvSpPr/>
          <p:nvPr/>
        </p:nvSpPr>
        <p:spPr>
          <a:xfrm>
            <a:off x="15354360" y="4152960"/>
            <a:ext cx="201132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95000"/>
          </a:bodyPr>
          <a:p>
            <a:pPr>
              <a:lnSpc>
                <a:spcPct val="105000"/>
              </a:lnSpc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5b6470"/>
                </a:solidFill>
                <a:latin typeface="Pretendard"/>
                <a:ea typeface="Pretendard"/>
              </a:rPr>
              <a:t>(</a:t>
            </a:r>
            <a:r>
              <a:rPr b="0" lang="ko-KR" sz="2400" spc="-1" strike="noStrike">
                <a:solidFill>
                  <a:srgbClr val="5b6470"/>
                </a:solidFill>
                <a:latin typeface="Pretendard"/>
                <a:ea typeface="Pretendard"/>
              </a:rPr>
              <a:t>마지막 층</a:t>
            </a:r>
            <a:r>
              <a:rPr b="0" lang="en-US" sz="2400" spc="-1" strike="noStrike">
                <a:solidFill>
                  <a:srgbClr val="5b6470"/>
                </a:solidFill>
                <a:latin typeface="Pretendard"/>
                <a:ea typeface="Pretendard"/>
              </a:rPr>
              <a:t>)</a:t>
            </a:r>
            <a:endParaRPr b="0" lang="en-US" sz="2400" spc="-1" strike="noStrike">
              <a:latin typeface="Noto Sans CJK KR"/>
            </a:endParaRPr>
          </a:p>
        </p:txBody>
      </p:sp>
      <p:sp>
        <p:nvSpPr>
          <p:cNvPr id="201" name="Text 36"/>
          <p:cNvSpPr/>
          <p:nvPr/>
        </p:nvSpPr>
        <p:spPr>
          <a:xfrm>
            <a:off x="15354360" y="4591080"/>
            <a:ext cx="1904760" cy="79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97000"/>
          </a:bodyPr>
          <a:p>
            <a:pPr>
              <a:lnSpc>
                <a:spcPct val="105000"/>
              </a:lnSpc>
              <a:buNone/>
              <a:tabLst>
                <a:tab algn="l" pos="0"/>
              </a:tabLst>
            </a:pPr>
            <a:r>
              <a:rPr b="0" lang="ko-KR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발밑이 비면 급정지</a:t>
            </a:r>
            <a:endParaRPr b="0" lang="en-US" sz="2400" spc="-1" strike="noStrike">
              <a:latin typeface="Noto Sans CJK KR"/>
            </a:endParaRPr>
          </a:p>
        </p:txBody>
      </p:sp>
      <p:sp>
        <p:nvSpPr>
          <p:cNvPr id="202" name="Text 37"/>
          <p:cNvSpPr/>
          <p:nvPr/>
        </p:nvSpPr>
        <p:spPr>
          <a:xfrm>
            <a:off x="15163920" y="6438960"/>
            <a:ext cx="2285640" cy="89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99000"/>
          </a:bodyPr>
          <a:p>
            <a:pPr>
              <a:lnSpc>
                <a:spcPct val="103000"/>
              </a:lnSpc>
              <a:buNone/>
              <a:tabLst>
                <a:tab algn="l" pos="0"/>
              </a:tabLst>
            </a:pPr>
            <a:r>
              <a:rPr b="1" lang="ko-KR" sz="1800" spc="-1" strike="noStrike">
                <a:solidFill>
                  <a:srgbClr val="1f2328"/>
                </a:solidFill>
                <a:latin typeface="Pretendard"/>
                <a:ea typeface="Pretendard"/>
              </a:rPr>
              <a:t>설계 이유 </a:t>
            </a:r>
            <a:r>
              <a:rPr b="0" lang="ko-KR" sz="1800" spc="-1" strike="noStrike">
                <a:solidFill>
                  <a:srgbClr val="5b6470"/>
                </a:solidFill>
                <a:latin typeface="Pretendard"/>
                <a:ea typeface="Pretendard"/>
              </a:rPr>
              <a:t>반사가 없는 바닥은 카메라가 깊이를 재지 못한다</a:t>
            </a:r>
            <a:endParaRPr b="0" lang="en-US" sz="1800" spc="-1" strike="noStrike">
              <a:latin typeface="Noto Sans CJK KR"/>
            </a:endParaRPr>
          </a:p>
        </p:txBody>
      </p:sp>
      <p:sp>
        <p:nvSpPr>
          <p:cNvPr id="203" name="Shape 38"/>
          <p:cNvSpPr/>
          <p:nvPr/>
        </p:nvSpPr>
        <p:spPr>
          <a:xfrm>
            <a:off x="914400" y="8058240"/>
            <a:ext cx="5333760" cy="456840"/>
          </a:xfrm>
          <a:prstGeom prst="roundRect">
            <a:avLst>
              <a:gd name="adj" fmla="val 16667"/>
            </a:avLst>
          </a:prstGeom>
          <a:solidFill>
            <a:srgbClr val="eaf4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4" name="Shape 39"/>
          <p:cNvSpPr/>
          <p:nvPr/>
        </p:nvSpPr>
        <p:spPr>
          <a:xfrm>
            <a:off x="1104840" y="8191440"/>
            <a:ext cx="190080" cy="190080"/>
          </a:xfrm>
          <a:prstGeom prst="roundRect">
            <a:avLst>
              <a:gd name="adj" fmla="val 20000"/>
            </a:avLst>
          </a:prstGeom>
          <a:solidFill>
            <a:srgbClr val="0083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5" name="Text 40"/>
          <p:cNvSpPr/>
          <p:nvPr/>
        </p:nvSpPr>
        <p:spPr>
          <a:xfrm>
            <a:off x="1428840" y="8096400"/>
            <a:ext cx="481932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95000"/>
          </a:bodyPr>
          <a:p>
            <a:pPr>
              <a:lnSpc>
                <a:spcPct val="105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P3i (</a:t>
            </a:r>
            <a:r>
              <a:rPr b="1" lang="ko-KR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제안 방식</a:t>
            </a:r>
            <a:r>
              <a:rPr b="1" lang="en-US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) </a:t>
            </a:r>
            <a:r>
              <a:rPr b="0" lang="en-US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= ①~⑤ </a:t>
            </a:r>
            <a:r>
              <a:rPr b="0" lang="ko-KR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모두 사용</a:t>
            </a:r>
            <a:endParaRPr b="0" lang="en-US" sz="2400" spc="-1" strike="noStrike">
              <a:latin typeface="Noto Sans CJK KR"/>
            </a:endParaRPr>
          </a:p>
        </p:txBody>
      </p:sp>
      <p:sp>
        <p:nvSpPr>
          <p:cNvPr id="206" name="Text 52"/>
          <p:cNvSpPr/>
          <p:nvPr/>
        </p:nvSpPr>
        <p:spPr>
          <a:xfrm>
            <a:off x="16535520" y="9296280"/>
            <a:ext cx="83772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97000"/>
          </a:bodyPr>
          <a:p>
            <a:pPr algn="r">
              <a:lnSpc>
                <a:spcPct val="11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5b6470"/>
                </a:solidFill>
                <a:latin typeface="Pretendard"/>
                <a:ea typeface="Pretendard"/>
              </a:rPr>
              <a:t>4</a:t>
            </a:r>
            <a:endParaRPr b="0" lang="en-US" sz="1800" spc="-1" strike="noStrike"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Text 0"/>
          <p:cNvSpPr/>
          <p:nvPr/>
        </p:nvSpPr>
        <p:spPr>
          <a:xfrm>
            <a:off x="914400" y="685800"/>
            <a:ext cx="942948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97000"/>
          </a:bodyPr>
          <a:p>
            <a:pPr>
              <a:lnSpc>
                <a:spcPct val="110000"/>
              </a:lnSpc>
              <a:buNone/>
              <a:tabLst>
                <a:tab algn="l" pos="0"/>
              </a:tabLst>
            </a:pPr>
            <a:r>
              <a:rPr b="1" lang="en-US" sz="1800" spc="250" strike="noStrike">
                <a:solidFill>
                  <a:srgbClr val="5b6470"/>
                </a:solidFill>
                <a:latin typeface="Pretendard"/>
                <a:ea typeface="Pretendard"/>
              </a:rPr>
              <a:t>VALIDATION</a:t>
            </a:r>
            <a:endParaRPr b="0" lang="en-US" sz="1800" spc="-1" strike="noStrike">
              <a:latin typeface="Noto Sans CJK KR"/>
            </a:endParaRPr>
          </a:p>
        </p:txBody>
      </p:sp>
      <p:sp>
        <p:nvSpPr>
          <p:cNvPr id="208" name="Text 1"/>
          <p:cNvSpPr/>
          <p:nvPr/>
        </p:nvSpPr>
        <p:spPr>
          <a:xfrm>
            <a:off x="914400" y="1066680"/>
            <a:ext cx="18104760" cy="102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>
              <a:lnSpc>
                <a:spcPct val="109000"/>
              </a:lnSpc>
              <a:buNone/>
              <a:tabLst>
                <a:tab algn="l" pos="0"/>
              </a:tabLst>
            </a:pPr>
            <a:r>
              <a:rPr b="1" lang="ko-KR" sz="5400" spc="-109" strike="noStrike">
                <a:solidFill>
                  <a:srgbClr val="1f2328"/>
                </a:solidFill>
                <a:latin typeface="Pretendard"/>
                <a:ea typeface="Pretendard"/>
              </a:rPr>
              <a:t>환경을 구축했고</a:t>
            </a:r>
            <a:r>
              <a:rPr b="1" lang="en-US" sz="5400" spc="-109" strike="noStrike">
                <a:solidFill>
                  <a:srgbClr val="1f2328"/>
                </a:solidFill>
                <a:latin typeface="Pretendard"/>
                <a:ea typeface="Pretendard"/>
              </a:rPr>
              <a:t>, </a:t>
            </a:r>
            <a:r>
              <a:rPr b="1" lang="ko-KR" sz="5400" spc="-109" strike="noStrike">
                <a:solidFill>
                  <a:srgbClr val="1f2328"/>
                </a:solidFill>
                <a:latin typeface="Pretendard"/>
                <a:ea typeface="Pretendard"/>
              </a:rPr>
              <a:t>판정 기준은 실험 전에 고정했다</a:t>
            </a:r>
            <a:endParaRPr b="0" lang="en-US" sz="5400" spc="-1" strike="noStrike">
              <a:latin typeface="Noto Sans CJK KR"/>
            </a:endParaRPr>
          </a:p>
        </p:txBody>
      </p:sp>
      <p:sp>
        <p:nvSpPr>
          <p:cNvPr id="209" name="Shape 2"/>
          <p:cNvSpPr/>
          <p:nvPr/>
        </p:nvSpPr>
        <p:spPr>
          <a:xfrm>
            <a:off x="914400" y="2400480"/>
            <a:ext cx="6324120" cy="5276520"/>
          </a:xfrm>
          <a:prstGeom prst="rect">
            <a:avLst/>
          </a:prstGeom>
          <a:noFill/>
          <a:ln w="19050">
            <a:solidFill>
              <a:srgbClr val="e3e6ea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210" name="Image 0" descr="preencoded.png"/>
          <p:cNvPicPr/>
          <p:nvPr/>
        </p:nvPicPr>
        <p:blipFill>
          <a:blip r:embed="rId1"/>
          <a:stretch/>
        </p:blipFill>
        <p:spPr>
          <a:xfrm>
            <a:off x="914400" y="2400480"/>
            <a:ext cx="6324120" cy="5276520"/>
          </a:xfrm>
          <a:prstGeom prst="rect">
            <a:avLst/>
          </a:prstGeom>
          <a:ln w="0">
            <a:noFill/>
          </a:ln>
        </p:spPr>
      </p:pic>
      <p:sp>
        <p:nvSpPr>
          <p:cNvPr id="211" name="Shape 3"/>
          <p:cNvSpPr/>
          <p:nvPr/>
        </p:nvSpPr>
        <p:spPr>
          <a:xfrm>
            <a:off x="5648400" y="3076560"/>
            <a:ext cx="437760" cy="18720"/>
          </a:xfrm>
          <a:prstGeom prst="rect">
            <a:avLst/>
          </a:pr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2" name="Shape 4"/>
          <p:cNvSpPr/>
          <p:nvPr/>
        </p:nvSpPr>
        <p:spPr>
          <a:xfrm>
            <a:off x="6086520" y="2914560"/>
            <a:ext cx="821520" cy="34272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9050">
            <a:solidFill>
              <a:srgbClr val="1f232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3" name="Text 5"/>
          <p:cNvSpPr/>
          <p:nvPr/>
        </p:nvSpPr>
        <p:spPr>
          <a:xfrm>
            <a:off x="6159600" y="2933640"/>
            <a:ext cx="67536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5560" rIns="25560" tIns="25560" bIns="25560" anchor="t">
            <a:normAutofit fontScale="97000"/>
          </a:bodyPr>
          <a:p>
            <a:pPr algn="ctr">
              <a:lnSpc>
                <a:spcPct val="110000"/>
              </a:lnSpc>
              <a:buNone/>
              <a:tabLst>
                <a:tab algn="l" pos="0"/>
              </a:tabLst>
            </a:pPr>
            <a:r>
              <a:rPr b="1" lang="ko-KR" sz="1800" spc="-1" strike="noStrike">
                <a:solidFill>
                  <a:srgbClr val="1f2328"/>
                </a:solidFill>
                <a:latin typeface="Pretendard"/>
                <a:ea typeface="Pretendard"/>
              </a:rPr>
              <a:t>계단 </a:t>
            </a:r>
            <a:r>
              <a:rPr b="1" lang="en-US" sz="1800" spc="-1" strike="noStrike">
                <a:solidFill>
                  <a:srgbClr val="1f2328"/>
                </a:solidFill>
                <a:latin typeface="Pretendard"/>
                <a:ea typeface="Pretendard"/>
              </a:rPr>
              <a:t>B</a:t>
            </a:r>
            <a:endParaRPr b="0" lang="en-US" sz="1800" spc="-1" strike="noStrike">
              <a:latin typeface="Noto Sans CJK KR"/>
            </a:endParaRPr>
          </a:p>
        </p:txBody>
      </p:sp>
      <p:sp>
        <p:nvSpPr>
          <p:cNvPr id="214" name="Shape 6"/>
          <p:cNvSpPr/>
          <p:nvPr/>
        </p:nvSpPr>
        <p:spPr>
          <a:xfrm>
            <a:off x="5562720" y="5076720"/>
            <a:ext cx="523440" cy="18720"/>
          </a:xfrm>
          <a:prstGeom prst="rect">
            <a:avLst/>
          </a:pr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5" name="Shape 7"/>
          <p:cNvSpPr/>
          <p:nvPr/>
        </p:nvSpPr>
        <p:spPr>
          <a:xfrm>
            <a:off x="6086520" y="4915080"/>
            <a:ext cx="623520" cy="34272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9050">
            <a:solidFill>
              <a:srgbClr val="1f232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6" name="Text 8"/>
          <p:cNvSpPr/>
          <p:nvPr/>
        </p:nvSpPr>
        <p:spPr>
          <a:xfrm>
            <a:off x="6169680" y="4933800"/>
            <a:ext cx="45720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5560" rIns="25560" tIns="25560" bIns="25560" anchor="t">
            <a:normAutofit fontScale="97000"/>
          </a:bodyPr>
          <a:p>
            <a:pPr algn="ctr">
              <a:lnSpc>
                <a:spcPct val="110000"/>
              </a:lnSpc>
              <a:buNone/>
              <a:tabLst>
                <a:tab algn="l" pos="0"/>
              </a:tabLst>
            </a:pPr>
            <a:r>
              <a:rPr b="1" lang="ko-KR" sz="1800" spc="-1" strike="noStrike">
                <a:solidFill>
                  <a:srgbClr val="1f2328"/>
                </a:solidFill>
                <a:latin typeface="Pretendard"/>
                <a:ea typeface="Pretendard"/>
              </a:rPr>
              <a:t>햇빛</a:t>
            </a:r>
            <a:endParaRPr b="0" lang="en-US" sz="1800" spc="-1" strike="noStrike">
              <a:latin typeface="Noto Sans CJK KR"/>
            </a:endParaRPr>
          </a:p>
        </p:txBody>
      </p:sp>
      <p:sp>
        <p:nvSpPr>
          <p:cNvPr id="217" name="Shape 9"/>
          <p:cNvSpPr/>
          <p:nvPr/>
        </p:nvSpPr>
        <p:spPr>
          <a:xfrm>
            <a:off x="5295960" y="5648400"/>
            <a:ext cx="790200" cy="18720"/>
          </a:xfrm>
          <a:prstGeom prst="rect">
            <a:avLst/>
          </a:pr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8" name="Shape 10"/>
          <p:cNvSpPr/>
          <p:nvPr/>
        </p:nvSpPr>
        <p:spPr>
          <a:xfrm>
            <a:off x="6086520" y="5486400"/>
            <a:ext cx="623520" cy="34272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9050">
            <a:solidFill>
              <a:srgbClr val="1f232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9" name="Text 11"/>
          <p:cNvSpPr/>
          <p:nvPr/>
        </p:nvSpPr>
        <p:spPr>
          <a:xfrm>
            <a:off x="6169680" y="5505480"/>
            <a:ext cx="45720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5560" rIns="25560" tIns="25560" bIns="25560" anchor="t">
            <a:normAutofit fontScale="97000"/>
          </a:bodyPr>
          <a:p>
            <a:pPr algn="ctr">
              <a:lnSpc>
                <a:spcPct val="110000"/>
              </a:lnSpc>
              <a:buNone/>
              <a:tabLst>
                <a:tab algn="l" pos="0"/>
              </a:tabLst>
            </a:pPr>
            <a:r>
              <a:rPr b="1" lang="ko-KR" sz="1800" spc="-1" strike="noStrike">
                <a:solidFill>
                  <a:srgbClr val="1f2328"/>
                </a:solidFill>
                <a:latin typeface="Pretendard"/>
                <a:ea typeface="Pretendard"/>
              </a:rPr>
              <a:t>사람</a:t>
            </a:r>
            <a:endParaRPr b="0" lang="en-US" sz="1800" spc="-1" strike="noStrike">
              <a:latin typeface="Noto Sans CJK KR"/>
            </a:endParaRPr>
          </a:p>
        </p:txBody>
      </p:sp>
      <p:sp>
        <p:nvSpPr>
          <p:cNvPr id="220" name="Shape 12"/>
          <p:cNvSpPr/>
          <p:nvPr/>
        </p:nvSpPr>
        <p:spPr>
          <a:xfrm>
            <a:off x="4629240" y="6524640"/>
            <a:ext cx="323640" cy="18720"/>
          </a:xfrm>
          <a:prstGeom prst="rect">
            <a:avLst/>
          </a:pr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1" name="Shape 13"/>
          <p:cNvSpPr/>
          <p:nvPr/>
        </p:nvSpPr>
        <p:spPr>
          <a:xfrm>
            <a:off x="4000680" y="6362640"/>
            <a:ext cx="623520" cy="34272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9050">
            <a:solidFill>
              <a:srgbClr val="1f232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2" name="Text 14"/>
          <p:cNvSpPr/>
          <p:nvPr/>
        </p:nvSpPr>
        <p:spPr>
          <a:xfrm>
            <a:off x="4083480" y="6381720"/>
            <a:ext cx="45720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5560" rIns="25560" tIns="25560" bIns="25560" anchor="t">
            <a:normAutofit fontScale="97000"/>
          </a:bodyPr>
          <a:p>
            <a:pPr algn="ctr">
              <a:lnSpc>
                <a:spcPct val="110000"/>
              </a:lnSpc>
              <a:buNone/>
              <a:tabLst>
                <a:tab algn="l" pos="0"/>
              </a:tabLst>
            </a:pPr>
            <a:r>
              <a:rPr b="1" lang="ko-KR" sz="1800" spc="-1" strike="noStrike">
                <a:solidFill>
                  <a:srgbClr val="1f2328"/>
                </a:solidFill>
                <a:latin typeface="Pretendard"/>
                <a:ea typeface="Pretendard"/>
              </a:rPr>
              <a:t>로봇</a:t>
            </a:r>
            <a:endParaRPr b="0" lang="en-US" sz="1800" spc="-1" strike="noStrike">
              <a:latin typeface="Noto Sans CJK KR"/>
            </a:endParaRPr>
          </a:p>
        </p:txBody>
      </p:sp>
      <p:sp>
        <p:nvSpPr>
          <p:cNvPr id="223" name="Shape 15"/>
          <p:cNvSpPr/>
          <p:nvPr/>
        </p:nvSpPr>
        <p:spPr>
          <a:xfrm>
            <a:off x="5962680" y="6667560"/>
            <a:ext cx="840240" cy="34272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9050">
            <a:solidFill>
              <a:srgbClr val="1f232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4" name="Text 16"/>
          <p:cNvSpPr/>
          <p:nvPr/>
        </p:nvSpPr>
        <p:spPr>
          <a:xfrm>
            <a:off x="6035040" y="6686640"/>
            <a:ext cx="69552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5560" rIns="25560" tIns="25560" bIns="25560" anchor="t">
            <a:normAutofit fontScale="97000"/>
          </a:bodyPr>
          <a:p>
            <a:pPr algn="ctr">
              <a:lnSpc>
                <a:spcPct val="110000"/>
              </a:lnSpc>
              <a:buNone/>
              <a:tabLst>
                <a:tab algn="l" pos="0"/>
              </a:tabLst>
            </a:pPr>
            <a:r>
              <a:rPr b="1" lang="ko-KR" sz="1800" spc="-1" strike="noStrike">
                <a:solidFill>
                  <a:srgbClr val="1f2328"/>
                </a:solidFill>
                <a:latin typeface="Pretendard"/>
                <a:ea typeface="Pretendard"/>
              </a:rPr>
              <a:t>계단 </a:t>
            </a:r>
            <a:r>
              <a:rPr b="1" lang="en-US" sz="1800" spc="-1" strike="noStrike">
                <a:solidFill>
                  <a:srgbClr val="1f2328"/>
                </a:solidFill>
                <a:latin typeface="Pretendard"/>
                <a:ea typeface="Pretendard"/>
              </a:rPr>
              <a:t>A</a:t>
            </a:r>
            <a:endParaRPr b="0" lang="en-US" sz="1800" spc="-1" strike="noStrike">
              <a:latin typeface="Noto Sans CJK KR"/>
            </a:endParaRPr>
          </a:p>
        </p:txBody>
      </p:sp>
      <p:sp>
        <p:nvSpPr>
          <p:cNvPr id="225" name="Shape 17"/>
          <p:cNvSpPr/>
          <p:nvPr/>
        </p:nvSpPr>
        <p:spPr>
          <a:xfrm>
            <a:off x="2533680" y="6829560"/>
            <a:ext cx="361440" cy="18720"/>
          </a:xfrm>
          <a:prstGeom prst="rect">
            <a:avLst/>
          </a:pr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6" name="Shape 18"/>
          <p:cNvSpPr/>
          <p:nvPr/>
        </p:nvSpPr>
        <p:spPr>
          <a:xfrm>
            <a:off x="1333440" y="6667560"/>
            <a:ext cx="1071360" cy="34272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9050">
            <a:solidFill>
              <a:srgbClr val="1f232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7" name="Text 19"/>
          <p:cNvSpPr/>
          <p:nvPr/>
        </p:nvSpPr>
        <p:spPr>
          <a:xfrm>
            <a:off x="1394280" y="6686640"/>
            <a:ext cx="94968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5560" rIns="25560" tIns="25560" bIns="25560" anchor="t">
            <a:normAutofit fontScale="97000"/>
          </a:bodyPr>
          <a:p>
            <a:pPr algn="ctr">
              <a:lnSpc>
                <a:spcPct val="110000"/>
              </a:lnSpc>
              <a:buNone/>
              <a:tabLst>
                <a:tab algn="l" pos="0"/>
              </a:tabLst>
            </a:pPr>
            <a:r>
              <a:rPr b="1" lang="ko-KR" sz="1800" spc="-1" strike="noStrike">
                <a:solidFill>
                  <a:srgbClr val="1f2328"/>
                </a:solidFill>
                <a:latin typeface="Pretendard"/>
                <a:ea typeface="Pretendard"/>
              </a:rPr>
              <a:t>검은 매트</a:t>
            </a:r>
            <a:endParaRPr b="0" lang="en-US" sz="1800" spc="-1" strike="noStrike">
              <a:latin typeface="Noto Sans CJK KR"/>
            </a:endParaRPr>
          </a:p>
        </p:txBody>
      </p:sp>
      <p:sp>
        <p:nvSpPr>
          <p:cNvPr id="228" name="Shape 20"/>
          <p:cNvSpPr/>
          <p:nvPr/>
        </p:nvSpPr>
        <p:spPr>
          <a:xfrm>
            <a:off x="1333440" y="5676840"/>
            <a:ext cx="18720" cy="723600"/>
          </a:xfrm>
          <a:prstGeom prst="rect">
            <a:avLst/>
          </a:pr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9" name="Shape 21"/>
          <p:cNvSpPr/>
          <p:nvPr/>
        </p:nvSpPr>
        <p:spPr>
          <a:xfrm>
            <a:off x="1066680" y="5334120"/>
            <a:ext cx="623520" cy="34272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9050">
            <a:solidFill>
              <a:srgbClr val="1f232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0" name="Text 22"/>
          <p:cNvSpPr/>
          <p:nvPr/>
        </p:nvSpPr>
        <p:spPr>
          <a:xfrm>
            <a:off x="1149840" y="5353200"/>
            <a:ext cx="45720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5560" rIns="25560" tIns="25560" bIns="25560" anchor="t">
            <a:normAutofit fontScale="97000"/>
          </a:bodyPr>
          <a:p>
            <a:pPr algn="ctr">
              <a:lnSpc>
                <a:spcPct val="110000"/>
              </a:lnSpc>
              <a:buNone/>
              <a:tabLst>
                <a:tab algn="l" pos="0"/>
              </a:tabLst>
            </a:pPr>
            <a:r>
              <a:rPr b="1" lang="ko-KR" sz="1800" spc="-1" strike="noStrike">
                <a:solidFill>
                  <a:srgbClr val="1f2328"/>
                </a:solidFill>
                <a:latin typeface="Pretendard"/>
                <a:ea typeface="Pretendard"/>
              </a:rPr>
              <a:t>출발</a:t>
            </a:r>
            <a:endParaRPr b="0" lang="en-US" sz="1800" spc="-1" strike="noStrike">
              <a:latin typeface="Noto Sans CJK KR"/>
            </a:endParaRPr>
          </a:p>
        </p:txBody>
      </p:sp>
      <p:sp>
        <p:nvSpPr>
          <p:cNvPr id="231" name="Shape 23"/>
          <p:cNvSpPr/>
          <p:nvPr/>
        </p:nvSpPr>
        <p:spPr>
          <a:xfrm>
            <a:off x="3200400" y="3790800"/>
            <a:ext cx="999000" cy="64728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1f232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2" name="Text 24"/>
          <p:cNvSpPr/>
          <p:nvPr/>
        </p:nvSpPr>
        <p:spPr>
          <a:xfrm>
            <a:off x="3276720" y="3809880"/>
            <a:ext cx="84672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5560" rIns="25560" tIns="25560" bIns="25560" anchor="t">
            <a:normAutofit fontScale="99000"/>
          </a:bodyPr>
          <a:p>
            <a:pPr algn="ctr">
              <a:lnSpc>
                <a:spcPct val="110000"/>
              </a:lnSpc>
              <a:buNone/>
              <a:tabLst>
                <a:tab algn="l" pos="0"/>
              </a:tabLst>
            </a:pPr>
            <a:r>
              <a:rPr b="1" lang="ko-KR" sz="1800" spc="-1" strike="noStrike">
                <a:solidFill>
                  <a:srgbClr val="1f2328"/>
                </a:solidFill>
                <a:highlight>
                  <a:srgbClr val="ffffff"/>
                </a:highlight>
                <a:latin typeface="Pretendard"/>
                <a:ea typeface="Pretendard"/>
              </a:rPr>
              <a:t>사무실 </a:t>
            </a:r>
            <a:endParaRPr b="0" lang="en-US" sz="1800" spc="-1" strike="noStrike">
              <a:latin typeface="Noto Sans CJK KR"/>
            </a:endParaRPr>
          </a:p>
          <a:p>
            <a:pPr algn="ctr">
              <a:lnSpc>
                <a:spcPct val="11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1f2328"/>
                </a:solidFill>
                <a:highlight>
                  <a:srgbClr val="ffffff"/>
                </a:highlight>
                <a:latin typeface="Pretendard"/>
                <a:ea typeface="Pretendard"/>
              </a:rPr>
              <a:t>(</a:t>
            </a:r>
            <a:r>
              <a:rPr b="1" lang="ko-KR" sz="1800" spc="-1" strike="noStrike">
                <a:solidFill>
                  <a:srgbClr val="1f2328"/>
                </a:solidFill>
                <a:highlight>
                  <a:srgbClr val="ffffff"/>
                </a:highlight>
                <a:latin typeface="Pretendard"/>
                <a:ea typeface="Pretendard"/>
              </a:rPr>
              <a:t>목적지</a:t>
            </a:r>
            <a:r>
              <a:rPr b="1" lang="en-US" sz="1800" spc="-1" strike="noStrike">
                <a:solidFill>
                  <a:srgbClr val="1f2328"/>
                </a:solidFill>
                <a:highlight>
                  <a:srgbClr val="ffffff"/>
                </a:highlight>
                <a:latin typeface="Pretendard"/>
                <a:ea typeface="Pretendard"/>
              </a:rPr>
              <a:t>)</a:t>
            </a:r>
            <a:endParaRPr b="0" lang="en-US" sz="1800" spc="-1" strike="noStrike">
              <a:latin typeface="Noto Sans CJK KR"/>
            </a:endParaRPr>
          </a:p>
        </p:txBody>
      </p:sp>
      <p:sp>
        <p:nvSpPr>
          <p:cNvPr id="233" name="Text 25"/>
          <p:cNvSpPr/>
          <p:nvPr/>
        </p:nvSpPr>
        <p:spPr>
          <a:xfrm>
            <a:off x="7620120" y="2400480"/>
            <a:ext cx="67896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95000"/>
          </a:bodyPr>
          <a:p>
            <a:pPr>
              <a:lnSpc>
                <a:spcPct val="105000"/>
              </a:lnSpc>
              <a:buNone/>
              <a:tabLst>
                <a:tab algn="l" pos="0"/>
              </a:tabLst>
            </a:pPr>
            <a:r>
              <a:rPr b="1" lang="ko-KR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환경</a:t>
            </a:r>
            <a:endParaRPr b="0" lang="en-US" sz="2400" spc="-1" strike="noStrike">
              <a:latin typeface="Noto Sans CJK KR"/>
            </a:endParaRPr>
          </a:p>
        </p:txBody>
      </p:sp>
      <p:sp>
        <p:nvSpPr>
          <p:cNvPr id="234" name="Shape 26"/>
          <p:cNvSpPr/>
          <p:nvPr/>
        </p:nvSpPr>
        <p:spPr>
          <a:xfrm>
            <a:off x="8299080" y="2419200"/>
            <a:ext cx="1537200" cy="342720"/>
          </a:xfrm>
          <a:prstGeom prst="roundRect">
            <a:avLst>
              <a:gd name="adj" fmla="val 22222"/>
            </a:avLst>
          </a:prstGeom>
          <a:solidFill>
            <a:srgbClr val="eaf4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5" name="Text 27"/>
          <p:cNvSpPr/>
          <p:nvPr/>
        </p:nvSpPr>
        <p:spPr>
          <a:xfrm>
            <a:off x="8413560" y="2419200"/>
            <a:ext cx="131796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rmAutofit/>
          </a:bodyPr>
          <a:p>
            <a:pPr>
              <a:lnSpc>
                <a:spcPct val="11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08300"/>
                </a:solidFill>
                <a:latin typeface="Pretendard"/>
                <a:ea typeface="Pretendard"/>
              </a:rPr>
              <a:t>✓ </a:t>
            </a:r>
            <a:r>
              <a:rPr b="1" lang="ko-KR" sz="1800" spc="-1" strike="noStrike">
                <a:solidFill>
                  <a:srgbClr val="008300"/>
                </a:solidFill>
                <a:latin typeface="Pretendard"/>
                <a:ea typeface="Pretendard"/>
              </a:rPr>
              <a:t>구축 완료</a:t>
            </a:r>
            <a:endParaRPr b="0" lang="en-US" sz="1800" spc="-1" strike="noStrike">
              <a:latin typeface="Noto Sans CJK KR"/>
            </a:endParaRPr>
          </a:p>
        </p:txBody>
      </p:sp>
      <p:sp>
        <p:nvSpPr>
          <p:cNvPr id="236" name="Shape 28"/>
          <p:cNvSpPr/>
          <p:nvPr/>
        </p:nvSpPr>
        <p:spPr>
          <a:xfrm>
            <a:off x="7620120" y="3000240"/>
            <a:ext cx="95040" cy="95040"/>
          </a:xfrm>
          <a:prstGeom prst="rect">
            <a:avLst/>
          </a:prstGeom>
          <a:solidFill>
            <a:srgbClr val="5b64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7" name="Text 29"/>
          <p:cNvSpPr/>
          <p:nvPr/>
        </p:nvSpPr>
        <p:spPr>
          <a:xfrm>
            <a:off x="7867800" y="2857680"/>
            <a:ext cx="615672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94000"/>
          </a:bodyPr>
          <a:p>
            <a:pPr>
              <a:lnSpc>
                <a:spcPct val="105000"/>
              </a:lnSpc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ROS 2 Humble · Gazebo Classic 11 · Nav2</a:t>
            </a:r>
            <a:endParaRPr b="0" lang="en-US" sz="2400" spc="-1" strike="noStrike">
              <a:latin typeface="Noto Sans CJK KR"/>
            </a:endParaRPr>
          </a:p>
        </p:txBody>
      </p:sp>
      <p:sp>
        <p:nvSpPr>
          <p:cNvPr id="238" name="Shape 30"/>
          <p:cNvSpPr/>
          <p:nvPr/>
        </p:nvSpPr>
        <p:spPr>
          <a:xfrm>
            <a:off x="7620120" y="3419640"/>
            <a:ext cx="95040" cy="95040"/>
          </a:xfrm>
          <a:prstGeom prst="rect">
            <a:avLst/>
          </a:prstGeom>
          <a:solidFill>
            <a:srgbClr val="5b64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9" name="Text 31"/>
          <p:cNvSpPr/>
          <p:nvPr/>
        </p:nvSpPr>
        <p:spPr>
          <a:xfrm>
            <a:off x="7867800" y="3276720"/>
            <a:ext cx="816876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95000"/>
          </a:bodyPr>
          <a:p>
            <a:pPr>
              <a:lnSpc>
                <a:spcPct val="105000"/>
              </a:lnSpc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slam_toolbox</a:t>
            </a:r>
            <a:r>
              <a:rPr b="0" lang="ko-KR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로 직접 만든 지도 — 계단이 빈 바닥으로 찍힌다</a:t>
            </a:r>
            <a:endParaRPr b="0" lang="en-US" sz="2400" spc="-1" strike="noStrike">
              <a:latin typeface="Noto Sans CJK KR"/>
            </a:endParaRPr>
          </a:p>
        </p:txBody>
      </p:sp>
      <p:sp>
        <p:nvSpPr>
          <p:cNvPr id="240" name="Shape 32"/>
          <p:cNvSpPr/>
          <p:nvPr/>
        </p:nvSpPr>
        <p:spPr>
          <a:xfrm>
            <a:off x="7620120" y="3838680"/>
            <a:ext cx="95040" cy="95040"/>
          </a:xfrm>
          <a:prstGeom prst="rect">
            <a:avLst/>
          </a:prstGeom>
          <a:solidFill>
            <a:srgbClr val="5b64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1" name="Text 33"/>
          <p:cNvSpPr/>
          <p:nvPr/>
        </p:nvSpPr>
        <p:spPr>
          <a:xfrm>
            <a:off x="7867800" y="3695760"/>
            <a:ext cx="5087160" cy="79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8000"/>
          </a:bodyPr>
          <a:p>
            <a:pPr>
              <a:lnSpc>
                <a:spcPct val="105000"/>
              </a:lnSpc>
              <a:buNone/>
              <a:tabLst>
                <a:tab algn="l" pos="0"/>
              </a:tabLst>
            </a:pPr>
            <a:r>
              <a:rPr b="0" lang="ko-KR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서빙로봇형 차동구동 </a:t>
            </a:r>
            <a:r>
              <a:rPr b="0" lang="en-US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· </a:t>
            </a:r>
            <a:r>
              <a:rPr b="0" lang="ko-KR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최고 </a:t>
            </a:r>
            <a:r>
              <a:rPr b="0" lang="en-US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0.45 m/s · 270° LiDAR + </a:t>
            </a:r>
            <a:r>
              <a:rPr b="0" lang="ko-KR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깊이카메라 </a:t>
            </a:r>
            <a:r>
              <a:rPr b="0" lang="en-US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+ </a:t>
            </a:r>
            <a:r>
              <a:rPr b="0" lang="ko-KR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하향 </a:t>
            </a:r>
            <a:r>
              <a:rPr b="0" lang="en-US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IR 4</a:t>
            </a:r>
            <a:r>
              <a:rPr b="0" lang="ko-KR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개</a:t>
            </a:r>
            <a:endParaRPr b="0" lang="en-US" sz="2400" spc="-1" strike="noStrike">
              <a:latin typeface="Noto Sans CJK KR"/>
            </a:endParaRPr>
          </a:p>
        </p:txBody>
      </p:sp>
      <p:sp>
        <p:nvSpPr>
          <p:cNvPr id="242" name="Shape 34"/>
          <p:cNvSpPr/>
          <p:nvPr/>
        </p:nvSpPr>
        <p:spPr>
          <a:xfrm>
            <a:off x="7620120" y="4638600"/>
            <a:ext cx="95040" cy="95040"/>
          </a:xfrm>
          <a:prstGeom prst="rect">
            <a:avLst/>
          </a:prstGeom>
          <a:solidFill>
            <a:srgbClr val="5b64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3" name="Text 35"/>
          <p:cNvSpPr/>
          <p:nvPr/>
        </p:nvSpPr>
        <p:spPr>
          <a:xfrm>
            <a:off x="7867800" y="4495680"/>
            <a:ext cx="9790920" cy="79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97000"/>
          </a:bodyPr>
          <a:p>
            <a:pPr>
              <a:lnSpc>
                <a:spcPct val="105000"/>
              </a:lnSpc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Gazebo</a:t>
            </a:r>
            <a:r>
              <a:rPr b="0" lang="ko-KR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가 못 만드는 센서 오류는 정한 위치에 직접 넣는다</a:t>
            </a:r>
            <a:r>
              <a:rPr b="0" lang="en-US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. </a:t>
            </a:r>
            <a:endParaRPr b="0" lang="en-US" sz="2400" spc="-1" strike="noStrike">
              <a:latin typeface="Noto Sans CJK KR"/>
            </a:endParaRPr>
          </a:p>
          <a:p>
            <a:pPr>
              <a:lnSpc>
                <a:spcPct val="105000"/>
              </a:lnSpc>
              <a:buNone/>
              <a:tabLst>
                <a:tab algn="l" pos="0"/>
              </a:tabLst>
            </a:pPr>
            <a:r>
              <a:rPr b="0" lang="ko-KR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알고리즘에는 그 위치를 알려주지 않는다</a:t>
            </a:r>
            <a:r>
              <a:rPr b="0" lang="en-US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.</a:t>
            </a:r>
            <a:endParaRPr b="0" lang="en-US" sz="2400" spc="-1" strike="noStrike">
              <a:latin typeface="Noto Sans CJK KR"/>
            </a:endParaRPr>
          </a:p>
        </p:txBody>
      </p:sp>
      <p:sp>
        <p:nvSpPr>
          <p:cNvPr id="244" name="Shape 36"/>
          <p:cNvSpPr/>
          <p:nvPr/>
        </p:nvSpPr>
        <p:spPr>
          <a:xfrm>
            <a:off x="7620120" y="5334120"/>
            <a:ext cx="9753120" cy="18720"/>
          </a:xfrm>
          <a:prstGeom prst="rect">
            <a:avLst/>
          </a:prstGeom>
          <a:solidFill>
            <a:srgbClr val="e3e6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5" name="Text 37"/>
          <p:cNvSpPr/>
          <p:nvPr/>
        </p:nvSpPr>
        <p:spPr>
          <a:xfrm>
            <a:off x="7620120" y="5429160"/>
            <a:ext cx="112356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>
              <a:lnSpc>
                <a:spcPct val="105000"/>
              </a:lnSpc>
              <a:buNone/>
              <a:tabLst>
                <a:tab algn="l" pos="0"/>
              </a:tabLst>
            </a:pPr>
            <a:r>
              <a:rPr b="1" lang="ko-KR" sz="2400" spc="-1" strike="noStrike">
                <a:solidFill>
                  <a:srgbClr val="5b6470"/>
                </a:solidFill>
                <a:latin typeface="Pretendard"/>
                <a:ea typeface="Pretendard"/>
              </a:rPr>
              <a:t>기본</a:t>
            </a:r>
            <a:endParaRPr b="0" lang="en-US" sz="2400" spc="-1" strike="noStrike">
              <a:latin typeface="Noto Sans CJK KR"/>
            </a:endParaRPr>
          </a:p>
        </p:txBody>
      </p:sp>
      <p:sp>
        <p:nvSpPr>
          <p:cNvPr id="246" name="Shape 38"/>
          <p:cNvSpPr/>
          <p:nvPr/>
        </p:nvSpPr>
        <p:spPr>
          <a:xfrm>
            <a:off x="8763120" y="5429160"/>
            <a:ext cx="1490040" cy="418680"/>
          </a:xfrm>
          <a:prstGeom prst="roundRect">
            <a:avLst>
              <a:gd name="adj" fmla="val 18182"/>
            </a:avLst>
          </a:prstGeom>
          <a:noFill/>
          <a:ln w="19050">
            <a:solidFill>
              <a:srgbClr val="c3c8ce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7" name="Text 39"/>
          <p:cNvSpPr/>
          <p:nvPr/>
        </p:nvSpPr>
        <p:spPr>
          <a:xfrm>
            <a:off x="8915400" y="5448240"/>
            <a:ext cx="133416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5560" rIns="25560" tIns="25560" bIns="25560" anchor="ctr">
            <a:normAutofit fontScale="99000"/>
          </a:bodyPr>
          <a:p>
            <a:pPr>
              <a:lnSpc>
                <a:spcPct val="105000"/>
              </a:lnSpc>
              <a:buNone/>
              <a:tabLst>
                <a:tab algn="l" pos="0"/>
              </a:tabLst>
            </a:pPr>
            <a:r>
              <a:rPr b="0" lang="en-US" sz="2300" spc="-1" strike="noStrike">
                <a:solidFill>
                  <a:srgbClr val="1f2328"/>
                </a:solidFill>
                <a:latin typeface="Pretendard"/>
                <a:ea typeface="Pretendard"/>
              </a:rPr>
              <a:t>S1 </a:t>
            </a:r>
            <a:r>
              <a:rPr b="0" lang="ko-KR" sz="2300" spc="-1" strike="noStrike">
                <a:solidFill>
                  <a:srgbClr val="1f2328"/>
                </a:solidFill>
                <a:latin typeface="Pretendard"/>
                <a:ea typeface="Pretendard"/>
              </a:rPr>
              <a:t>평상시</a:t>
            </a:r>
            <a:endParaRPr b="0" lang="en-US" sz="2300" spc="-1" strike="noStrike">
              <a:latin typeface="Noto Sans CJK KR"/>
            </a:endParaRPr>
          </a:p>
        </p:txBody>
      </p:sp>
      <p:sp>
        <p:nvSpPr>
          <p:cNvPr id="248" name="Shape 40"/>
          <p:cNvSpPr/>
          <p:nvPr/>
        </p:nvSpPr>
        <p:spPr>
          <a:xfrm>
            <a:off x="10348560" y="5429160"/>
            <a:ext cx="3268800" cy="418680"/>
          </a:xfrm>
          <a:prstGeom prst="roundRect">
            <a:avLst>
              <a:gd name="adj" fmla="val 18182"/>
            </a:avLst>
          </a:prstGeom>
          <a:noFill/>
          <a:ln w="19050">
            <a:solidFill>
              <a:srgbClr val="c3c8ce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9" name="Text 41"/>
          <p:cNvSpPr/>
          <p:nvPr/>
        </p:nvSpPr>
        <p:spPr>
          <a:xfrm>
            <a:off x="10500840" y="5448240"/>
            <a:ext cx="329076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5560" rIns="25560" tIns="25560" bIns="25560" anchor="ctr">
            <a:normAutofit/>
          </a:bodyPr>
          <a:p>
            <a:pPr>
              <a:lnSpc>
                <a:spcPct val="105000"/>
              </a:lnSpc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rgbClr val="1f2328"/>
                </a:solidFill>
                <a:latin typeface="Pretendard"/>
                <a:ea typeface="Pretendard"/>
              </a:rPr>
              <a:t>S2 </a:t>
            </a:r>
            <a:r>
              <a:rPr b="0" lang="ko-KR" sz="2200" spc="-1" strike="noStrike">
                <a:solidFill>
                  <a:srgbClr val="1f2328"/>
                </a:solidFill>
                <a:latin typeface="Pretendard"/>
                <a:ea typeface="Pretendard"/>
              </a:rPr>
              <a:t>사람이 모퉁이를 막음</a:t>
            </a:r>
            <a:endParaRPr b="0" lang="en-US" sz="2200" spc="-1" strike="noStrike">
              <a:latin typeface="Noto Sans CJK KR"/>
            </a:endParaRPr>
          </a:p>
        </p:txBody>
      </p:sp>
      <p:sp>
        <p:nvSpPr>
          <p:cNvPr id="250" name="Shape 42"/>
          <p:cNvSpPr/>
          <p:nvPr/>
        </p:nvSpPr>
        <p:spPr>
          <a:xfrm>
            <a:off x="13713120" y="5429160"/>
            <a:ext cx="3354480" cy="418680"/>
          </a:xfrm>
          <a:prstGeom prst="roundRect">
            <a:avLst>
              <a:gd name="adj" fmla="val 18182"/>
            </a:avLst>
          </a:prstGeom>
          <a:noFill/>
          <a:ln w="19050">
            <a:solidFill>
              <a:srgbClr val="c3c8ce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1" name="Text 43"/>
          <p:cNvSpPr/>
          <p:nvPr/>
        </p:nvSpPr>
        <p:spPr>
          <a:xfrm>
            <a:off x="13865400" y="5448240"/>
            <a:ext cx="338508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5560" rIns="25560" tIns="25560" bIns="25560" anchor="ctr">
            <a:normAutofit/>
          </a:bodyPr>
          <a:p>
            <a:pPr>
              <a:lnSpc>
                <a:spcPct val="105000"/>
              </a:lnSpc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rgbClr val="1f2328"/>
                </a:solidFill>
                <a:latin typeface="Pretendard"/>
                <a:ea typeface="Pretendard"/>
              </a:rPr>
              <a:t>S3 </a:t>
            </a:r>
            <a:r>
              <a:rPr b="0" lang="ko-KR" sz="2200" spc="-1" strike="noStrike">
                <a:solidFill>
                  <a:srgbClr val="1f2328"/>
                </a:solidFill>
                <a:latin typeface="Pretendard"/>
                <a:ea typeface="Pretendard"/>
              </a:rPr>
              <a:t>로봇이 밀려 위치 착각</a:t>
            </a:r>
            <a:endParaRPr b="0" lang="en-US" sz="2200" spc="-1" strike="noStrike">
              <a:latin typeface="Noto Sans CJK KR"/>
            </a:endParaRPr>
          </a:p>
        </p:txBody>
      </p:sp>
      <p:sp>
        <p:nvSpPr>
          <p:cNvPr id="252" name="Shape 44"/>
          <p:cNvSpPr/>
          <p:nvPr/>
        </p:nvSpPr>
        <p:spPr>
          <a:xfrm>
            <a:off x="8763120" y="5924520"/>
            <a:ext cx="3016800" cy="418680"/>
          </a:xfrm>
          <a:prstGeom prst="roundRect">
            <a:avLst>
              <a:gd name="adj" fmla="val 18182"/>
            </a:avLst>
          </a:prstGeom>
          <a:noFill/>
          <a:ln w="19050">
            <a:solidFill>
              <a:srgbClr val="c3c8ce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3" name="Text 45"/>
          <p:cNvSpPr/>
          <p:nvPr/>
        </p:nvSpPr>
        <p:spPr>
          <a:xfrm>
            <a:off x="8915400" y="5943600"/>
            <a:ext cx="301356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5560" rIns="25560" tIns="25560" bIns="25560" anchor="ctr">
            <a:normAutofit/>
          </a:bodyPr>
          <a:p>
            <a:pPr>
              <a:lnSpc>
                <a:spcPct val="105000"/>
              </a:lnSpc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rgbClr val="1f2328"/>
                </a:solidFill>
                <a:latin typeface="Pretendard"/>
                <a:ea typeface="Pretendard"/>
              </a:rPr>
              <a:t>S4 </a:t>
            </a:r>
            <a:r>
              <a:rPr b="0" lang="ko-KR" sz="2200" spc="-1" strike="noStrike">
                <a:solidFill>
                  <a:srgbClr val="1f2328"/>
                </a:solidFill>
                <a:latin typeface="Pretendard"/>
                <a:ea typeface="Pretendard"/>
              </a:rPr>
              <a:t>계단 금지구역 누락</a:t>
            </a:r>
            <a:endParaRPr b="0" lang="en-US" sz="2200" spc="-1" strike="noStrike">
              <a:latin typeface="Noto Sans CJK KR"/>
            </a:endParaRPr>
          </a:p>
        </p:txBody>
      </p:sp>
      <p:sp>
        <p:nvSpPr>
          <p:cNvPr id="254" name="Text 46"/>
          <p:cNvSpPr/>
          <p:nvPr/>
        </p:nvSpPr>
        <p:spPr>
          <a:xfrm>
            <a:off x="7620120" y="6419880"/>
            <a:ext cx="1123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>
              <a:lnSpc>
                <a:spcPct val="105000"/>
              </a:lnSpc>
              <a:buNone/>
              <a:tabLst>
                <a:tab algn="l" pos="0"/>
              </a:tabLst>
            </a:pPr>
            <a:r>
              <a:rPr b="1" lang="ko-KR" sz="2400" spc="-1" strike="noStrike">
                <a:solidFill>
                  <a:srgbClr val="5b6470"/>
                </a:solidFill>
                <a:latin typeface="Pretendard"/>
                <a:ea typeface="Pretendard"/>
              </a:rPr>
              <a:t>악조건</a:t>
            </a:r>
            <a:endParaRPr b="0" lang="en-US" sz="2400" spc="-1" strike="noStrike">
              <a:latin typeface="Noto Sans CJK KR"/>
            </a:endParaRPr>
          </a:p>
        </p:txBody>
      </p:sp>
      <p:sp>
        <p:nvSpPr>
          <p:cNvPr id="255" name="Shape 47"/>
          <p:cNvSpPr/>
          <p:nvPr/>
        </p:nvSpPr>
        <p:spPr>
          <a:xfrm>
            <a:off x="8763120" y="6419880"/>
            <a:ext cx="1434600" cy="418680"/>
          </a:xfrm>
          <a:prstGeom prst="roundRect">
            <a:avLst>
              <a:gd name="adj" fmla="val 18182"/>
            </a:avLst>
          </a:prstGeom>
          <a:noFill/>
          <a:ln w="19050">
            <a:solidFill>
              <a:srgbClr val="c3c8ce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6" name="Text 48"/>
          <p:cNvSpPr/>
          <p:nvPr/>
        </p:nvSpPr>
        <p:spPr>
          <a:xfrm>
            <a:off x="8915400" y="6438960"/>
            <a:ext cx="127332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5560" rIns="25560" tIns="25560" bIns="25560" anchor="ctr">
            <a:normAutofit/>
          </a:bodyPr>
          <a:p>
            <a:pPr>
              <a:lnSpc>
                <a:spcPct val="105000"/>
              </a:lnSpc>
              <a:buNone/>
              <a:tabLst>
                <a:tab algn="l" pos="0"/>
              </a:tabLst>
            </a:pPr>
            <a:r>
              <a:rPr b="0" lang="ko-KR" sz="2200" spc="-1" strike="noStrike">
                <a:solidFill>
                  <a:srgbClr val="1f2328"/>
                </a:solidFill>
                <a:latin typeface="Pretendard"/>
                <a:ea typeface="Pretendard"/>
              </a:rPr>
              <a:t>검은 계단</a:t>
            </a:r>
            <a:endParaRPr b="0" lang="en-US" sz="2200" spc="-1" strike="noStrike">
              <a:latin typeface="Noto Sans CJK KR"/>
            </a:endParaRPr>
          </a:p>
        </p:txBody>
      </p:sp>
      <p:sp>
        <p:nvSpPr>
          <p:cNvPr id="257" name="Shape 49"/>
          <p:cNvSpPr/>
          <p:nvPr/>
        </p:nvSpPr>
        <p:spPr>
          <a:xfrm>
            <a:off x="10293120" y="6419880"/>
            <a:ext cx="1961640" cy="418680"/>
          </a:xfrm>
          <a:prstGeom prst="roundRect">
            <a:avLst>
              <a:gd name="adj" fmla="val 18182"/>
            </a:avLst>
          </a:prstGeom>
          <a:noFill/>
          <a:ln w="19050">
            <a:solidFill>
              <a:srgbClr val="c3c8ce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8" name="Text 50"/>
          <p:cNvSpPr/>
          <p:nvPr/>
        </p:nvSpPr>
        <p:spPr>
          <a:xfrm>
            <a:off x="10390320" y="6438960"/>
            <a:ext cx="185292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5560" rIns="25560" tIns="25560" bIns="25560" anchor="ctr">
            <a:normAutofit/>
          </a:bodyPr>
          <a:p>
            <a:pPr>
              <a:lnSpc>
                <a:spcPct val="105000"/>
              </a:lnSpc>
              <a:buNone/>
              <a:tabLst>
                <a:tab algn="l" pos="0"/>
              </a:tabLst>
            </a:pPr>
            <a:r>
              <a:rPr b="0" lang="ko-KR" sz="2200" spc="-1" strike="noStrike">
                <a:solidFill>
                  <a:srgbClr val="1f2328"/>
                </a:solidFill>
                <a:latin typeface="Pretendard"/>
                <a:ea typeface="Pretendard"/>
              </a:rPr>
              <a:t>미끄러운 바닥</a:t>
            </a:r>
            <a:endParaRPr b="0" lang="en-US" sz="2200" spc="-1" strike="noStrike">
              <a:latin typeface="Noto Sans CJK KR"/>
            </a:endParaRPr>
          </a:p>
        </p:txBody>
      </p:sp>
      <p:sp>
        <p:nvSpPr>
          <p:cNvPr id="259" name="Shape 51"/>
          <p:cNvSpPr/>
          <p:nvPr/>
        </p:nvSpPr>
        <p:spPr>
          <a:xfrm>
            <a:off x="12350520" y="6419880"/>
            <a:ext cx="1961640" cy="418680"/>
          </a:xfrm>
          <a:prstGeom prst="roundRect">
            <a:avLst>
              <a:gd name="adj" fmla="val 18182"/>
            </a:avLst>
          </a:prstGeom>
          <a:noFill/>
          <a:ln w="19050">
            <a:solidFill>
              <a:srgbClr val="c3c8ce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0" name="Text 52"/>
          <p:cNvSpPr/>
          <p:nvPr/>
        </p:nvSpPr>
        <p:spPr>
          <a:xfrm>
            <a:off x="12447360" y="6438960"/>
            <a:ext cx="185292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5560" rIns="25560" tIns="25560" bIns="25560" anchor="ctr">
            <a:normAutofit/>
          </a:bodyPr>
          <a:p>
            <a:pPr>
              <a:lnSpc>
                <a:spcPct val="105000"/>
              </a:lnSpc>
              <a:buNone/>
              <a:tabLst>
                <a:tab algn="l" pos="0"/>
              </a:tabLst>
            </a:pPr>
            <a:r>
              <a:rPr b="0" lang="ko-KR" sz="2200" spc="-1" strike="noStrike">
                <a:solidFill>
                  <a:srgbClr val="1f2328"/>
                </a:solidFill>
                <a:latin typeface="Pretendard"/>
                <a:ea typeface="Pretendard"/>
              </a:rPr>
              <a:t>움직이는 사람</a:t>
            </a:r>
            <a:endParaRPr b="0" lang="en-US" sz="2200" spc="-1" strike="noStrike">
              <a:latin typeface="Noto Sans CJK KR"/>
            </a:endParaRPr>
          </a:p>
        </p:txBody>
      </p:sp>
      <p:sp>
        <p:nvSpPr>
          <p:cNvPr id="261" name="Shape 53"/>
          <p:cNvSpPr/>
          <p:nvPr/>
        </p:nvSpPr>
        <p:spPr>
          <a:xfrm>
            <a:off x="14407560" y="6419880"/>
            <a:ext cx="2037960" cy="418680"/>
          </a:xfrm>
          <a:prstGeom prst="roundRect">
            <a:avLst>
              <a:gd name="adj" fmla="val 18182"/>
            </a:avLst>
          </a:prstGeom>
          <a:noFill/>
          <a:ln w="19050">
            <a:solidFill>
              <a:srgbClr val="c3c8ce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2" name="Text 54"/>
          <p:cNvSpPr/>
          <p:nvPr/>
        </p:nvSpPr>
        <p:spPr>
          <a:xfrm>
            <a:off x="14518440" y="6438960"/>
            <a:ext cx="193716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5560" rIns="25560" tIns="25560" bIns="25560" anchor="ctr">
            <a:normAutofit/>
          </a:bodyPr>
          <a:p>
            <a:pPr>
              <a:lnSpc>
                <a:spcPct val="105000"/>
              </a:lnSpc>
              <a:buNone/>
              <a:tabLst>
                <a:tab algn="l" pos="0"/>
              </a:tabLst>
            </a:pPr>
            <a:r>
              <a:rPr b="0" lang="ko-KR" sz="2200" spc="-1" strike="noStrike">
                <a:solidFill>
                  <a:srgbClr val="1f2328"/>
                </a:solidFill>
                <a:latin typeface="Pretendard"/>
                <a:ea typeface="Pretendard"/>
              </a:rPr>
              <a:t>뒤로 비켜 주기</a:t>
            </a:r>
            <a:endParaRPr b="0" lang="en-US" sz="2200" spc="-1" strike="noStrike">
              <a:latin typeface="Noto Sans CJK KR"/>
            </a:endParaRPr>
          </a:p>
        </p:txBody>
      </p:sp>
      <p:sp>
        <p:nvSpPr>
          <p:cNvPr id="263" name="Text 55"/>
          <p:cNvSpPr/>
          <p:nvPr/>
        </p:nvSpPr>
        <p:spPr>
          <a:xfrm>
            <a:off x="7620120" y="6915240"/>
            <a:ext cx="1433520" cy="118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>
              <a:lnSpc>
                <a:spcPct val="105000"/>
              </a:lnSpc>
              <a:buNone/>
              <a:tabLst>
                <a:tab algn="l" pos="0"/>
              </a:tabLst>
            </a:pPr>
            <a:r>
              <a:rPr b="1" lang="ko-KR" sz="2400" spc="-1" strike="noStrike">
                <a:solidFill>
                  <a:srgbClr val="5b6470"/>
                </a:solidFill>
                <a:latin typeface="Pretendard"/>
                <a:ea typeface="Pretendard"/>
              </a:rPr>
              <a:t>비교 방식</a:t>
            </a:r>
            <a:endParaRPr b="0" lang="en-US" sz="2400" spc="-1" strike="noStrike">
              <a:latin typeface="Noto Sans CJK KR"/>
            </a:endParaRPr>
          </a:p>
        </p:txBody>
      </p:sp>
      <p:sp>
        <p:nvSpPr>
          <p:cNvPr id="264" name="Shape 56"/>
          <p:cNvSpPr/>
          <p:nvPr/>
        </p:nvSpPr>
        <p:spPr>
          <a:xfrm>
            <a:off x="9054000" y="7010280"/>
            <a:ext cx="190080" cy="190080"/>
          </a:xfrm>
          <a:prstGeom prst="roundRect">
            <a:avLst>
              <a:gd name="adj" fmla="val 20000"/>
            </a:avLst>
          </a:prstGeom>
          <a:solidFill>
            <a:srgbClr val="2a78d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5" name="Text 57"/>
          <p:cNvSpPr/>
          <p:nvPr/>
        </p:nvSpPr>
        <p:spPr>
          <a:xfrm>
            <a:off x="9339840" y="6915240"/>
            <a:ext cx="135540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94000"/>
          </a:bodyPr>
          <a:p>
            <a:pPr>
              <a:lnSpc>
                <a:spcPct val="105000"/>
              </a:lnSpc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P0 </a:t>
            </a:r>
            <a:r>
              <a:rPr b="0" lang="ko-KR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지도만</a:t>
            </a:r>
            <a:endParaRPr b="0" lang="en-US" sz="2400" spc="-1" strike="noStrike">
              <a:latin typeface="Noto Sans CJK KR"/>
            </a:endParaRPr>
          </a:p>
        </p:txBody>
      </p:sp>
      <p:sp>
        <p:nvSpPr>
          <p:cNvPr id="266" name="Shape 58"/>
          <p:cNvSpPr/>
          <p:nvPr/>
        </p:nvSpPr>
        <p:spPr>
          <a:xfrm>
            <a:off x="10800720" y="7010280"/>
            <a:ext cx="190080" cy="190080"/>
          </a:xfrm>
          <a:prstGeom prst="roundRect">
            <a:avLst>
              <a:gd name="adj" fmla="val 20000"/>
            </a:avLst>
          </a:prstGeom>
          <a:solidFill>
            <a:srgbClr val="eb68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7" name="Text 59"/>
          <p:cNvSpPr/>
          <p:nvPr/>
        </p:nvSpPr>
        <p:spPr>
          <a:xfrm>
            <a:off x="11086560" y="6915240"/>
            <a:ext cx="165348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93000"/>
          </a:bodyPr>
          <a:p>
            <a:pPr>
              <a:lnSpc>
                <a:spcPct val="105000"/>
              </a:lnSpc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P1 keepout</a:t>
            </a:r>
            <a:endParaRPr b="0" lang="en-US" sz="2400" spc="-1" strike="noStrike">
              <a:latin typeface="Noto Sans CJK KR"/>
            </a:endParaRPr>
          </a:p>
        </p:txBody>
      </p:sp>
      <p:sp>
        <p:nvSpPr>
          <p:cNvPr id="268" name="Shape 60"/>
          <p:cNvSpPr/>
          <p:nvPr/>
        </p:nvSpPr>
        <p:spPr>
          <a:xfrm>
            <a:off x="12818880" y="7010280"/>
            <a:ext cx="190080" cy="190080"/>
          </a:xfrm>
          <a:prstGeom prst="roundRect">
            <a:avLst>
              <a:gd name="adj" fmla="val 20000"/>
            </a:avLst>
          </a:prstGeom>
          <a:solidFill>
            <a:srgbClr val="1baf7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9" name="Text 61"/>
          <p:cNvSpPr/>
          <p:nvPr/>
        </p:nvSpPr>
        <p:spPr>
          <a:xfrm>
            <a:off x="13104720" y="6915240"/>
            <a:ext cx="437364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94000"/>
          </a:bodyPr>
          <a:p>
            <a:pPr>
              <a:lnSpc>
                <a:spcPct val="105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P1i keepout + IR (</a:t>
            </a:r>
            <a:r>
              <a:rPr b="1" lang="ko-KR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현장 표준</a:t>
            </a:r>
            <a:r>
              <a:rPr b="1" lang="en-US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)</a:t>
            </a:r>
            <a:endParaRPr b="0" lang="en-US" sz="2400" spc="-1" strike="noStrike">
              <a:latin typeface="Noto Sans CJK KR"/>
            </a:endParaRPr>
          </a:p>
        </p:txBody>
      </p:sp>
      <p:sp>
        <p:nvSpPr>
          <p:cNvPr id="270" name="Shape 62"/>
          <p:cNvSpPr/>
          <p:nvPr/>
        </p:nvSpPr>
        <p:spPr>
          <a:xfrm>
            <a:off x="9054000" y="7391520"/>
            <a:ext cx="190080" cy="190080"/>
          </a:xfrm>
          <a:prstGeom prst="roundRect">
            <a:avLst>
              <a:gd name="adj" fmla="val 20000"/>
            </a:avLst>
          </a:prstGeom>
          <a:solidFill>
            <a:srgbClr val="eda1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1" name="Text 63"/>
          <p:cNvSpPr/>
          <p:nvPr/>
        </p:nvSpPr>
        <p:spPr>
          <a:xfrm>
            <a:off x="9339840" y="7308000"/>
            <a:ext cx="739656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95000"/>
          </a:bodyPr>
          <a:p>
            <a:pPr>
              <a:lnSpc>
                <a:spcPct val="105000"/>
              </a:lnSpc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P2 </a:t>
            </a:r>
            <a:r>
              <a:rPr b="0" lang="ko-KR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카메라 한 장씩 판정 </a:t>
            </a:r>
            <a:r>
              <a:rPr b="0" lang="en-US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(</a:t>
            </a:r>
            <a:r>
              <a:rPr b="0" lang="ko-KR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기억 없음</a:t>
            </a:r>
            <a:r>
              <a:rPr b="0" lang="en-US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, </a:t>
            </a:r>
            <a:r>
              <a:rPr b="0" lang="ko-KR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서빙로봇 방식 가정</a:t>
            </a:r>
            <a:r>
              <a:rPr b="0" lang="en-US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)</a:t>
            </a:r>
            <a:endParaRPr b="0" lang="en-US" sz="2400" spc="-1" strike="noStrike">
              <a:latin typeface="Noto Sans CJK KR"/>
            </a:endParaRPr>
          </a:p>
        </p:txBody>
      </p:sp>
      <p:sp>
        <p:nvSpPr>
          <p:cNvPr id="272" name="Shape 64"/>
          <p:cNvSpPr/>
          <p:nvPr/>
        </p:nvSpPr>
        <p:spPr>
          <a:xfrm>
            <a:off x="9054000" y="7772400"/>
            <a:ext cx="190080" cy="190080"/>
          </a:xfrm>
          <a:prstGeom prst="roundRect">
            <a:avLst>
              <a:gd name="adj" fmla="val 20000"/>
            </a:avLst>
          </a:prstGeom>
          <a:solidFill>
            <a:srgbClr val="6dbe6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3" name="Text 65"/>
          <p:cNvSpPr/>
          <p:nvPr/>
        </p:nvSpPr>
        <p:spPr>
          <a:xfrm>
            <a:off x="9339840" y="7677000"/>
            <a:ext cx="297324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94000"/>
          </a:bodyPr>
          <a:p>
            <a:pPr>
              <a:lnSpc>
                <a:spcPct val="105000"/>
              </a:lnSpc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P3 </a:t>
            </a:r>
            <a:r>
              <a:rPr b="0" lang="ko-KR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필터 </a:t>
            </a:r>
            <a:r>
              <a:rPr b="0" lang="en-US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+ odom </a:t>
            </a:r>
            <a:r>
              <a:rPr b="0" lang="ko-KR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기억</a:t>
            </a:r>
            <a:endParaRPr b="0" lang="en-US" sz="2400" spc="-1" strike="noStrike">
              <a:latin typeface="Noto Sans CJK KR"/>
            </a:endParaRPr>
          </a:p>
        </p:txBody>
      </p:sp>
      <p:sp>
        <p:nvSpPr>
          <p:cNvPr id="274" name="Shape 66"/>
          <p:cNvSpPr/>
          <p:nvPr/>
        </p:nvSpPr>
        <p:spPr>
          <a:xfrm>
            <a:off x="12271680" y="7772400"/>
            <a:ext cx="190080" cy="190080"/>
          </a:xfrm>
          <a:prstGeom prst="roundRect">
            <a:avLst>
              <a:gd name="adj" fmla="val 20000"/>
            </a:avLst>
          </a:prstGeom>
          <a:solidFill>
            <a:srgbClr val="0083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5" name="Text 67"/>
          <p:cNvSpPr/>
          <p:nvPr/>
        </p:nvSpPr>
        <p:spPr>
          <a:xfrm>
            <a:off x="12557520" y="7677000"/>
            <a:ext cx="260172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8000"/>
          </a:bodyPr>
          <a:p>
            <a:pPr>
              <a:lnSpc>
                <a:spcPct val="105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P3i </a:t>
            </a:r>
            <a:r>
              <a:rPr b="1" lang="ko-KR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제안 </a:t>
            </a:r>
            <a:r>
              <a:rPr b="1" lang="en-US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(P3 + IR)</a:t>
            </a:r>
            <a:endParaRPr b="0" lang="en-US" sz="2400" spc="-1" strike="noStrike">
              <a:latin typeface="Noto Sans CJK KR"/>
            </a:endParaRPr>
          </a:p>
        </p:txBody>
      </p:sp>
      <p:sp>
        <p:nvSpPr>
          <p:cNvPr id="276" name="Shape 68"/>
          <p:cNvSpPr/>
          <p:nvPr/>
        </p:nvSpPr>
        <p:spPr>
          <a:xfrm>
            <a:off x="914400" y="8344080"/>
            <a:ext cx="15087240" cy="1257120"/>
          </a:xfrm>
          <a:prstGeom prst="roundRect">
            <a:avLst>
              <a:gd name="adj" fmla="val 6061"/>
            </a:avLst>
          </a:prstGeom>
          <a:noFill/>
          <a:ln w="19050">
            <a:solidFill>
              <a:srgbClr val="1f232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7" name="Text 69"/>
          <p:cNvSpPr/>
          <p:nvPr/>
        </p:nvSpPr>
        <p:spPr>
          <a:xfrm>
            <a:off x="1125360" y="8541360"/>
            <a:ext cx="2746800" cy="118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>
              <a:lnSpc>
                <a:spcPct val="105000"/>
              </a:lnSpc>
              <a:buNone/>
              <a:tabLst>
                <a:tab algn="l" pos="0"/>
              </a:tabLst>
            </a:pPr>
            <a:r>
              <a:rPr b="1" lang="ko-KR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판정 기준 </a:t>
            </a:r>
            <a:endParaRPr b="0" lang="en-US" sz="2400" spc="-1" strike="noStrike">
              <a:latin typeface="Noto Sans CJK KR"/>
            </a:endParaRPr>
          </a:p>
          <a:p>
            <a:pPr>
              <a:lnSpc>
                <a:spcPct val="105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(</a:t>
            </a:r>
            <a:r>
              <a:rPr b="1" lang="ko-KR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실험 전에 고정</a:t>
            </a:r>
            <a:r>
              <a:rPr b="1" lang="en-US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)</a:t>
            </a:r>
            <a:endParaRPr b="0" lang="en-US" sz="2400" spc="-1" strike="noStrike">
              <a:latin typeface="Noto Sans CJK KR"/>
            </a:endParaRPr>
          </a:p>
        </p:txBody>
      </p:sp>
      <p:sp>
        <p:nvSpPr>
          <p:cNvPr id="278" name="Text 70"/>
          <p:cNvSpPr/>
          <p:nvPr/>
        </p:nvSpPr>
        <p:spPr>
          <a:xfrm>
            <a:off x="4083480" y="8541360"/>
            <a:ext cx="11075400" cy="86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>
              <a:lnSpc>
                <a:spcPct val="105000"/>
              </a:lnSpc>
              <a:buNone/>
              <a:tabLst>
                <a:tab algn="l" pos="0"/>
              </a:tabLst>
            </a:pPr>
            <a:r>
              <a:rPr b="0" lang="ko-KR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주 지표 </a:t>
            </a:r>
            <a:r>
              <a:rPr b="0" lang="en-US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= </a:t>
            </a:r>
            <a:r>
              <a:rPr b="1" lang="ko-KR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안전 실패율 </a:t>
            </a:r>
            <a:r>
              <a:rPr b="0" lang="en-US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(</a:t>
            </a:r>
            <a:r>
              <a:rPr b="0" lang="ko-KR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추락 </a:t>
            </a:r>
            <a:r>
              <a:rPr b="0" lang="en-US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+ </a:t>
            </a:r>
            <a:r>
              <a:rPr b="0" lang="ko-KR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걸침 </a:t>
            </a:r>
            <a:r>
              <a:rPr b="0" lang="en-US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· </a:t>
            </a:r>
            <a:r>
              <a:rPr b="0" lang="ko-KR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걸침</a:t>
            </a:r>
            <a:r>
              <a:rPr b="0" lang="en-US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: </a:t>
            </a:r>
            <a:r>
              <a:rPr b="0" lang="ko-KR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로봇 중심이 가장자리 </a:t>
            </a:r>
            <a:r>
              <a:rPr b="0" lang="en-US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15 cm </a:t>
            </a:r>
            <a:r>
              <a:rPr b="0" lang="ko-KR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안까지 감</a:t>
            </a:r>
            <a:r>
              <a:rPr b="0" lang="en-US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)</a:t>
            </a:r>
            <a:endParaRPr b="0" lang="en-US" sz="2400" spc="-1" strike="noStrike">
              <a:latin typeface="Noto Sans CJK KR"/>
            </a:endParaRPr>
          </a:p>
          <a:p>
            <a:pPr>
              <a:lnSpc>
                <a:spcPct val="105000"/>
              </a:lnSpc>
              <a:buNone/>
              <a:tabLst>
                <a:tab algn="l" pos="0"/>
              </a:tabLst>
            </a:pPr>
            <a:r>
              <a:rPr b="0" lang="ko-KR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부 지표 </a:t>
            </a:r>
            <a:r>
              <a:rPr b="0" lang="en-US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= </a:t>
            </a:r>
            <a:r>
              <a:rPr b="0" lang="ko-KR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도착률</a:t>
            </a:r>
            <a:endParaRPr b="0" lang="en-US" sz="2400" spc="-1" strike="noStrike">
              <a:latin typeface="Noto Sans CJK KR"/>
            </a:endParaRPr>
          </a:p>
          <a:p>
            <a:pPr>
              <a:lnSpc>
                <a:spcPct val="105000"/>
              </a:lnSpc>
              <a:buNone/>
              <a:tabLst>
                <a:tab algn="l" pos="0"/>
              </a:tabLst>
            </a:pPr>
            <a:endParaRPr b="0" lang="en-US" sz="2400" spc="-1" strike="noStrike">
              <a:latin typeface="Noto Sans CJK KR"/>
            </a:endParaRPr>
          </a:p>
        </p:txBody>
      </p:sp>
      <p:sp>
        <p:nvSpPr>
          <p:cNvPr id="279" name="Text 73"/>
          <p:cNvSpPr/>
          <p:nvPr/>
        </p:nvSpPr>
        <p:spPr>
          <a:xfrm>
            <a:off x="16535520" y="9296280"/>
            <a:ext cx="83772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97000"/>
          </a:bodyPr>
          <a:p>
            <a:pPr algn="r">
              <a:lnSpc>
                <a:spcPct val="11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5b6470"/>
                </a:solidFill>
                <a:latin typeface="Pretendard"/>
                <a:ea typeface="Pretendard"/>
              </a:rPr>
              <a:t>5</a:t>
            </a:r>
            <a:endParaRPr b="0" lang="en-US" sz="1800" spc="-1" strike="noStrike"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Text 0"/>
          <p:cNvSpPr/>
          <p:nvPr/>
        </p:nvSpPr>
        <p:spPr>
          <a:xfrm>
            <a:off x="914400" y="685800"/>
            <a:ext cx="942948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97000"/>
          </a:bodyPr>
          <a:p>
            <a:pPr>
              <a:lnSpc>
                <a:spcPct val="110000"/>
              </a:lnSpc>
              <a:buNone/>
              <a:tabLst>
                <a:tab algn="l" pos="0"/>
              </a:tabLst>
            </a:pPr>
            <a:r>
              <a:rPr b="1" lang="en-US" sz="1800" spc="250" strike="noStrike">
                <a:solidFill>
                  <a:srgbClr val="5b6470"/>
                </a:solidFill>
                <a:latin typeface="Pretendard"/>
                <a:ea typeface="Pretendard"/>
              </a:rPr>
              <a:t>HYPOTHESIS</a:t>
            </a:r>
            <a:endParaRPr b="0" lang="en-US" sz="1800" spc="-1" strike="noStrike">
              <a:latin typeface="Noto Sans CJK KR"/>
            </a:endParaRPr>
          </a:p>
        </p:txBody>
      </p:sp>
      <p:sp>
        <p:nvSpPr>
          <p:cNvPr id="281" name="Text 1"/>
          <p:cNvSpPr/>
          <p:nvPr/>
        </p:nvSpPr>
        <p:spPr>
          <a:xfrm>
            <a:off x="914400" y="1066680"/>
            <a:ext cx="18104760" cy="102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>
              <a:lnSpc>
                <a:spcPct val="109000"/>
              </a:lnSpc>
              <a:buNone/>
              <a:tabLst>
                <a:tab algn="l" pos="0"/>
              </a:tabLst>
            </a:pPr>
            <a:r>
              <a:rPr b="1" lang="ko-KR" sz="5400" spc="-109" strike="noStrike">
                <a:solidFill>
                  <a:srgbClr val="1f2328"/>
                </a:solidFill>
                <a:latin typeface="Pretendard"/>
                <a:ea typeface="Pretendard"/>
              </a:rPr>
              <a:t>검증할 가설</a:t>
            </a:r>
            <a:r>
              <a:rPr b="1" lang="en-US" sz="5400" spc="-109" strike="noStrike">
                <a:solidFill>
                  <a:srgbClr val="1f2328"/>
                </a:solidFill>
                <a:latin typeface="Pretendard"/>
                <a:ea typeface="Pretendard"/>
              </a:rPr>
              <a:t>: </a:t>
            </a:r>
            <a:r>
              <a:rPr b="1" lang="ko-KR" sz="5400" spc="-109" strike="noStrike">
                <a:solidFill>
                  <a:srgbClr val="1f2328"/>
                </a:solidFill>
                <a:latin typeface="Pretendard"/>
                <a:ea typeface="Pretendard"/>
              </a:rPr>
              <a:t>악조건에서 현장 표준보다 안전하다</a:t>
            </a:r>
            <a:endParaRPr b="0" lang="en-US" sz="5400" spc="-1" strike="noStrike">
              <a:latin typeface="Noto Sans CJK KR"/>
            </a:endParaRPr>
          </a:p>
        </p:txBody>
      </p:sp>
      <p:sp>
        <p:nvSpPr>
          <p:cNvPr id="282" name="Shape 2"/>
          <p:cNvSpPr/>
          <p:nvPr/>
        </p:nvSpPr>
        <p:spPr>
          <a:xfrm>
            <a:off x="914400" y="2400480"/>
            <a:ext cx="9524520" cy="3885840"/>
          </a:xfrm>
          <a:prstGeom prst="roundRect">
            <a:avLst>
              <a:gd name="adj" fmla="val 1961"/>
            </a:avLst>
          </a:prstGeom>
          <a:noFill/>
          <a:ln w="38100">
            <a:solidFill>
              <a:srgbClr val="0083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3" name="Text 3"/>
          <p:cNvSpPr/>
          <p:nvPr/>
        </p:nvSpPr>
        <p:spPr>
          <a:xfrm>
            <a:off x="1219320" y="2666880"/>
            <a:ext cx="980676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95000"/>
          </a:bodyPr>
          <a:p>
            <a:pPr>
              <a:lnSpc>
                <a:spcPct val="105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8300"/>
                </a:solidFill>
                <a:latin typeface="Pretendard"/>
                <a:ea typeface="Pretendard"/>
              </a:rPr>
              <a:t>H1 (</a:t>
            </a:r>
            <a:r>
              <a:rPr b="1" lang="ko-KR" sz="2400" spc="-1" strike="noStrike">
                <a:solidFill>
                  <a:srgbClr val="008300"/>
                </a:solidFill>
                <a:latin typeface="Pretendard"/>
                <a:ea typeface="Pretendard"/>
              </a:rPr>
              <a:t>주 가설</a:t>
            </a:r>
            <a:r>
              <a:rPr b="1" lang="en-US" sz="2400" spc="-1" strike="noStrike">
                <a:solidFill>
                  <a:srgbClr val="008300"/>
                </a:solidFill>
                <a:latin typeface="Pretendard"/>
                <a:ea typeface="Pretendard"/>
              </a:rPr>
              <a:t>)</a:t>
            </a:r>
            <a:endParaRPr b="0" lang="en-US" sz="2400" spc="-1" strike="noStrike">
              <a:latin typeface="Noto Sans CJK KR"/>
            </a:endParaRPr>
          </a:p>
        </p:txBody>
      </p:sp>
      <p:sp>
        <p:nvSpPr>
          <p:cNvPr id="284" name="Text 4"/>
          <p:cNvSpPr/>
          <p:nvPr/>
        </p:nvSpPr>
        <p:spPr>
          <a:xfrm>
            <a:off x="1219320" y="3143160"/>
            <a:ext cx="9182520" cy="175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>
              <a:lnSpc>
                <a:spcPct val="103000"/>
              </a:lnSpc>
              <a:buNone/>
              <a:tabLst>
                <a:tab algn="l" pos="0"/>
              </a:tabLst>
            </a:pPr>
            <a:r>
              <a:rPr b="1" lang="ko-KR" sz="3600" spc="-38" strike="noStrike">
                <a:solidFill>
                  <a:srgbClr val="1f2328"/>
                </a:solidFill>
                <a:latin typeface="Pretendard"/>
                <a:ea typeface="Pretendard"/>
              </a:rPr>
              <a:t>악조건에서 제안</a:t>
            </a:r>
            <a:r>
              <a:rPr b="1" lang="en-US" sz="3600" spc="-38" strike="noStrike">
                <a:solidFill>
                  <a:srgbClr val="1f2328"/>
                </a:solidFill>
                <a:latin typeface="Pretendard"/>
                <a:ea typeface="Pretendard"/>
              </a:rPr>
              <a:t>(P3i)</a:t>
            </a:r>
            <a:r>
              <a:rPr b="1" lang="ko-KR" sz="3600" spc="-38" strike="noStrike">
                <a:solidFill>
                  <a:srgbClr val="1f2328"/>
                </a:solidFill>
                <a:latin typeface="Pretendard"/>
                <a:ea typeface="Pretendard"/>
              </a:rPr>
              <a:t>의 안전 실패율이 현장 표준</a:t>
            </a:r>
            <a:r>
              <a:rPr b="1" lang="en-US" sz="3600" spc="-38" strike="noStrike">
                <a:solidFill>
                  <a:srgbClr val="1f2328"/>
                </a:solidFill>
                <a:latin typeface="Pretendard"/>
                <a:ea typeface="Pretendard"/>
              </a:rPr>
              <a:t>(P1i)</a:t>
            </a:r>
            <a:r>
              <a:rPr b="1" lang="ko-KR" sz="3600" spc="-38" strike="noStrike">
                <a:solidFill>
                  <a:srgbClr val="1f2328"/>
                </a:solidFill>
                <a:latin typeface="Pretendard"/>
                <a:ea typeface="Pretendard"/>
              </a:rPr>
              <a:t>보다 유의</a:t>
            </a:r>
            <a:r>
              <a:rPr b="1" lang="ko-KR" sz="3600" spc="-38" strike="noStrike">
                <a:solidFill>
                  <a:srgbClr val="1f2328"/>
                </a:solidFill>
                <a:latin typeface="Pretendard"/>
                <a:ea typeface="Pretendard"/>
              </a:rPr>
              <a:t>미하게 낮고</a:t>
            </a:r>
            <a:r>
              <a:rPr b="1" lang="en-US" sz="3600" spc="-38" strike="noStrike">
                <a:solidFill>
                  <a:srgbClr val="1f2328"/>
                </a:solidFill>
                <a:latin typeface="Pretendard"/>
                <a:ea typeface="Pretendard"/>
              </a:rPr>
              <a:t>, </a:t>
            </a:r>
            <a:r>
              <a:rPr b="1" lang="ko-KR" sz="3600" spc="-38" strike="noStrike">
                <a:solidFill>
                  <a:srgbClr val="1f2328"/>
                </a:solidFill>
                <a:latin typeface="Pretendard"/>
                <a:ea typeface="Pretendard"/>
              </a:rPr>
              <a:t>도착률은 </a:t>
            </a:r>
            <a:r>
              <a:rPr b="1" lang="en-US" sz="3600" spc="-38" strike="noStrike">
                <a:solidFill>
                  <a:srgbClr val="1f2328"/>
                </a:solidFill>
                <a:latin typeface="Pretendard"/>
                <a:ea typeface="Pretendard"/>
              </a:rPr>
              <a:t>10 %p </a:t>
            </a:r>
            <a:r>
              <a:rPr b="1" lang="ko-KR" sz="3600" spc="-38" strike="noStrike">
                <a:solidFill>
                  <a:srgbClr val="1f2328"/>
                </a:solidFill>
                <a:latin typeface="Pretendard"/>
                <a:ea typeface="Pretendard"/>
              </a:rPr>
              <a:t>넘게 떨어지지 않는다</a:t>
            </a:r>
            <a:endParaRPr b="0" lang="en-US" sz="3600" spc="-1" strike="noStrike">
              <a:latin typeface="Noto Sans CJK KR"/>
            </a:endParaRPr>
          </a:p>
        </p:txBody>
      </p:sp>
      <p:sp>
        <p:nvSpPr>
          <p:cNvPr id="285" name="Shape 5"/>
          <p:cNvSpPr/>
          <p:nvPr/>
        </p:nvSpPr>
        <p:spPr>
          <a:xfrm>
            <a:off x="1219320" y="5505480"/>
            <a:ext cx="8915040" cy="18720"/>
          </a:xfrm>
          <a:prstGeom prst="rect">
            <a:avLst/>
          </a:prstGeom>
          <a:solidFill>
            <a:srgbClr val="e3e6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6" name="Text 6"/>
          <p:cNvSpPr/>
          <p:nvPr/>
        </p:nvSpPr>
        <p:spPr>
          <a:xfrm>
            <a:off x="1219320" y="5638680"/>
            <a:ext cx="130356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Autofit/>
          </a:bodyPr>
          <a:p>
            <a:pPr>
              <a:lnSpc>
                <a:spcPct val="105000"/>
              </a:lnSpc>
              <a:buNone/>
              <a:tabLst>
                <a:tab algn="l" pos="0"/>
              </a:tabLst>
            </a:pPr>
            <a:r>
              <a:rPr b="1" lang="ko-KR" sz="2300" spc="-1" strike="noStrike">
                <a:solidFill>
                  <a:srgbClr val="5b6470"/>
                </a:solidFill>
                <a:latin typeface="Pretendard"/>
                <a:ea typeface="Pretendard"/>
              </a:rPr>
              <a:t>검증 방법</a:t>
            </a:r>
            <a:endParaRPr b="0" lang="en-US" sz="2300" spc="-1" strike="noStrike">
              <a:latin typeface="Noto Sans CJK KR"/>
            </a:endParaRPr>
          </a:p>
        </p:txBody>
      </p:sp>
      <p:sp>
        <p:nvSpPr>
          <p:cNvPr id="287" name="Text 7"/>
          <p:cNvSpPr/>
          <p:nvPr/>
        </p:nvSpPr>
        <p:spPr>
          <a:xfrm>
            <a:off x="2550960" y="5638680"/>
            <a:ext cx="545652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95000"/>
          </a:bodyPr>
          <a:p>
            <a:pPr>
              <a:lnSpc>
                <a:spcPct val="105000"/>
              </a:lnSpc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5</a:t>
            </a:r>
            <a:r>
              <a:rPr b="0" lang="ko-KR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번 판정 기준으로 같은 시드끼리 비교</a:t>
            </a:r>
            <a:endParaRPr b="0" lang="en-US" sz="2400" spc="-1" strike="noStrike">
              <a:latin typeface="Noto Sans CJK KR"/>
            </a:endParaRPr>
          </a:p>
        </p:txBody>
      </p:sp>
      <p:sp>
        <p:nvSpPr>
          <p:cNvPr id="288" name="Shape 8"/>
          <p:cNvSpPr/>
          <p:nvPr/>
        </p:nvSpPr>
        <p:spPr>
          <a:xfrm>
            <a:off x="10667880" y="2400480"/>
            <a:ext cx="6705360" cy="3885840"/>
          </a:xfrm>
          <a:prstGeom prst="roundRect">
            <a:avLst>
              <a:gd name="adj" fmla="val 1961"/>
            </a:avLst>
          </a:prstGeom>
          <a:noFill/>
          <a:ln w="19050">
            <a:solidFill>
              <a:srgbClr val="c3c8ce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9" name="Text 9"/>
          <p:cNvSpPr/>
          <p:nvPr/>
        </p:nvSpPr>
        <p:spPr>
          <a:xfrm>
            <a:off x="10953720" y="2610000"/>
            <a:ext cx="674712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95000"/>
          </a:bodyPr>
          <a:p>
            <a:pPr>
              <a:lnSpc>
                <a:spcPct val="105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5b6470"/>
                </a:solidFill>
                <a:latin typeface="Pretendard"/>
                <a:ea typeface="Pretendard"/>
              </a:rPr>
              <a:t>H2</a:t>
            </a:r>
            <a:endParaRPr b="0" lang="en-US" sz="2400" spc="-1" strike="noStrike">
              <a:latin typeface="Noto Sans CJK KR"/>
            </a:endParaRPr>
          </a:p>
        </p:txBody>
      </p:sp>
      <p:sp>
        <p:nvSpPr>
          <p:cNvPr id="290" name="Text 10"/>
          <p:cNvSpPr/>
          <p:nvPr/>
        </p:nvSpPr>
        <p:spPr>
          <a:xfrm>
            <a:off x="10953720" y="3086280"/>
            <a:ext cx="6317640" cy="102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99000"/>
          </a:bodyPr>
          <a:p>
            <a:pPr>
              <a:lnSpc>
                <a:spcPct val="108000"/>
              </a:lnSpc>
              <a:buNone/>
              <a:tabLst>
                <a:tab algn="l" pos="0"/>
              </a:tabLst>
            </a:pPr>
            <a:r>
              <a:rPr b="0" lang="ko-KR" sz="3000" spc="-32" strike="noStrike">
                <a:solidFill>
                  <a:srgbClr val="1f2328"/>
                </a:solidFill>
                <a:latin typeface="Pretendard"/>
                <a:ea typeface="Pretendard"/>
              </a:rPr>
              <a:t>평상시에는 현장 표준과 제안 사이에 차이가 없다</a:t>
            </a:r>
            <a:endParaRPr b="0" lang="en-US" sz="3000" spc="-1" strike="noStrike">
              <a:latin typeface="Noto Sans CJK KR"/>
            </a:endParaRPr>
          </a:p>
        </p:txBody>
      </p:sp>
      <p:sp>
        <p:nvSpPr>
          <p:cNvPr id="291" name="Shape 11"/>
          <p:cNvSpPr/>
          <p:nvPr/>
        </p:nvSpPr>
        <p:spPr>
          <a:xfrm>
            <a:off x="10953720" y="5562720"/>
            <a:ext cx="6133680" cy="18720"/>
          </a:xfrm>
          <a:prstGeom prst="rect">
            <a:avLst/>
          </a:prstGeom>
          <a:solidFill>
            <a:srgbClr val="e3e6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2" name="Text 12"/>
          <p:cNvSpPr/>
          <p:nvPr/>
        </p:nvSpPr>
        <p:spPr>
          <a:xfrm>
            <a:off x="10953720" y="5695920"/>
            <a:ext cx="141444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95000"/>
          </a:bodyPr>
          <a:p>
            <a:pPr>
              <a:lnSpc>
                <a:spcPct val="105000"/>
              </a:lnSpc>
              <a:buNone/>
              <a:tabLst>
                <a:tab algn="l" pos="0"/>
              </a:tabLst>
            </a:pPr>
            <a:r>
              <a:rPr b="1" lang="ko-KR" sz="2400" spc="-1" strike="noStrike">
                <a:solidFill>
                  <a:srgbClr val="5b6470"/>
                </a:solidFill>
                <a:latin typeface="Pretendard"/>
                <a:ea typeface="Pretendard"/>
              </a:rPr>
              <a:t>검증 방법</a:t>
            </a:r>
            <a:endParaRPr b="0" lang="en-US" sz="2400" spc="-1" strike="noStrike">
              <a:latin typeface="Noto Sans CJK KR"/>
            </a:endParaRPr>
          </a:p>
        </p:txBody>
      </p:sp>
      <p:sp>
        <p:nvSpPr>
          <p:cNvPr id="293" name="Text 13"/>
          <p:cNvSpPr/>
          <p:nvPr/>
        </p:nvSpPr>
        <p:spPr>
          <a:xfrm>
            <a:off x="12368520" y="5695920"/>
            <a:ext cx="221976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95000"/>
          </a:bodyPr>
          <a:p>
            <a:pPr>
              <a:lnSpc>
                <a:spcPct val="105000"/>
              </a:lnSpc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S1 </a:t>
            </a:r>
            <a:r>
              <a:rPr b="0" lang="ko-KR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평상시 비교</a:t>
            </a:r>
            <a:endParaRPr b="0" lang="en-US" sz="2400" spc="-1" strike="noStrike">
              <a:latin typeface="Noto Sans CJK KR"/>
            </a:endParaRPr>
          </a:p>
        </p:txBody>
      </p:sp>
      <p:sp>
        <p:nvSpPr>
          <p:cNvPr id="294" name="Shape 14"/>
          <p:cNvSpPr/>
          <p:nvPr/>
        </p:nvSpPr>
        <p:spPr>
          <a:xfrm>
            <a:off x="914400" y="6515280"/>
            <a:ext cx="9524520" cy="2552400"/>
          </a:xfrm>
          <a:prstGeom prst="roundRect">
            <a:avLst>
              <a:gd name="adj" fmla="val 2985"/>
            </a:avLst>
          </a:prstGeom>
          <a:noFill/>
          <a:ln w="19050">
            <a:solidFill>
              <a:srgbClr val="c3c8ce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5" name="Text 15"/>
          <p:cNvSpPr/>
          <p:nvPr/>
        </p:nvSpPr>
        <p:spPr>
          <a:xfrm>
            <a:off x="1200240" y="6724800"/>
            <a:ext cx="984852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95000"/>
          </a:bodyPr>
          <a:p>
            <a:pPr>
              <a:lnSpc>
                <a:spcPct val="105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5b6470"/>
                </a:solidFill>
                <a:latin typeface="Pretendard"/>
                <a:ea typeface="Pretendard"/>
              </a:rPr>
              <a:t>H3</a:t>
            </a:r>
            <a:endParaRPr b="0" lang="en-US" sz="2400" spc="-1" strike="noStrike">
              <a:latin typeface="Noto Sans CJK KR"/>
            </a:endParaRPr>
          </a:p>
        </p:txBody>
      </p:sp>
      <p:sp>
        <p:nvSpPr>
          <p:cNvPr id="296" name="Text 16"/>
          <p:cNvSpPr/>
          <p:nvPr/>
        </p:nvSpPr>
        <p:spPr>
          <a:xfrm>
            <a:off x="1200240" y="7201080"/>
            <a:ext cx="9221760" cy="102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99000"/>
          </a:bodyPr>
          <a:p>
            <a:pPr>
              <a:lnSpc>
                <a:spcPct val="108000"/>
              </a:lnSpc>
              <a:buNone/>
              <a:tabLst>
                <a:tab algn="l" pos="0"/>
              </a:tabLst>
            </a:pPr>
            <a:r>
              <a:rPr b="0" lang="ko-KR" sz="3000" spc="-32" strike="noStrike">
                <a:solidFill>
                  <a:srgbClr val="1f2328"/>
                </a:solidFill>
                <a:latin typeface="Pretendard"/>
                <a:ea typeface="Pretendard"/>
              </a:rPr>
              <a:t>낭떠러지 기억은 </a:t>
            </a:r>
            <a:r>
              <a:rPr b="0" lang="en-US" sz="3000" spc="-32" strike="noStrike">
                <a:solidFill>
                  <a:srgbClr val="1f2328"/>
                </a:solidFill>
                <a:latin typeface="Pretendard"/>
                <a:ea typeface="Pretendard"/>
              </a:rPr>
              <a:t>map</a:t>
            </a:r>
            <a:r>
              <a:rPr b="0" lang="ko-KR" sz="3000" spc="-32" strike="noStrike">
                <a:solidFill>
                  <a:srgbClr val="1f2328"/>
                </a:solidFill>
                <a:latin typeface="Pretendard"/>
                <a:ea typeface="Pretendard"/>
              </a:rPr>
              <a:t>이 아닌 </a:t>
            </a:r>
            <a:r>
              <a:rPr b="0" lang="en-US" sz="3000" spc="-32" strike="noStrike">
                <a:solidFill>
                  <a:srgbClr val="1f2328"/>
                </a:solidFill>
                <a:latin typeface="Pretendard"/>
                <a:ea typeface="Pretendard"/>
              </a:rPr>
              <a:t>odom </a:t>
            </a:r>
            <a:r>
              <a:rPr b="0" lang="ko-KR" sz="3000" spc="-32" strike="noStrike">
                <a:solidFill>
                  <a:srgbClr val="1f2328"/>
                </a:solidFill>
                <a:latin typeface="Pretendard"/>
                <a:ea typeface="Pretendard"/>
              </a:rPr>
              <a:t>좌표에 둬야 위치 착각 때도 어긋나지 않는다</a:t>
            </a:r>
            <a:endParaRPr b="0" lang="en-US" sz="3000" spc="-1" strike="noStrike">
              <a:latin typeface="Noto Sans CJK KR"/>
            </a:endParaRPr>
          </a:p>
        </p:txBody>
      </p:sp>
      <p:sp>
        <p:nvSpPr>
          <p:cNvPr id="297" name="Shape 17"/>
          <p:cNvSpPr/>
          <p:nvPr/>
        </p:nvSpPr>
        <p:spPr>
          <a:xfrm>
            <a:off x="1200240" y="8344080"/>
            <a:ext cx="8953200" cy="18720"/>
          </a:xfrm>
          <a:prstGeom prst="rect">
            <a:avLst/>
          </a:prstGeom>
          <a:solidFill>
            <a:srgbClr val="e3e6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8" name="Text 18"/>
          <p:cNvSpPr/>
          <p:nvPr/>
        </p:nvSpPr>
        <p:spPr>
          <a:xfrm>
            <a:off x="1200240" y="8477280"/>
            <a:ext cx="135036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95000"/>
          </a:bodyPr>
          <a:p>
            <a:pPr>
              <a:lnSpc>
                <a:spcPct val="105000"/>
              </a:lnSpc>
              <a:buNone/>
              <a:tabLst>
                <a:tab algn="l" pos="0"/>
              </a:tabLst>
            </a:pPr>
            <a:r>
              <a:rPr b="1" lang="ko-KR" sz="2400" spc="-1" strike="noStrike">
                <a:solidFill>
                  <a:srgbClr val="5b6470"/>
                </a:solidFill>
                <a:latin typeface="Pretendard"/>
                <a:ea typeface="Pretendard"/>
              </a:rPr>
              <a:t>검증 방법</a:t>
            </a:r>
            <a:endParaRPr b="0" lang="en-US" sz="2400" spc="-1" strike="noStrike">
              <a:latin typeface="Noto Sans CJK KR"/>
            </a:endParaRPr>
          </a:p>
        </p:txBody>
      </p:sp>
      <p:sp>
        <p:nvSpPr>
          <p:cNvPr id="299" name="Text 19"/>
          <p:cNvSpPr/>
          <p:nvPr/>
        </p:nvSpPr>
        <p:spPr>
          <a:xfrm>
            <a:off x="2573640" y="8477280"/>
            <a:ext cx="730800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94000"/>
          </a:bodyPr>
          <a:p>
            <a:pPr>
              <a:lnSpc>
                <a:spcPct val="105000"/>
              </a:lnSpc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S3 </a:t>
            </a:r>
            <a:r>
              <a:rPr b="0" lang="ko-KR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위치 착각에서 </a:t>
            </a:r>
            <a:r>
              <a:rPr b="0" lang="en-US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odom </a:t>
            </a:r>
            <a:r>
              <a:rPr b="0" lang="ko-KR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기억</a:t>
            </a:r>
            <a:r>
              <a:rPr b="0" lang="en-US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(P3) vs map </a:t>
            </a:r>
            <a:r>
              <a:rPr b="0" lang="ko-KR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기억</a:t>
            </a:r>
            <a:r>
              <a:rPr b="0" lang="en-US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(P3m)0</a:t>
            </a:r>
            <a:endParaRPr b="0" lang="en-US" sz="2400" spc="-1" strike="noStrike">
              <a:latin typeface="Noto Sans CJK KR"/>
            </a:endParaRPr>
          </a:p>
        </p:txBody>
      </p:sp>
      <p:sp>
        <p:nvSpPr>
          <p:cNvPr id="300" name="Shape 20"/>
          <p:cNvSpPr/>
          <p:nvPr/>
        </p:nvSpPr>
        <p:spPr>
          <a:xfrm>
            <a:off x="10667880" y="6515280"/>
            <a:ext cx="6705360" cy="2552400"/>
          </a:xfrm>
          <a:prstGeom prst="roundRect">
            <a:avLst>
              <a:gd name="adj" fmla="val 2985"/>
            </a:avLst>
          </a:prstGeom>
          <a:noFill/>
          <a:ln w="19050">
            <a:solidFill>
              <a:srgbClr val="c3c8ce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1" name="Text 21"/>
          <p:cNvSpPr/>
          <p:nvPr/>
        </p:nvSpPr>
        <p:spPr>
          <a:xfrm>
            <a:off x="10953720" y="6724800"/>
            <a:ext cx="674712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95000"/>
          </a:bodyPr>
          <a:p>
            <a:pPr>
              <a:lnSpc>
                <a:spcPct val="105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5b6470"/>
                </a:solidFill>
                <a:latin typeface="Pretendard"/>
                <a:ea typeface="Pretendard"/>
              </a:rPr>
              <a:t>H4</a:t>
            </a:r>
            <a:endParaRPr b="0" lang="en-US" sz="2400" spc="-1" strike="noStrike">
              <a:latin typeface="Noto Sans CJK KR"/>
            </a:endParaRPr>
          </a:p>
        </p:txBody>
      </p:sp>
      <p:sp>
        <p:nvSpPr>
          <p:cNvPr id="302" name="Text 22"/>
          <p:cNvSpPr/>
          <p:nvPr/>
        </p:nvSpPr>
        <p:spPr>
          <a:xfrm>
            <a:off x="10953720" y="7201080"/>
            <a:ext cx="674712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97000"/>
          </a:bodyPr>
          <a:p>
            <a:pPr>
              <a:lnSpc>
                <a:spcPct val="108000"/>
              </a:lnSpc>
              <a:buNone/>
              <a:tabLst>
                <a:tab algn="l" pos="0"/>
              </a:tabLst>
            </a:pPr>
            <a:r>
              <a:rPr b="0" lang="ko-KR" sz="3000" spc="-32" strike="noStrike">
                <a:solidFill>
                  <a:srgbClr val="1f2328"/>
                </a:solidFill>
                <a:latin typeface="Pretendard"/>
                <a:ea typeface="Pretendard"/>
              </a:rPr>
              <a:t>필터와 기억은 각각 따로 필요하다</a:t>
            </a:r>
            <a:endParaRPr b="0" lang="en-US" sz="3000" spc="-1" strike="noStrike">
              <a:latin typeface="Noto Sans CJK KR"/>
            </a:endParaRPr>
          </a:p>
        </p:txBody>
      </p:sp>
      <p:sp>
        <p:nvSpPr>
          <p:cNvPr id="303" name="Shape 23"/>
          <p:cNvSpPr/>
          <p:nvPr/>
        </p:nvSpPr>
        <p:spPr>
          <a:xfrm>
            <a:off x="10953720" y="8344080"/>
            <a:ext cx="6133680" cy="18720"/>
          </a:xfrm>
          <a:prstGeom prst="rect">
            <a:avLst/>
          </a:prstGeom>
          <a:solidFill>
            <a:srgbClr val="e3e6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04" name="Text 24"/>
          <p:cNvSpPr/>
          <p:nvPr/>
        </p:nvSpPr>
        <p:spPr>
          <a:xfrm>
            <a:off x="10953720" y="8477280"/>
            <a:ext cx="141444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95000"/>
          </a:bodyPr>
          <a:p>
            <a:pPr>
              <a:lnSpc>
                <a:spcPct val="105000"/>
              </a:lnSpc>
              <a:buNone/>
              <a:tabLst>
                <a:tab algn="l" pos="0"/>
              </a:tabLst>
            </a:pPr>
            <a:r>
              <a:rPr b="1" lang="ko-KR" sz="2400" spc="-1" strike="noStrike">
                <a:solidFill>
                  <a:srgbClr val="5b6470"/>
                </a:solidFill>
                <a:latin typeface="Pretendard"/>
                <a:ea typeface="Pretendard"/>
              </a:rPr>
              <a:t>검증 방법</a:t>
            </a:r>
            <a:endParaRPr b="0" lang="en-US" sz="2400" spc="-1" strike="noStrike">
              <a:latin typeface="Noto Sans CJK KR"/>
            </a:endParaRPr>
          </a:p>
        </p:txBody>
      </p:sp>
      <p:sp>
        <p:nvSpPr>
          <p:cNvPr id="305" name="Text 25"/>
          <p:cNvSpPr/>
          <p:nvPr/>
        </p:nvSpPr>
        <p:spPr>
          <a:xfrm>
            <a:off x="12313080" y="8477280"/>
            <a:ext cx="500364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94000"/>
          </a:bodyPr>
          <a:p>
            <a:pPr>
              <a:lnSpc>
                <a:spcPct val="105000"/>
              </a:lnSpc>
              <a:buNone/>
              <a:tabLst>
                <a:tab algn="l" pos="0"/>
              </a:tabLst>
            </a:pPr>
            <a:r>
              <a:rPr b="0" lang="ko-KR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필터 유무 </a:t>
            </a:r>
            <a:r>
              <a:rPr b="0" lang="en-US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× </a:t>
            </a:r>
            <a:r>
              <a:rPr b="0" lang="ko-KR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기억 유무 </a:t>
            </a:r>
            <a:r>
              <a:rPr b="0" lang="en-US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2×2 </a:t>
            </a:r>
            <a:r>
              <a:rPr b="0" lang="ko-KR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비교 </a:t>
            </a:r>
            <a:r>
              <a:rPr b="0" lang="en-US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(7</a:t>
            </a:r>
            <a:r>
              <a:rPr b="0" lang="ko-KR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번</a:t>
            </a:r>
            <a:r>
              <a:rPr b="0" lang="en-US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)</a:t>
            </a:r>
            <a:endParaRPr b="0" lang="en-US" sz="2400" spc="-1" strike="noStrike">
              <a:latin typeface="Noto Sans CJK KR"/>
            </a:endParaRPr>
          </a:p>
        </p:txBody>
      </p:sp>
      <p:sp>
        <p:nvSpPr>
          <p:cNvPr id="306" name="Text 26"/>
          <p:cNvSpPr/>
          <p:nvPr/>
        </p:nvSpPr>
        <p:spPr>
          <a:xfrm>
            <a:off x="16535520" y="9296280"/>
            <a:ext cx="83772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97000"/>
          </a:bodyPr>
          <a:p>
            <a:pPr algn="r">
              <a:lnSpc>
                <a:spcPct val="11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5b6470"/>
                </a:solidFill>
                <a:latin typeface="Pretendard"/>
                <a:ea typeface="Pretendard"/>
              </a:rPr>
              <a:t>6</a:t>
            </a:r>
            <a:endParaRPr b="0" lang="en-US" sz="1800" spc="-1" strike="noStrike"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Text 0"/>
          <p:cNvSpPr/>
          <p:nvPr/>
        </p:nvSpPr>
        <p:spPr>
          <a:xfrm>
            <a:off x="914400" y="685800"/>
            <a:ext cx="942948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97000"/>
          </a:bodyPr>
          <a:p>
            <a:pPr>
              <a:lnSpc>
                <a:spcPct val="110000"/>
              </a:lnSpc>
              <a:buNone/>
              <a:tabLst>
                <a:tab algn="l" pos="0"/>
              </a:tabLst>
            </a:pPr>
            <a:r>
              <a:rPr b="1" lang="en-US" sz="1800" spc="250" strike="noStrike">
                <a:solidFill>
                  <a:srgbClr val="5b6470"/>
                </a:solidFill>
                <a:latin typeface="Pretendard"/>
                <a:ea typeface="Pretendard"/>
              </a:rPr>
              <a:t>ABLATION</a:t>
            </a:r>
            <a:endParaRPr b="0" lang="en-US" sz="1800" spc="-1" strike="noStrike">
              <a:latin typeface="Noto Sans CJK KR"/>
            </a:endParaRPr>
          </a:p>
        </p:txBody>
      </p:sp>
      <p:sp>
        <p:nvSpPr>
          <p:cNvPr id="308" name="Text 1"/>
          <p:cNvSpPr/>
          <p:nvPr/>
        </p:nvSpPr>
        <p:spPr>
          <a:xfrm>
            <a:off x="914400" y="1066680"/>
            <a:ext cx="18104760" cy="102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>
              <a:lnSpc>
                <a:spcPct val="109000"/>
              </a:lnSpc>
              <a:buNone/>
              <a:tabLst>
                <a:tab algn="l" pos="0"/>
              </a:tabLst>
            </a:pPr>
            <a:r>
              <a:rPr b="1" lang="ko-KR" sz="5400" spc="-109" strike="noStrike">
                <a:solidFill>
                  <a:srgbClr val="1f2328"/>
                </a:solidFill>
                <a:latin typeface="Pretendard"/>
                <a:ea typeface="Pretendard"/>
              </a:rPr>
              <a:t>필터와 기억</a:t>
            </a:r>
            <a:r>
              <a:rPr b="1" lang="en-US" sz="5400" spc="-109" strike="noStrike">
                <a:solidFill>
                  <a:srgbClr val="1f2328"/>
                </a:solidFill>
                <a:latin typeface="Pretendard"/>
                <a:ea typeface="Pretendard"/>
              </a:rPr>
              <a:t>, </a:t>
            </a:r>
            <a:r>
              <a:rPr b="1" lang="ko-KR" sz="5400" spc="-109" strike="noStrike">
                <a:solidFill>
                  <a:srgbClr val="1f2328"/>
                </a:solidFill>
                <a:latin typeface="Pretendard"/>
                <a:ea typeface="Pretendard"/>
              </a:rPr>
              <a:t>하나만 빼면 어떻게 되는지 시험한다</a:t>
            </a:r>
            <a:endParaRPr b="0" lang="en-US" sz="5400" spc="-1" strike="noStrike">
              <a:latin typeface="Noto Sans CJK KR"/>
            </a:endParaRPr>
          </a:p>
        </p:txBody>
      </p:sp>
      <p:sp>
        <p:nvSpPr>
          <p:cNvPr id="309" name="Shape 2"/>
          <p:cNvSpPr/>
          <p:nvPr/>
        </p:nvSpPr>
        <p:spPr>
          <a:xfrm>
            <a:off x="914400" y="2886120"/>
            <a:ext cx="2514240" cy="18720"/>
          </a:xfrm>
          <a:prstGeom prst="rect">
            <a:avLst/>
          </a:pr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10" name="Shape 3"/>
          <p:cNvSpPr/>
          <p:nvPr/>
        </p:nvSpPr>
        <p:spPr>
          <a:xfrm>
            <a:off x="3429000" y="2886120"/>
            <a:ext cx="7505280" cy="18720"/>
          </a:xfrm>
          <a:prstGeom prst="rect">
            <a:avLst/>
          </a:pr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11" name="Text 4"/>
          <p:cNvSpPr/>
          <p:nvPr/>
        </p:nvSpPr>
        <p:spPr>
          <a:xfrm>
            <a:off x="3657600" y="2400480"/>
            <a:ext cx="727344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rmAutofit fontScale="93000"/>
          </a:bodyPr>
          <a:p>
            <a:pPr>
              <a:lnSpc>
                <a:spcPct val="105000"/>
              </a:lnSpc>
              <a:buNone/>
              <a:tabLst>
                <a:tab algn="l" pos="0"/>
              </a:tabLst>
            </a:pPr>
            <a:r>
              <a:rPr b="1" lang="ko-KR" sz="2400" spc="-1" strike="noStrike">
                <a:solidFill>
                  <a:srgbClr val="5b6470"/>
                </a:solidFill>
                <a:latin typeface="Pretendard"/>
                <a:ea typeface="Pretendard"/>
              </a:rPr>
              <a:t>기억 없음</a:t>
            </a:r>
            <a:endParaRPr b="0" lang="en-US" sz="2400" spc="-1" strike="noStrike">
              <a:latin typeface="Noto Sans CJK KR"/>
            </a:endParaRPr>
          </a:p>
        </p:txBody>
      </p:sp>
      <p:sp>
        <p:nvSpPr>
          <p:cNvPr id="312" name="Shape 5"/>
          <p:cNvSpPr/>
          <p:nvPr/>
        </p:nvSpPr>
        <p:spPr>
          <a:xfrm>
            <a:off x="10934640" y="2886120"/>
            <a:ext cx="6438600" cy="18720"/>
          </a:xfrm>
          <a:prstGeom prst="rect">
            <a:avLst/>
          </a:pr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13" name="Text 6"/>
          <p:cNvSpPr/>
          <p:nvPr/>
        </p:nvSpPr>
        <p:spPr>
          <a:xfrm>
            <a:off x="11163240" y="2400480"/>
            <a:ext cx="617436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rmAutofit fontScale="93000"/>
          </a:bodyPr>
          <a:p>
            <a:pPr>
              <a:lnSpc>
                <a:spcPct val="105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5b6470"/>
                </a:solidFill>
                <a:latin typeface="Pretendard"/>
                <a:ea typeface="Pretendard"/>
              </a:rPr>
              <a:t>odom </a:t>
            </a:r>
            <a:r>
              <a:rPr b="1" lang="ko-KR" sz="2400" spc="-1" strike="noStrike">
                <a:solidFill>
                  <a:srgbClr val="5b6470"/>
                </a:solidFill>
                <a:latin typeface="Pretendard"/>
                <a:ea typeface="Pretendard"/>
              </a:rPr>
              <a:t>기억</a:t>
            </a:r>
            <a:endParaRPr b="0" lang="en-US" sz="2400" spc="-1" strike="noStrike">
              <a:latin typeface="Noto Sans CJK KR"/>
            </a:endParaRPr>
          </a:p>
        </p:txBody>
      </p:sp>
      <p:sp>
        <p:nvSpPr>
          <p:cNvPr id="314" name="Shape 7"/>
          <p:cNvSpPr/>
          <p:nvPr/>
        </p:nvSpPr>
        <p:spPr>
          <a:xfrm>
            <a:off x="914400" y="4924440"/>
            <a:ext cx="2514240" cy="18720"/>
          </a:xfrm>
          <a:prstGeom prst="rect">
            <a:avLst/>
          </a:prstGeom>
          <a:solidFill>
            <a:srgbClr val="e3e6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15" name="Text 8"/>
          <p:cNvSpPr/>
          <p:nvPr/>
        </p:nvSpPr>
        <p:spPr>
          <a:xfrm>
            <a:off x="914400" y="3133800"/>
            <a:ext cx="2437920" cy="15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>
              <a:lnSpc>
                <a:spcPct val="105000"/>
              </a:lnSpc>
              <a:buNone/>
              <a:tabLst>
                <a:tab algn="l" pos="0"/>
              </a:tabLst>
            </a:pPr>
            <a:r>
              <a:rPr b="1" lang="ko-KR" sz="2400" spc="-1" strike="noStrike">
                <a:solidFill>
                  <a:srgbClr val="5b6470"/>
                </a:solidFill>
                <a:latin typeface="Pretendard"/>
                <a:ea typeface="Pretendard"/>
              </a:rPr>
              <a:t>한 장씩 판정</a:t>
            </a:r>
            <a:endParaRPr b="0" lang="en-US" sz="2400" spc="-1" strike="noStrike">
              <a:latin typeface="Noto Sans CJK KR"/>
            </a:endParaRPr>
          </a:p>
        </p:txBody>
      </p:sp>
      <p:sp>
        <p:nvSpPr>
          <p:cNvPr id="316" name="Shape 9"/>
          <p:cNvSpPr/>
          <p:nvPr/>
        </p:nvSpPr>
        <p:spPr>
          <a:xfrm>
            <a:off x="3429000" y="4924440"/>
            <a:ext cx="7505280" cy="18720"/>
          </a:xfrm>
          <a:prstGeom prst="rect">
            <a:avLst/>
          </a:prstGeom>
          <a:solidFill>
            <a:srgbClr val="e3e6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17" name="Shape 10"/>
          <p:cNvSpPr/>
          <p:nvPr/>
        </p:nvSpPr>
        <p:spPr>
          <a:xfrm>
            <a:off x="3657600" y="3276720"/>
            <a:ext cx="228240" cy="228240"/>
          </a:xfrm>
          <a:prstGeom prst="roundRect">
            <a:avLst>
              <a:gd name="adj" fmla="val 16667"/>
            </a:avLst>
          </a:prstGeom>
          <a:solidFill>
            <a:srgbClr val="eda1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18" name="Text 11"/>
          <p:cNvSpPr/>
          <p:nvPr/>
        </p:nvSpPr>
        <p:spPr>
          <a:xfrm>
            <a:off x="4019400" y="3143160"/>
            <a:ext cx="54576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9000"/>
          </a:bodyPr>
          <a:p>
            <a:pPr>
              <a:lnSpc>
                <a:spcPct val="108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1f2328"/>
                </a:solidFill>
                <a:latin typeface="Pretendard"/>
                <a:ea typeface="Pretendard"/>
              </a:rPr>
              <a:t>P2</a:t>
            </a:r>
            <a:endParaRPr b="0" lang="en-US" sz="3000" spc="-1" strike="noStrike">
              <a:latin typeface="Noto Sans CJK KR"/>
            </a:endParaRPr>
          </a:p>
        </p:txBody>
      </p:sp>
      <p:sp>
        <p:nvSpPr>
          <p:cNvPr id="319" name="Text 12"/>
          <p:cNvSpPr/>
          <p:nvPr/>
        </p:nvSpPr>
        <p:spPr>
          <a:xfrm>
            <a:off x="3657600" y="3714840"/>
            <a:ext cx="775296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97000"/>
          </a:bodyPr>
          <a:p>
            <a:pPr>
              <a:lnSpc>
                <a:spcPct val="108000"/>
              </a:lnSpc>
              <a:buNone/>
              <a:tabLst>
                <a:tab algn="l" pos="0"/>
              </a:tabLst>
            </a:pPr>
            <a:r>
              <a:rPr b="0" lang="ko-KR" sz="3000" spc="-1" strike="noStrike">
                <a:solidFill>
                  <a:srgbClr val="1f2328"/>
                </a:solidFill>
                <a:latin typeface="Pretendard"/>
                <a:ea typeface="Pretendard"/>
              </a:rPr>
              <a:t>기준 </a:t>
            </a:r>
            <a:r>
              <a:rPr b="0" lang="en-US" sz="3000" spc="-1" strike="noStrike">
                <a:solidFill>
                  <a:srgbClr val="1f2328"/>
                </a:solidFill>
                <a:latin typeface="Pretendard"/>
                <a:ea typeface="Pretendard"/>
              </a:rPr>
              <a:t>(</a:t>
            </a:r>
            <a:r>
              <a:rPr b="0" lang="ko-KR" sz="3000" spc="-1" strike="noStrike">
                <a:solidFill>
                  <a:srgbClr val="1f2328"/>
                </a:solidFill>
                <a:latin typeface="Pretendard"/>
                <a:ea typeface="Pretendard"/>
              </a:rPr>
              <a:t>필터도 기억도 없음</a:t>
            </a:r>
            <a:r>
              <a:rPr b="0" lang="en-US" sz="3000" spc="-1" strike="noStrike">
                <a:solidFill>
                  <a:srgbClr val="1f2328"/>
                </a:solidFill>
                <a:latin typeface="Pretendard"/>
                <a:ea typeface="Pretendard"/>
              </a:rPr>
              <a:t>)</a:t>
            </a:r>
            <a:endParaRPr b="0" lang="en-US" sz="3000" spc="-1" strike="noStrike">
              <a:latin typeface="Noto Sans CJK KR"/>
            </a:endParaRPr>
          </a:p>
        </p:txBody>
      </p:sp>
      <p:sp>
        <p:nvSpPr>
          <p:cNvPr id="320" name="Shape 13"/>
          <p:cNvSpPr/>
          <p:nvPr/>
        </p:nvSpPr>
        <p:spPr>
          <a:xfrm>
            <a:off x="10934640" y="4924440"/>
            <a:ext cx="6438600" cy="18720"/>
          </a:xfrm>
          <a:prstGeom prst="rect">
            <a:avLst/>
          </a:prstGeom>
          <a:solidFill>
            <a:srgbClr val="e3e6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1" name="Shape 14"/>
          <p:cNvSpPr/>
          <p:nvPr/>
        </p:nvSpPr>
        <p:spPr>
          <a:xfrm>
            <a:off x="11163240" y="3276720"/>
            <a:ext cx="228240" cy="228240"/>
          </a:xfrm>
          <a:prstGeom prst="roundRect">
            <a:avLst>
              <a:gd name="adj" fmla="val 16667"/>
            </a:avLst>
          </a:prstGeom>
          <a:solidFill>
            <a:srgbClr val="5b64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2" name="Text 15"/>
          <p:cNvSpPr/>
          <p:nvPr/>
        </p:nvSpPr>
        <p:spPr>
          <a:xfrm>
            <a:off x="11525400" y="3143160"/>
            <a:ext cx="77040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9000"/>
          </a:bodyPr>
          <a:p>
            <a:pPr>
              <a:lnSpc>
                <a:spcPct val="108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1f2328"/>
                </a:solidFill>
                <a:latin typeface="Pretendard"/>
                <a:ea typeface="Pretendard"/>
              </a:rPr>
              <a:t>P2o</a:t>
            </a:r>
            <a:endParaRPr b="0" lang="en-US" sz="3000" spc="-1" strike="noStrike">
              <a:latin typeface="Noto Sans CJK KR"/>
            </a:endParaRPr>
          </a:p>
        </p:txBody>
      </p:sp>
      <p:sp>
        <p:nvSpPr>
          <p:cNvPr id="323" name="Text 16"/>
          <p:cNvSpPr/>
          <p:nvPr/>
        </p:nvSpPr>
        <p:spPr>
          <a:xfrm>
            <a:off x="11163240" y="3714840"/>
            <a:ext cx="6160680" cy="102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99000"/>
          </a:bodyPr>
          <a:p>
            <a:pPr>
              <a:lnSpc>
                <a:spcPct val="108000"/>
              </a:lnSpc>
              <a:buNone/>
              <a:tabLst>
                <a:tab algn="l" pos="0"/>
              </a:tabLst>
            </a:pPr>
            <a:r>
              <a:rPr b="0" lang="ko-KR" sz="3000" spc="-1" strike="noStrike">
                <a:solidFill>
                  <a:srgbClr val="1f2328"/>
                </a:solidFill>
                <a:latin typeface="Pretendard"/>
                <a:ea typeface="Pretendard"/>
              </a:rPr>
              <a:t>예측</a:t>
            </a:r>
            <a:r>
              <a:rPr b="0" lang="en-US" sz="3000" spc="-1" strike="noStrike">
                <a:solidFill>
                  <a:srgbClr val="1f2328"/>
                </a:solidFill>
                <a:latin typeface="Pretendard"/>
                <a:ea typeface="Pretendard"/>
              </a:rPr>
              <a:t>: </a:t>
            </a:r>
            <a:r>
              <a:rPr b="0" lang="ko-KR" sz="3000" spc="-1" strike="noStrike">
                <a:solidFill>
                  <a:srgbClr val="1f2328"/>
                </a:solidFill>
                <a:latin typeface="Pretendard"/>
                <a:ea typeface="Pretendard"/>
              </a:rPr>
              <a:t>가짜 낭떠러지가 기억에 쌓여 길이 막힌다</a:t>
            </a:r>
            <a:endParaRPr b="0" lang="en-US" sz="3000" spc="-1" strike="noStrike">
              <a:latin typeface="Noto Sans CJK KR"/>
            </a:endParaRPr>
          </a:p>
        </p:txBody>
      </p:sp>
      <p:sp>
        <p:nvSpPr>
          <p:cNvPr id="324" name="Shape 17"/>
          <p:cNvSpPr/>
          <p:nvPr/>
        </p:nvSpPr>
        <p:spPr>
          <a:xfrm>
            <a:off x="914400" y="6962760"/>
            <a:ext cx="2514240" cy="18720"/>
          </a:xfrm>
          <a:prstGeom prst="rect">
            <a:avLst/>
          </a:prstGeom>
          <a:solidFill>
            <a:srgbClr val="e3e6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5" name="Text 18"/>
          <p:cNvSpPr/>
          <p:nvPr/>
        </p:nvSpPr>
        <p:spPr>
          <a:xfrm>
            <a:off x="914400" y="5172120"/>
            <a:ext cx="2437920" cy="15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>
              <a:lnSpc>
                <a:spcPct val="105000"/>
              </a:lnSpc>
              <a:buNone/>
              <a:tabLst>
                <a:tab algn="l" pos="0"/>
              </a:tabLst>
            </a:pPr>
            <a:r>
              <a:rPr b="1" lang="ko-KR" sz="2400" spc="-1" strike="noStrike">
                <a:solidFill>
                  <a:srgbClr val="5b6470"/>
                </a:solidFill>
                <a:latin typeface="Pretendard"/>
                <a:ea typeface="Pretendard"/>
              </a:rPr>
              <a:t>베이즈 필터</a:t>
            </a:r>
            <a:endParaRPr b="0" lang="en-US" sz="2400" spc="-1" strike="noStrike">
              <a:latin typeface="Noto Sans CJK KR"/>
            </a:endParaRPr>
          </a:p>
        </p:txBody>
      </p:sp>
      <p:sp>
        <p:nvSpPr>
          <p:cNvPr id="326" name="Shape 19"/>
          <p:cNvSpPr/>
          <p:nvPr/>
        </p:nvSpPr>
        <p:spPr>
          <a:xfrm>
            <a:off x="3429000" y="6962760"/>
            <a:ext cx="7505280" cy="18720"/>
          </a:xfrm>
          <a:prstGeom prst="rect">
            <a:avLst/>
          </a:prstGeom>
          <a:solidFill>
            <a:srgbClr val="e3e6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7" name="Shape 20"/>
          <p:cNvSpPr/>
          <p:nvPr/>
        </p:nvSpPr>
        <p:spPr>
          <a:xfrm>
            <a:off x="3657600" y="5315040"/>
            <a:ext cx="228240" cy="228240"/>
          </a:xfrm>
          <a:prstGeom prst="roundRect">
            <a:avLst>
              <a:gd name="adj" fmla="val 16667"/>
            </a:avLst>
          </a:prstGeom>
          <a:solidFill>
            <a:srgbClr val="5b64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8" name="Text 21"/>
          <p:cNvSpPr/>
          <p:nvPr/>
        </p:nvSpPr>
        <p:spPr>
          <a:xfrm>
            <a:off x="4019400" y="5181480"/>
            <a:ext cx="78444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9000"/>
          </a:bodyPr>
          <a:p>
            <a:pPr>
              <a:lnSpc>
                <a:spcPct val="108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1f2328"/>
                </a:solidFill>
                <a:latin typeface="Pretendard"/>
                <a:ea typeface="Pretendard"/>
              </a:rPr>
              <a:t>P3n</a:t>
            </a:r>
            <a:endParaRPr b="0" lang="en-US" sz="3000" spc="-1" strike="noStrike">
              <a:latin typeface="Noto Sans CJK KR"/>
            </a:endParaRPr>
          </a:p>
        </p:txBody>
      </p:sp>
      <p:sp>
        <p:nvSpPr>
          <p:cNvPr id="329" name="Text 22"/>
          <p:cNvSpPr/>
          <p:nvPr/>
        </p:nvSpPr>
        <p:spPr>
          <a:xfrm>
            <a:off x="3657600" y="5753160"/>
            <a:ext cx="7259760" cy="102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99000"/>
          </a:bodyPr>
          <a:p>
            <a:pPr>
              <a:lnSpc>
                <a:spcPct val="108000"/>
              </a:lnSpc>
              <a:buNone/>
              <a:tabLst>
                <a:tab algn="l" pos="0"/>
              </a:tabLst>
            </a:pPr>
            <a:r>
              <a:rPr b="0" lang="ko-KR" sz="3000" spc="-1" strike="noStrike">
                <a:solidFill>
                  <a:srgbClr val="1f2328"/>
                </a:solidFill>
                <a:latin typeface="Pretendard"/>
                <a:ea typeface="Pretendard"/>
              </a:rPr>
              <a:t>예측</a:t>
            </a:r>
            <a:r>
              <a:rPr b="0" lang="en-US" sz="3000" spc="-1" strike="noStrike">
                <a:solidFill>
                  <a:srgbClr val="1f2328"/>
                </a:solidFill>
                <a:latin typeface="Pretendard"/>
                <a:ea typeface="Pretendard"/>
              </a:rPr>
              <a:t>: </a:t>
            </a:r>
            <a:r>
              <a:rPr b="0" lang="ko-KR" sz="3000" spc="-1" strike="noStrike">
                <a:solidFill>
                  <a:srgbClr val="1f2328"/>
                </a:solidFill>
                <a:latin typeface="Pretendard"/>
                <a:ea typeface="Pretendard"/>
              </a:rPr>
              <a:t>뒤로 물러날 때 이미 지나친 가장자리를 잊고 떨어진다</a:t>
            </a:r>
            <a:endParaRPr b="0" lang="en-US" sz="3000" spc="-1" strike="noStrike">
              <a:latin typeface="Noto Sans CJK KR"/>
            </a:endParaRPr>
          </a:p>
        </p:txBody>
      </p:sp>
      <p:sp>
        <p:nvSpPr>
          <p:cNvPr id="330" name="Shape 23"/>
          <p:cNvSpPr/>
          <p:nvPr/>
        </p:nvSpPr>
        <p:spPr>
          <a:xfrm>
            <a:off x="10934640" y="4943520"/>
            <a:ext cx="6438600" cy="2037960"/>
          </a:xfrm>
          <a:prstGeom prst="rect">
            <a:avLst/>
          </a:prstGeom>
          <a:solidFill>
            <a:srgbClr val="eaf4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1" name="Shape 24"/>
          <p:cNvSpPr/>
          <p:nvPr/>
        </p:nvSpPr>
        <p:spPr>
          <a:xfrm>
            <a:off x="10934640" y="6962760"/>
            <a:ext cx="6438600" cy="18720"/>
          </a:xfrm>
          <a:prstGeom prst="rect">
            <a:avLst/>
          </a:prstGeom>
          <a:solidFill>
            <a:srgbClr val="e3e6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2" name="Shape 25"/>
          <p:cNvSpPr/>
          <p:nvPr/>
        </p:nvSpPr>
        <p:spPr>
          <a:xfrm>
            <a:off x="11163240" y="5315040"/>
            <a:ext cx="228240" cy="228240"/>
          </a:xfrm>
          <a:prstGeom prst="roundRect">
            <a:avLst>
              <a:gd name="adj" fmla="val 16667"/>
            </a:avLst>
          </a:prstGeom>
          <a:solidFill>
            <a:srgbClr val="6dbe6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3" name="Text 26"/>
          <p:cNvSpPr/>
          <p:nvPr/>
        </p:nvSpPr>
        <p:spPr>
          <a:xfrm>
            <a:off x="11525400" y="5181480"/>
            <a:ext cx="55656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93000"/>
          </a:bodyPr>
          <a:p>
            <a:pPr>
              <a:lnSpc>
                <a:spcPct val="108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1f2328"/>
                </a:solidFill>
                <a:latin typeface="Pretendard"/>
                <a:ea typeface="Pretendard"/>
              </a:rPr>
              <a:t>P3</a:t>
            </a:r>
            <a:endParaRPr b="0" lang="en-US" sz="3000" spc="-1" strike="noStrike">
              <a:latin typeface="Noto Sans CJK KR"/>
            </a:endParaRPr>
          </a:p>
        </p:txBody>
      </p:sp>
      <p:sp>
        <p:nvSpPr>
          <p:cNvPr id="334" name="Text 27"/>
          <p:cNvSpPr/>
          <p:nvPr/>
        </p:nvSpPr>
        <p:spPr>
          <a:xfrm>
            <a:off x="11163240" y="5753160"/>
            <a:ext cx="657936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97000"/>
          </a:bodyPr>
          <a:p>
            <a:pPr>
              <a:lnSpc>
                <a:spcPct val="108000"/>
              </a:lnSpc>
              <a:buNone/>
              <a:tabLst>
                <a:tab algn="l" pos="0"/>
              </a:tabLst>
            </a:pPr>
            <a:r>
              <a:rPr b="0" lang="ko-KR" sz="3000" spc="-1" strike="noStrike">
                <a:solidFill>
                  <a:srgbClr val="1f2328"/>
                </a:solidFill>
                <a:latin typeface="Pretendard"/>
                <a:ea typeface="Pretendard"/>
              </a:rPr>
              <a:t>예측</a:t>
            </a:r>
            <a:r>
              <a:rPr b="0" lang="en-US" sz="3000" spc="-1" strike="noStrike">
                <a:solidFill>
                  <a:srgbClr val="1f2328"/>
                </a:solidFill>
                <a:latin typeface="Pretendard"/>
                <a:ea typeface="Pretendard"/>
              </a:rPr>
              <a:t>: </a:t>
            </a:r>
            <a:r>
              <a:rPr b="0" lang="ko-KR" sz="3000" spc="-1" strike="noStrike">
                <a:solidFill>
                  <a:srgbClr val="1f2328"/>
                </a:solidFill>
                <a:latin typeface="Pretendard"/>
                <a:ea typeface="Pretendard"/>
              </a:rPr>
              <a:t>막히지도 떨어지지도 않는다 </a:t>
            </a:r>
            <a:r>
              <a:rPr b="1" lang="en-US" sz="3000" spc="-1" strike="noStrike">
                <a:solidFill>
                  <a:srgbClr val="008300"/>
                </a:solidFill>
                <a:latin typeface="Pretendard"/>
                <a:ea typeface="Pretendard"/>
              </a:rPr>
              <a:t>✓</a:t>
            </a:r>
            <a:endParaRPr b="0" lang="en-US" sz="3000" spc="-1" strike="noStrike">
              <a:latin typeface="Noto Sans CJK KR"/>
            </a:endParaRPr>
          </a:p>
        </p:txBody>
      </p:sp>
      <p:sp>
        <p:nvSpPr>
          <p:cNvPr id="335" name="Text 28"/>
          <p:cNvSpPr/>
          <p:nvPr/>
        </p:nvSpPr>
        <p:spPr>
          <a:xfrm>
            <a:off x="914400" y="7238880"/>
            <a:ext cx="16952760" cy="118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>
              <a:lnSpc>
                <a:spcPct val="108000"/>
              </a:lnSpc>
              <a:buNone/>
              <a:tabLst>
                <a:tab algn="l" pos="0"/>
              </a:tabLst>
            </a:pPr>
            <a:r>
              <a:rPr b="1" lang="ko-KR" sz="3000" spc="-1" strike="noStrike">
                <a:solidFill>
                  <a:srgbClr val="1f2328"/>
                </a:solidFill>
                <a:latin typeface="Pretendard"/>
                <a:ea typeface="Pretendard"/>
              </a:rPr>
              <a:t>두 예측이 맞으면</a:t>
            </a:r>
            <a:r>
              <a:rPr b="1" lang="en-US" sz="3000" spc="-1" strike="noStrike">
                <a:solidFill>
                  <a:srgbClr val="1f2328"/>
                </a:solidFill>
                <a:latin typeface="Pretendard"/>
                <a:ea typeface="Pretendard"/>
              </a:rPr>
              <a:t>: </a:t>
            </a:r>
            <a:r>
              <a:rPr b="1" lang="ko-KR" sz="3000" spc="-1" strike="noStrike">
                <a:solidFill>
                  <a:srgbClr val="1f2328"/>
                </a:solidFill>
                <a:latin typeface="Pretendard"/>
                <a:ea typeface="Pretendard"/>
              </a:rPr>
              <a:t>필터가 있어야 기억이 쓸모 있고</a:t>
            </a:r>
            <a:r>
              <a:rPr b="1" lang="en-US" sz="3000" spc="-1" strike="noStrike">
                <a:solidFill>
                  <a:srgbClr val="1f2328"/>
                </a:solidFill>
                <a:latin typeface="Pretendard"/>
                <a:ea typeface="Pretendard"/>
              </a:rPr>
              <a:t>, </a:t>
            </a:r>
            <a:r>
              <a:rPr b="1" lang="ko-KR" sz="3000" spc="-1" strike="noStrike">
                <a:solidFill>
                  <a:srgbClr val="1f2328"/>
                </a:solidFill>
                <a:latin typeface="Pretendard"/>
                <a:ea typeface="Pretendard"/>
              </a:rPr>
              <a:t>필터만으로는 부족해 기억도 따로 필요하다</a:t>
            </a:r>
            <a:endParaRPr b="0" lang="en-US" sz="3000" spc="-1" strike="noStrike">
              <a:latin typeface="Noto Sans CJK KR"/>
            </a:endParaRPr>
          </a:p>
        </p:txBody>
      </p:sp>
      <p:sp>
        <p:nvSpPr>
          <p:cNvPr id="336" name="Text 31"/>
          <p:cNvSpPr/>
          <p:nvPr/>
        </p:nvSpPr>
        <p:spPr>
          <a:xfrm>
            <a:off x="16535520" y="9296280"/>
            <a:ext cx="83772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97000"/>
          </a:bodyPr>
          <a:p>
            <a:pPr algn="r">
              <a:lnSpc>
                <a:spcPct val="11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5b6470"/>
                </a:solidFill>
                <a:latin typeface="Pretendard"/>
                <a:ea typeface="Pretendard"/>
              </a:rPr>
              <a:t>7</a:t>
            </a:r>
            <a:endParaRPr b="0" lang="en-US" sz="1800" spc="-1" strike="noStrike"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Shape 32"/>
          <p:cNvSpPr/>
          <p:nvPr/>
        </p:nvSpPr>
        <p:spPr>
          <a:xfrm>
            <a:off x="11754000" y="5943600"/>
            <a:ext cx="37800" cy="190080"/>
          </a:xfrm>
          <a:prstGeom prst="rect">
            <a:avLst/>
          </a:prstGeom>
          <a:solidFill>
            <a:srgbClr val="e3e6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8" name="Shape 28"/>
          <p:cNvSpPr/>
          <p:nvPr/>
        </p:nvSpPr>
        <p:spPr>
          <a:xfrm>
            <a:off x="11754000" y="4991040"/>
            <a:ext cx="37800" cy="571320"/>
          </a:xfrm>
          <a:prstGeom prst="rect">
            <a:avLst/>
          </a:prstGeom>
          <a:solidFill>
            <a:srgbClr val="e3e6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9" name="Shape 24"/>
          <p:cNvSpPr/>
          <p:nvPr/>
        </p:nvSpPr>
        <p:spPr>
          <a:xfrm>
            <a:off x="11754000" y="4419720"/>
            <a:ext cx="37800" cy="190080"/>
          </a:xfrm>
          <a:prstGeom prst="rect">
            <a:avLst/>
          </a:prstGeom>
          <a:solidFill>
            <a:srgbClr val="e3e6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40" name="Shape 20"/>
          <p:cNvSpPr/>
          <p:nvPr/>
        </p:nvSpPr>
        <p:spPr>
          <a:xfrm>
            <a:off x="11754000" y="3467160"/>
            <a:ext cx="37800" cy="571320"/>
          </a:xfrm>
          <a:prstGeom prst="rect">
            <a:avLst/>
          </a:prstGeom>
          <a:solidFill>
            <a:srgbClr val="e3e6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41" name="Text 0"/>
          <p:cNvSpPr/>
          <p:nvPr/>
        </p:nvSpPr>
        <p:spPr>
          <a:xfrm>
            <a:off x="914400" y="685800"/>
            <a:ext cx="942948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97000"/>
          </a:bodyPr>
          <a:p>
            <a:pPr>
              <a:lnSpc>
                <a:spcPct val="110000"/>
              </a:lnSpc>
              <a:buNone/>
              <a:tabLst>
                <a:tab algn="l" pos="0"/>
              </a:tabLst>
            </a:pPr>
            <a:r>
              <a:rPr b="1" lang="en-US" sz="1800" spc="250" strike="noStrike">
                <a:solidFill>
                  <a:srgbClr val="5b6470"/>
                </a:solidFill>
                <a:latin typeface="Pretendard"/>
                <a:ea typeface="Pretendard"/>
              </a:rPr>
              <a:t>PLAN</a:t>
            </a:r>
            <a:endParaRPr b="0" lang="en-US" sz="1800" spc="-1" strike="noStrike">
              <a:latin typeface="Noto Sans CJK KR"/>
            </a:endParaRPr>
          </a:p>
        </p:txBody>
      </p:sp>
      <p:sp>
        <p:nvSpPr>
          <p:cNvPr id="342" name="Text 1"/>
          <p:cNvSpPr/>
          <p:nvPr/>
        </p:nvSpPr>
        <p:spPr>
          <a:xfrm>
            <a:off x="914400" y="1066680"/>
            <a:ext cx="18104760" cy="102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>
              <a:lnSpc>
                <a:spcPct val="109000"/>
              </a:lnSpc>
              <a:buNone/>
              <a:tabLst>
                <a:tab algn="l" pos="0"/>
              </a:tabLst>
            </a:pPr>
            <a:r>
              <a:rPr b="1" lang="ko-KR" sz="5400" spc="-109" strike="noStrike">
                <a:solidFill>
                  <a:srgbClr val="1f2328"/>
                </a:solidFill>
                <a:latin typeface="Pretendard"/>
                <a:ea typeface="Pretendard"/>
              </a:rPr>
              <a:t>남은 위험과 최종 발표까지 할 일</a:t>
            </a:r>
            <a:endParaRPr b="0" lang="en-US" sz="5400" spc="-1" strike="noStrike">
              <a:latin typeface="Noto Sans CJK KR"/>
            </a:endParaRPr>
          </a:p>
        </p:txBody>
      </p:sp>
      <p:sp>
        <p:nvSpPr>
          <p:cNvPr id="343" name="Shape 2"/>
          <p:cNvSpPr/>
          <p:nvPr/>
        </p:nvSpPr>
        <p:spPr>
          <a:xfrm>
            <a:off x="914400" y="2876400"/>
            <a:ext cx="10058040" cy="18720"/>
          </a:xfrm>
          <a:prstGeom prst="rect">
            <a:avLst/>
          </a:prstGeom>
          <a:solidFill>
            <a:srgbClr val="e3e6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44" name="Text 3"/>
          <p:cNvSpPr/>
          <p:nvPr/>
        </p:nvSpPr>
        <p:spPr>
          <a:xfrm>
            <a:off x="914400" y="2400480"/>
            <a:ext cx="1035972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95000"/>
          </a:bodyPr>
          <a:p>
            <a:pPr>
              <a:lnSpc>
                <a:spcPct val="105000"/>
              </a:lnSpc>
              <a:buNone/>
              <a:tabLst>
                <a:tab algn="l" pos="0"/>
              </a:tabLst>
            </a:pPr>
            <a:r>
              <a:rPr b="1" lang="ko-KR" sz="2400" spc="-1" strike="noStrike">
                <a:solidFill>
                  <a:srgbClr val="5b6470"/>
                </a:solidFill>
                <a:latin typeface="Pretendard"/>
                <a:ea typeface="Pretendard"/>
              </a:rPr>
              <a:t>예상 위험과 대응</a:t>
            </a:r>
            <a:endParaRPr b="0" lang="en-US" sz="2400" spc="-1" strike="noStrike">
              <a:latin typeface="Noto Sans CJK KR"/>
            </a:endParaRPr>
          </a:p>
        </p:txBody>
      </p:sp>
      <p:sp>
        <p:nvSpPr>
          <p:cNvPr id="345" name="Shape 4"/>
          <p:cNvSpPr/>
          <p:nvPr/>
        </p:nvSpPr>
        <p:spPr>
          <a:xfrm>
            <a:off x="914400" y="3009960"/>
            <a:ext cx="10058040" cy="990360"/>
          </a:xfrm>
          <a:prstGeom prst="roundRect">
            <a:avLst>
              <a:gd name="adj" fmla="val 7692"/>
            </a:avLst>
          </a:prstGeom>
          <a:noFill/>
          <a:ln w="19050">
            <a:solidFill>
              <a:srgbClr val="e3e6e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6" name="Text 5"/>
          <p:cNvSpPr/>
          <p:nvPr/>
        </p:nvSpPr>
        <p:spPr>
          <a:xfrm>
            <a:off x="1695600" y="3124080"/>
            <a:ext cx="860472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95000"/>
          </a:bodyPr>
          <a:p>
            <a:pPr>
              <a:lnSpc>
                <a:spcPct val="105000"/>
              </a:lnSpc>
              <a:buNone/>
              <a:tabLst>
                <a:tab algn="l" pos="0"/>
              </a:tabLst>
            </a:pPr>
            <a:r>
              <a:rPr b="0" lang="ko-KR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반사가 없는 바닥</a:t>
            </a:r>
            <a:r>
              <a:rPr b="0" lang="en-US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(</a:t>
            </a:r>
            <a:r>
              <a:rPr b="0" lang="ko-KR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검은 계단 </a:t>
            </a:r>
            <a:r>
              <a:rPr b="0" lang="en-US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· </a:t>
            </a:r>
            <a:r>
              <a:rPr b="0" lang="ko-KR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유리</a:t>
            </a:r>
            <a:r>
              <a:rPr b="0" lang="en-US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)</a:t>
            </a:r>
            <a:r>
              <a:rPr b="0" lang="ko-KR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은 카메라가 깊이를 재지 못한다</a:t>
            </a:r>
            <a:endParaRPr b="0" lang="en-US" sz="2400" spc="-1" strike="noStrike">
              <a:latin typeface="Noto Sans CJK KR"/>
            </a:endParaRPr>
          </a:p>
        </p:txBody>
      </p:sp>
      <p:sp>
        <p:nvSpPr>
          <p:cNvPr id="347" name="Text 6"/>
          <p:cNvSpPr/>
          <p:nvPr/>
        </p:nvSpPr>
        <p:spPr>
          <a:xfrm>
            <a:off x="1695600" y="3505320"/>
            <a:ext cx="860472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95000"/>
          </a:bodyPr>
          <a:p>
            <a:pPr>
              <a:lnSpc>
                <a:spcPct val="105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→ </a:t>
            </a:r>
            <a:r>
              <a:rPr b="1" lang="ko-KR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하향 </a:t>
            </a:r>
            <a:r>
              <a:rPr b="1" lang="en-US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IR</a:t>
            </a:r>
            <a:r>
              <a:rPr b="1" lang="ko-KR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을 마지막 층으로 둔다</a:t>
            </a:r>
            <a:endParaRPr b="0" lang="en-US" sz="2400" spc="-1" strike="noStrike">
              <a:latin typeface="Noto Sans CJK KR"/>
            </a:endParaRPr>
          </a:p>
        </p:txBody>
      </p:sp>
      <p:sp>
        <p:nvSpPr>
          <p:cNvPr id="348" name="Shape 7"/>
          <p:cNvSpPr/>
          <p:nvPr/>
        </p:nvSpPr>
        <p:spPr>
          <a:xfrm>
            <a:off x="914400" y="4114800"/>
            <a:ext cx="10058040" cy="1371240"/>
          </a:xfrm>
          <a:prstGeom prst="roundRect">
            <a:avLst>
              <a:gd name="adj" fmla="val 5556"/>
            </a:avLst>
          </a:prstGeom>
          <a:noFill/>
          <a:ln w="19050">
            <a:solidFill>
              <a:srgbClr val="e3e6e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9" name="Text 8"/>
          <p:cNvSpPr/>
          <p:nvPr/>
        </p:nvSpPr>
        <p:spPr>
          <a:xfrm>
            <a:off x="1695600" y="4229280"/>
            <a:ext cx="7448040" cy="79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97000"/>
          </a:bodyPr>
          <a:p>
            <a:pPr>
              <a:lnSpc>
                <a:spcPct val="105000"/>
              </a:lnSpc>
              <a:buNone/>
              <a:tabLst>
                <a:tab algn="l" pos="0"/>
              </a:tabLst>
            </a:pPr>
            <a:r>
              <a:rPr b="0" lang="ko-KR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가속할 때 차체가 기울면 여러 장이 같은 방향으로 틀려</a:t>
            </a:r>
            <a:r>
              <a:rPr b="0" lang="en-US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, </a:t>
            </a:r>
            <a:r>
              <a:rPr b="0" lang="ko-KR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필터로 걸러지지 않는다</a:t>
            </a:r>
            <a:endParaRPr b="0" lang="en-US" sz="2400" spc="-1" strike="noStrike">
              <a:latin typeface="Noto Sans CJK KR"/>
            </a:endParaRPr>
          </a:p>
        </p:txBody>
      </p:sp>
      <p:sp>
        <p:nvSpPr>
          <p:cNvPr id="350" name="Text 9"/>
          <p:cNvSpPr/>
          <p:nvPr/>
        </p:nvSpPr>
        <p:spPr>
          <a:xfrm>
            <a:off x="1695600" y="4991040"/>
            <a:ext cx="713412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95000"/>
          </a:bodyPr>
          <a:p>
            <a:pPr>
              <a:lnSpc>
                <a:spcPct val="105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→ </a:t>
            </a:r>
            <a:r>
              <a:rPr b="1" lang="ko-KR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기울기 오차를 일부러 넣어 영향을 검증한다</a:t>
            </a:r>
            <a:endParaRPr b="0" lang="en-US" sz="2400" spc="-1" strike="noStrike">
              <a:latin typeface="Noto Sans CJK KR"/>
            </a:endParaRPr>
          </a:p>
        </p:txBody>
      </p:sp>
      <p:sp>
        <p:nvSpPr>
          <p:cNvPr id="351" name="Shape 10"/>
          <p:cNvSpPr/>
          <p:nvPr/>
        </p:nvSpPr>
        <p:spPr>
          <a:xfrm>
            <a:off x="914400" y="5600880"/>
            <a:ext cx="10058040" cy="990360"/>
          </a:xfrm>
          <a:prstGeom prst="roundRect">
            <a:avLst>
              <a:gd name="adj" fmla="val 7692"/>
            </a:avLst>
          </a:prstGeom>
          <a:noFill/>
          <a:ln w="19050">
            <a:solidFill>
              <a:srgbClr val="e3e6e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2" name="Text 11"/>
          <p:cNvSpPr/>
          <p:nvPr/>
        </p:nvSpPr>
        <p:spPr>
          <a:xfrm>
            <a:off x="1695600" y="5715000"/>
            <a:ext cx="598824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95000"/>
          </a:bodyPr>
          <a:p>
            <a:pPr>
              <a:lnSpc>
                <a:spcPct val="105000"/>
              </a:lnSpc>
              <a:buNone/>
              <a:tabLst>
                <a:tab algn="l" pos="0"/>
              </a:tabLst>
            </a:pPr>
            <a:r>
              <a:rPr b="0" lang="ko-KR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한 월드에만 맞춘 설정이 될 수 있다</a:t>
            </a:r>
            <a:endParaRPr b="0" lang="en-US" sz="2400" spc="-1" strike="noStrike">
              <a:latin typeface="Noto Sans CJK KR"/>
            </a:endParaRPr>
          </a:p>
        </p:txBody>
      </p:sp>
      <p:sp>
        <p:nvSpPr>
          <p:cNvPr id="353" name="Text 12"/>
          <p:cNvSpPr/>
          <p:nvPr/>
        </p:nvSpPr>
        <p:spPr>
          <a:xfrm>
            <a:off x="1695600" y="6095880"/>
            <a:ext cx="815472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95000"/>
          </a:bodyPr>
          <a:p>
            <a:pPr>
              <a:lnSpc>
                <a:spcPct val="105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→ </a:t>
            </a:r>
            <a:r>
              <a:rPr b="1" lang="ko-KR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설정을 고정하고 두 번째 월드에서 확인한다 </a:t>
            </a:r>
            <a:r>
              <a:rPr b="1" lang="en-US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(</a:t>
            </a:r>
            <a:r>
              <a:rPr b="1" lang="ko-KR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과적합 방지</a:t>
            </a:r>
            <a:r>
              <a:rPr b="1" lang="en-US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)</a:t>
            </a:r>
            <a:endParaRPr b="0" lang="en-US" sz="2400" spc="-1" strike="noStrike">
              <a:latin typeface="Noto Sans CJK KR"/>
            </a:endParaRPr>
          </a:p>
        </p:txBody>
      </p:sp>
      <p:sp>
        <p:nvSpPr>
          <p:cNvPr id="354" name="Shape 13"/>
          <p:cNvSpPr/>
          <p:nvPr/>
        </p:nvSpPr>
        <p:spPr>
          <a:xfrm>
            <a:off x="914400" y="6705720"/>
            <a:ext cx="10058040" cy="1371240"/>
          </a:xfrm>
          <a:prstGeom prst="roundRect">
            <a:avLst>
              <a:gd name="adj" fmla="val 5556"/>
            </a:avLst>
          </a:prstGeom>
          <a:noFill/>
          <a:ln w="19050">
            <a:solidFill>
              <a:srgbClr val="e3e6e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5" name="Text 14"/>
          <p:cNvSpPr/>
          <p:nvPr/>
        </p:nvSpPr>
        <p:spPr>
          <a:xfrm>
            <a:off x="1695600" y="6819840"/>
            <a:ext cx="589176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95000"/>
          </a:bodyPr>
          <a:p>
            <a:pPr>
              <a:lnSpc>
                <a:spcPct val="105000"/>
              </a:lnSpc>
              <a:buNone/>
              <a:tabLst>
                <a:tab algn="l" pos="0"/>
              </a:tabLst>
            </a:pPr>
            <a:r>
              <a:rPr b="0" lang="ko-KR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시뮬레이션과 실제는 다르다</a:t>
            </a:r>
            <a:endParaRPr b="0" lang="en-US" sz="2400" spc="-1" strike="noStrike">
              <a:latin typeface="Noto Sans CJK KR"/>
            </a:endParaRPr>
          </a:p>
        </p:txBody>
      </p:sp>
      <p:sp>
        <p:nvSpPr>
          <p:cNvPr id="356" name="Text 15"/>
          <p:cNvSpPr/>
          <p:nvPr/>
        </p:nvSpPr>
        <p:spPr>
          <a:xfrm>
            <a:off x="1695600" y="7201080"/>
            <a:ext cx="8889120" cy="79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97000"/>
          </a:bodyPr>
          <a:p>
            <a:pPr>
              <a:lnSpc>
                <a:spcPct val="105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→ </a:t>
            </a:r>
            <a:r>
              <a:rPr b="1" lang="ko-KR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센서 오류를 시뮬레이션에 넣고</a:t>
            </a:r>
            <a:r>
              <a:rPr b="1" lang="en-US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, </a:t>
            </a:r>
            <a:endParaRPr b="0" lang="en-US" sz="2400" spc="-1" strike="noStrike">
              <a:latin typeface="Noto Sans CJK KR"/>
            </a:endParaRPr>
          </a:p>
          <a:p>
            <a:pPr>
              <a:lnSpc>
                <a:spcPct val="105000"/>
              </a:lnSpc>
              <a:buNone/>
              <a:tabLst>
                <a:tab algn="l" pos="0"/>
              </a:tabLst>
            </a:pPr>
            <a:r>
              <a:rPr b="1" lang="ko-KR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장비가 되면 실제 깊이카메라 영상으로도 확인</a:t>
            </a:r>
            <a:endParaRPr b="0" lang="en-US" sz="2400" spc="-1" strike="noStrike">
              <a:latin typeface="Noto Sans CJK KR"/>
            </a:endParaRPr>
          </a:p>
        </p:txBody>
      </p:sp>
      <p:sp>
        <p:nvSpPr>
          <p:cNvPr id="357" name="Shape 16"/>
          <p:cNvSpPr/>
          <p:nvPr/>
        </p:nvSpPr>
        <p:spPr>
          <a:xfrm>
            <a:off x="11582280" y="2876400"/>
            <a:ext cx="5790960" cy="18720"/>
          </a:xfrm>
          <a:prstGeom prst="rect">
            <a:avLst/>
          </a:prstGeom>
          <a:solidFill>
            <a:srgbClr val="e3e6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58" name="Text 17"/>
          <p:cNvSpPr/>
          <p:nvPr/>
        </p:nvSpPr>
        <p:spPr>
          <a:xfrm>
            <a:off x="11582280" y="2400480"/>
            <a:ext cx="596448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95000"/>
          </a:bodyPr>
          <a:p>
            <a:pPr>
              <a:lnSpc>
                <a:spcPct val="105000"/>
              </a:lnSpc>
              <a:buNone/>
              <a:tabLst>
                <a:tab algn="l" pos="0"/>
              </a:tabLst>
            </a:pPr>
            <a:r>
              <a:rPr b="1" lang="ko-KR" sz="2400" spc="-1" strike="noStrike">
                <a:solidFill>
                  <a:srgbClr val="5b6470"/>
                </a:solidFill>
                <a:latin typeface="Pretendard"/>
                <a:ea typeface="Pretendard"/>
              </a:rPr>
              <a:t>최종 발표 </a:t>
            </a:r>
            <a:r>
              <a:rPr b="1" lang="en-US" sz="2400" spc="-1" strike="noStrike">
                <a:solidFill>
                  <a:srgbClr val="5b6470"/>
                </a:solidFill>
                <a:latin typeface="Pretendard"/>
                <a:ea typeface="Pretendard"/>
              </a:rPr>
              <a:t>(14</a:t>
            </a:r>
            <a:r>
              <a:rPr b="1" lang="ko-KR" sz="2400" spc="-1" strike="noStrike">
                <a:solidFill>
                  <a:srgbClr val="5b6470"/>
                </a:solidFill>
                <a:latin typeface="Pretendard"/>
                <a:ea typeface="Pretendard"/>
              </a:rPr>
              <a:t>주차</a:t>
            </a:r>
            <a:r>
              <a:rPr b="1" lang="en-US" sz="2400" spc="-1" strike="noStrike">
                <a:solidFill>
                  <a:srgbClr val="5b6470"/>
                </a:solidFill>
                <a:latin typeface="Pretendard"/>
                <a:ea typeface="Pretendard"/>
              </a:rPr>
              <a:t>) </a:t>
            </a:r>
            <a:r>
              <a:rPr b="1" lang="ko-KR" sz="2400" spc="-1" strike="noStrike">
                <a:solidFill>
                  <a:srgbClr val="5b6470"/>
                </a:solidFill>
                <a:latin typeface="Pretendard"/>
                <a:ea typeface="Pretendard"/>
              </a:rPr>
              <a:t>에서 보여 드릴 것</a:t>
            </a:r>
            <a:endParaRPr b="0" lang="en-US" sz="2400" spc="-1" strike="noStrike">
              <a:latin typeface="Noto Sans CJK KR"/>
            </a:endParaRPr>
          </a:p>
        </p:txBody>
      </p:sp>
      <p:sp>
        <p:nvSpPr>
          <p:cNvPr id="359" name="Shape 18"/>
          <p:cNvSpPr/>
          <p:nvPr/>
        </p:nvSpPr>
        <p:spPr>
          <a:xfrm>
            <a:off x="11582280" y="3132000"/>
            <a:ext cx="380520" cy="380520"/>
          </a:xfrm>
          <a:prstGeom prst="ellipse">
            <a:avLst/>
          </a:pr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60" name="Text 21"/>
          <p:cNvSpPr/>
          <p:nvPr/>
        </p:nvSpPr>
        <p:spPr>
          <a:xfrm>
            <a:off x="12153960" y="3086280"/>
            <a:ext cx="4972320" cy="79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97000"/>
          </a:bodyPr>
          <a:p>
            <a:pPr>
              <a:lnSpc>
                <a:spcPct val="105000"/>
              </a:lnSpc>
              <a:buNone/>
              <a:tabLst>
                <a:tab algn="l" pos="0"/>
              </a:tabLst>
            </a:pPr>
            <a:r>
              <a:rPr b="0" lang="ko-KR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현장 표준 대비 안전 실패율 </a:t>
            </a:r>
            <a:r>
              <a:rPr b="0" lang="en-US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· </a:t>
            </a:r>
            <a:r>
              <a:rPr b="0" lang="ko-KR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도착률 비교 </a:t>
            </a:r>
            <a:r>
              <a:rPr b="0" lang="en-US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(H1 · H2)</a:t>
            </a:r>
            <a:endParaRPr b="0" lang="en-US" sz="2400" spc="-1" strike="noStrike">
              <a:latin typeface="Noto Sans CJK KR"/>
            </a:endParaRPr>
          </a:p>
        </p:txBody>
      </p:sp>
      <p:sp>
        <p:nvSpPr>
          <p:cNvPr id="361" name="Shape 22"/>
          <p:cNvSpPr/>
          <p:nvPr/>
        </p:nvSpPr>
        <p:spPr>
          <a:xfrm>
            <a:off x="11582280" y="4068000"/>
            <a:ext cx="380520" cy="380520"/>
          </a:xfrm>
          <a:prstGeom prst="ellipse">
            <a:avLst/>
          </a:pr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62" name="Text 23"/>
          <p:cNvSpPr/>
          <p:nvPr/>
        </p:nvSpPr>
        <p:spPr>
          <a:xfrm>
            <a:off x="11544480" y="4038480"/>
            <a:ext cx="45684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98000"/>
          </a:bodyPr>
          <a:p>
            <a:pPr algn="ctr">
              <a:lnSpc>
                <a:spcPct val="137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Pretendard"/>
                <a:ea typeface="Pretendard"/>
              </a:rPr>
              <a:t>2</a:t>
            </a:r>
            <a:endParaRPr b="0" lang="en-US" sz="1800" spc="-1" strike="noStrike">
              <a:latin typeface="Noto Sans CJK KR"/>
            </a:endParaRPr>
          </a:p>
        </p:txBody>
      </p:sp>
      <p:sp>
        <p:nvSpPr>
          <p:cNvPr id="363" name="Text 25"/>
          <p:cNvSpPr/>
          <p:nvPr/>
        </p:nvSpPr>
        <p:spPr>
          <a:xfrm>
            <a:off x="12153960" y="4121640"/>
            <a:ext cx="173304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94000"/>
          </a:bodyPr>
          <a:p>
            <a:pPr>
              <a:lnSpc>
                <a:spcPct val="105000"/>
              </a:lnSpc>
              <a:buNone/>
              <a:tabLst>
                <a:tab algn="l" pos="0"/>
              </a:tabLst>
            </a:pPr>
            <a:r>
              <a:rPr b="0" lang="ko-KR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악조건별 결과</a:t>
            </a:r>
            <a:endParaRPr b="0" lang="en-US" sz="2400" spc="-1" strike="noStrike">
              <a:latin typeface="Noto Sans CJK KR"/>
            </a:endParaRPr>
          </a:p>
        </p:txBody>
      </p:sp>
      <p:sp>
        <p:nvSpPr>
          <p:cNvPr id="364" name="Shape 26"/>
          <p:cNvSpPr/>
          <p:nvPr/>
        </p:nvSpPr>
        <p:spPr>
          <a:xfrm>
            <a:off x="11582280" y="4644000"/>
            <a:ext cx="380520" cy="380520"/>
          </a:xfrm>
          <a:prstGeom prst="ellipse">
            <a:avLst/>
          </a:pr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65" name="Text 27"/>
          <p:cNvSpPr/>
          <p:nvPr/>
        </p:nvSpPr>
        <p:spPr>
          <a:xfrm>
            <a:off x="11544480" y="4610160"/>
            <a:ext cx="45684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98000"/>
          </a:bodyPr>
          <a:p>
            <a:pPr algn="ctr">
              <a:lnSpc>
                <a:spcPct val="137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Pretendard"/>
                <a:ea typeface="Pretendard"/>
              </a:rPr>
              <a:t>3</a:t>
            </a:r>
            <a:endParaRPr b="0" lang="en-US" sz="1800" spc="-1" strike="noStrike">
              <a:latin typeface="Noto Sans CJK KR"/>
            </a:endParaRPr>
          </a:p>
        </p:txBody>
      </p:sp>
      <p:sp>
        <p:nvSpPr>
          <p:cNvPr id="366" name="Text 29"/>
          <p:cNvSpPr/>
          <p:nvPr/>
        </p:nvSpPr>
        <p:spPr>
          <a:xfrm>
            <a:off x="12153960" y="4610160"/>
            <a:ext cx="4565160" cy="79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97000"/>
          </a:bodyPr>
          <a:p>
            <a:pPr>
              <a:lnSpc>
                <a:spcPct val="105000"/>
              </a:lnSpc>
              <a:buNone/>
              <a:tabLst>
                <a:tab algn="l" pos="0"/>
              </a:tabLst>
            </a:pPr>
            <a:r>
              <a:rPr b="0" lang="ko-KR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기억 좌표 비교와 </a:t>
            </a:r>
            <a:r>
              <a:rPr b="0" lang="en-US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2×2 </a:t>
            </a:r>
            <a:r>
              <a:rPr b="0" lang="ko-KR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구성 요소 분석 </a:t>
            </a:r>
            <a:r>
              <a:rPr b="0" lang="en-US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(H3 · H4)</a:t>
            </a:r>
            <a:endParaRPr b="0" lang="en-US" sz="2400" spc="-1" strike="noStrike">
              <a:latin typeface="Noto Sans CJK KR"/>
            </a:endParaRPr>
          </a:p>
        </p:txBody>
      </p:sp>
      <p:sp>
        <p:nvSpPr>
          <p:cNvPr id="367" name="Shape 30"/>
          <p:cNvSpPr/>
          <p:nvPr/>
        </p:nvSpPr>
        <p:spPr>
          <a:xfrm>
            <a:off x="11582280" y="5580000"/>
            <a:ext cx="380520" cy="380520"/>
          </a:xfrm>
          <a:prstGeom prst="ellipse">
            <a:avLst/>
          </a:pr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68" name="Text 31"/>
          <p:cNvSpPr/>
          <p:nvPr/>
        </p:nvSpPr>
        <p:spPr>
          <a:xfrm>
            <a:off x="11544480" y="5562720"/>
            <a:ext cx="45684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98000"/>
          </a:bodyPr>
          <a:p>
            <a:pPr algn="ctr">
              <a:lnSpc>
                <a:spcPct val="137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Pretendard"/>
                <a:ea typeface="Pretendard"/>
              </a:rPr>
              <a:t>4</a:t>
            </a:r>
            <a:endParaRPr b="0" lang="en-US" sz="1800" spc="-1" strike="noStrike">
              <a:latin typeface="Noto Sans CJK KR"/>
            </a:endParaRPr>
          </a:p>
        </p:txBody>
      </p:sp>
      <p:sp>
        <p:nvSpPr>
          <p:cNvPr id="369" name="Text 33"/>
          <p:cNvSpPr/>
          <p:nvPr/>
        </p:nvSpPr>
        <p:spPr>
          <a:xfrm>
            <a:off x="12153960" y="5562720"/>
            <a:ext cx="473472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94000"/>
          </a:bodyPr>
          <a:p>
            <a:pPr>
              <a:lnSpc>
                <a:spcPct val="105000"/>
              </a:lnSpc>
              <a:buNone/>
              <a:tabLst>
                <a:tab algn="l" pos="0"/>
              </a:tabLst>
            </a:pPr>
            <a:r>
              <a:rPr b="0" lang="ko-KR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두 번째 월드에서 같은 설정으로 재확인</a:t>
            </a:r>
            <a:endParaRPr b="0" lang="en-US" sz="2400" spc="-1" strike="noStrike">
              <a:latin typeface="Noto Sans CJK KR"/>
            </a:endParaRPr>
          </a:p>
        </p:txBody>
      </p:sp>
      <p:sp>
        <p:nvSpPr>
          <p:cNvPr id="370" name="Shape 34"/>
          <p:cNvSpPr/>
          <p:nvPr/>
        </p:nvSpPr>
        <p:spPr>
          <a:xfrm>
            <a:off x="11582280" y="6156000"/>
            <a:ext cx="380520" cy="380520"/>
          </a:xfrm>
          <a:prstGeom prst="ellipse">
            <a:avLst/>
          </a:prstGeom>
          <a:solidFill>
            <a:srgbClr val="1f23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71" name="Text 35"/>
          <p:cNvSpPr/>
          <p:nvPr/>
        </p:nvSpPr>
        <p:spPr>
          <a:xfrm>
            <a:off x="11544480" y="6134040"/>
            <a:ext cx="45684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98000"/>
          </a:bodyPr>
          <a:p>
            <a:pPr algn="ctr">
              <a:lnSpc>
                <a:spcPct val="137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Pretendard"/>
                <a:ea typeface="Pretendard"/>
              </a:rPr>
              <a:t>5</a:t>
            </a:r>
            <a:endParaRPr b="0" lang="en-US" sz="1800" spc="-1" strike="noStrike">
              <a:latin typeface="Noto Sans CJK KR"/>
            </a:endParaRPr>
          </a:p>
        </p:txBody>
      </p:sp>
      <p:sp>
        <p:nvSpPr>
          <p:cNvPr id="372" name="Text 36"/>
          <p:cNvSpPr/>
          <p:nvPr/>
        </p:nvSpPr>
        <p:spPr>
          <a:xfrm>
            <a:off x="12153960" y="6134040"/>
            <a:ext cx="549072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95000"/>
          </a:bodyPr>
          <a:p>
            <a:pPr>
              <a:lnSpc>
                <a:spcPct val="105000"/>
              </a:lnSpc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(</a:t>
            </a:r>
            <a:r>
              <a:rPr b="0" lang="ko-KR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가능하면</a:t>
            </a:r>
            <a:r>
              <a:rPr b="0" lang="en-US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) </a:t>
            </a:r>
            <a:r>
              <a:rPr b="0" lang="ko-KR" sz="2400" spc="-1" strike="noStrike">
                <a:solidFill>
                  <a:srgbClr val="1f2328"/>
                </a:solidFill>
                <a:latin typeface="Pretendard"/>
                <a:ea typeface="Pretendard"/>
              </a:rPr>
              <a:t>실제 깊이카메라 영상으로 확인</a:t>
            </a:r>
            <a:endParaRPr b="0" lang="en-US" sz="2400" spc="-1" strike="noStrike">
              <a:latin typeface="Noto Sans CJK KR"/>
            </a:endParaRPr>
          </a:p>
        </p:txBody>
      </p:sp>
      <p:sp>
        <p:nvSpPr>
          <p:cNvPr id="373" name="Shape 37"/>
          <p:cNvSpPr/>
          <p:nvPr/>
        </p:nvSpPr>
        <p:spPr>
          <a:xfrm>
            <a:off x="914400" y="8229600"/>
            <a:ext cx="16458840" cy="18720"/>
          </a:xfrm>
          <a:prstGeom prst="rect">
            <a:avLst/>
          </a:prstGeom>
          <a:solidFill>
            <a:srgbClr val="e3e6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74" name="Text 38"/>
          <p:cNvSpPr/>
          <p:nvPr/>
        </p:nvSpPr>
        <p:spPr>
          <a:xfrm>
            <a:off x="914400" y="8381880"/>
            <a:ext cx="15304320" cy="125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>
              <a:lnSpc>
                <a:spcPct val="103000"/>
              </a:lnSpc>
              <a:buNone/>
              <a:tabLst>
                <a:tab algn="l" pos="0"/>
              </a:tabLst>
            </a:pPr>
            <a:r>
              <a:rPr b="1" lang="ko-KR" sz="3900" spc="-80" strike="noStrike">
                <a:solidFill>
                  <a:srgbClr val="1f2328"/>
                </a:solidFill>
                <a:latin typeface="Pretendard"/>
                <a:ea typeface="Pretendard"/>
              </a:rPr>
              <a:t>현장 방식을 대체하는 것이 아니라</a:t>
            </a:r>
            <a:r>
              <a:rPr b="1" lang="en-US" sz="3900" spc="-80" strike="noStrike">
                <a:solidFill>
                  <a:srgbClr val="1f2328"/>
                </a:solidFill>
                <a:latin typeface="Pretendard"/>
                <a:ea typeface="Pretendard"/>
              </a:rPr>
              <a:t>, </a:t>
            </a:r>
            <a:r>
              <a:rPr b="1" lang="ko-KR" sz="3900" spc="-80" strike="noStrike">
                <a:solidFill>
                  <a:srgbClr val="1f2328"/>
                </a:solidFill>
                <a:latin typeface="Pretendard"/>
                <a:ea typeface="Pretendard"/>
              </a:rPr>
              <a:t>빈 구간을 메운다</a:t>
            </a:r>
            <a:r>
              <a:rPr b="1" lang="en-US" sz="3900" spc="-80" strike="noStrike">
                <a:solidFill>
                  <a:srgbClr val="1f2328"/>
                </a:solidFill>
                <a:latin typeface="Pretendard"/>
                <a:ea typeface="Pretendard"/>
              </a:rPr>
              <a:t>.</a:t>
            </a:r>
            <a:endParaRPr b="0" lang="en-US" sz="3900" spc="-1" strike="noStrike">
              <a:latin typeface="Noto Sans CJK KR"/>
            </a:endParaRPr>
          </a:p>
        </p:txBody>
      </p:sp>
      <p:sp>
        <p:nvSpPr>
          <p:cNvPr id="375" name="Text 39"/>
          <p:cNvSpPr/>
          <p:nvPr/>
        </p:nvSpPr>
        <p:spPr>
          <a:xfrm>
            <a:off x="16535520" y="9296280"/>
            <a:ext cx="83772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97000"/>
          </a:bodyPr>
          <a:p>
            <a:pPr algn="r">
              <a:lnSpc>
                <a:spcPct val="11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5b6470"/>
                </a:solidFill>
                <a:latin typeface="Pretendard"/>
                <a:ea typeface="Pretendard"/>
              </a:rPr>
              <a:t>8</a:t>
            </a:r>
            <a:endParaRPr b="0" lang="en-US" sz="1800" spc="-1" strike="noStrike">
              <a:latin typeface="Noto Sans CJK KR"/>
            </a:endParaRPr>
          </a:p>
        </p:txBody>
      </p:sp>
      <p:sp>
        <p:nvSpPr>
          <p:cNvPr id="376" name="Text 19"/>
          <p:cNvSpPr/>
          <p:nvPr/>
        </p:nvSpPr>
        <p:spPr>
          <a:xfrm>
            <a:off x="11544480" y="3086280"/>
            <a:ext cx="45684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98000"/>
          </a:bodyPr>
          <a:p>
            <a:pPr algn="ctr">
              <a:lnSpc>
                <a:spcPct val="137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Pretendard"/>
                <a:ea typeface="Pretendard"/>
              </a:rPr>
              <a:t>1</a:t>
            </a:r>
            <a:endParaRPr b="0" lang="en-US" sz="1800" spc="-1" strike="noStrike"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webextensions/taskpanes.xml><?xml version="1.0" encoding="utf-8"?>
<wetp:taskpanes xmlns:wetp="http://schemas.microsoft.com/office/webextensions/taskpanes/2010/11">
  <wetp:taskpane dockstate="right" visibility="0" width="613" row="1">
    <wetp:webextensionref xmlns:r="http://schemas.openxmlformats.org/officeDocument/2006/relationships" r:id="rId1"/>
  </wetp:taskpane>
</wetp:taskpanes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122</TotalTime>
  <Application>LibreOffice/7.3.7.2$Linux_X86_64 LibreOffice_project/30$Build-2</Application>
  <AppVersion>15.0000</AppVersion>
  <Words>1501</Words>
  <Paragraphs>199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2026-10-25T03:48:05Z</dcterms:created>
  <dc:creator>PptxGenJS</dc:creator>
  <dc:description/>
  <dc:language>ko-KR</dc:language>
  <cp:lastModifiedBy/>
  <dcterms:modified xsi:type="dcterms:W3CDTF">2026-10-26T05:32:48Z</dcterms:modified>
  <cp:revision>14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1</vt:i4>
  </property>
  <property fmtid="{D5CDD505-2E9C-101B-9397-08002B2CF9AE}" pid="3" name="Notes">
    <vt:i4>8</vt:i4>
  </property>
  <property fmtid="{D5CDD505-2E9C-101B-9397-08002B2CF9AE}" pid="4" name="PresentationFormat">
    <vt:lpwstr>사용자 지정</vt:lpwstr>
  </property>
  <property fmtid="{D5CDD505-2E9C-101B-9397-08002B2CF9AE}" pid="5" name="Slides">
    <vt:i4>8</vt:i4>
  </property>
</Properties>
</file>