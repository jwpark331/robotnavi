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130"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8108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2D 지도로 다니는 실내 로봇이 계단에서 떨어지지 않게 하는 방법, '보이지 않는 계단'을 제안합니다.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서빙·안내 로봇은 대부분 2D LiDAR로 지도를 만들고 다닙니다. 이 센서는 바닥 위 20–30 cm 높이만 봅니다. 내려가는 계단은 그 높이에 아무것도 없어서, 지도에는 지나가도 되는 빈 바닥으로 찍힙니다. 평소에는 문제가 없지만, 사람이 길을 막거나, 로봇이 위치를 착각하거나, 계단 표시가 빠졌거나, 뒤로 물러날 때 위험해집니다. 산업용 로봇 MiR도 매뉴얼에 내려가는 계단을 제때 감지하지 못한다고 적어 두었고, 2024년에는 구미시의회 건물에서 '로봇 주무관'이 계단으로 떨어진 일도 있었습니다. 원인은 공개되지 않았습니다. 저희가 만든 시뮬레이션에서도 지도만 쓰는 로봇이 계단으로 떨어지는 상황을 재현했습니다.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현장은 두 겹으로 막습니다. 지도에 금지구역을 그리는 방법은 로봇이 자기 위치를 정확히 알 때만 통합니다. 발밑 IR은 몸체 끝이 가장자리에 닿아야 알아서, 바닥이 미끄러우면 멈추지 못합니다. 저희는 이 두 방어 사이의 빈 구간을 메우려 합니다. 서빙로봇도 카메라를 달지만, 그 데이터를 어떻게 처리하는지는 공개되지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제안은 이 빈 구간에 깊이카메라 층을 넣는 것입니다. 첫째, 깊이카메라로 앞 바닥을 10 cm 칸으로 나눠 바닥보다 낮은 곳을 찾습니다. IR보다 먼저 알아야 경로를 바꿀 시간이 생기기 때문입니다. 둘째, 한 장만 보고 판단하지 않고 베이즈 필터로 증거를 쌓아, 여러 장 연속으로 낮게 보여야 낭떠러지로 판정합니다. 햇빛이나 잡음에 흔들리지 않게 하기 위해서입니다. 셋째, 판정한 낭떠러지를 지도 좌표가 아니라 바퀴 기준 좌표에 기억합니다. 카메라는 앞만 보기 때문에 돌거나 물러날 때 기억이 필요하고, 지도 좌표는 위치추정이 고쳐질 때 뛰기 때문입니다. 판정 결과는 Nav2 금지구역으로 넣어 미리 돌아가게 하고, 카메라가 못 보는 경우를 위해 IR을 마지막 층으로 남깁니다. 이것이 제안 방식 P3i입니다.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검증 환경은 ROS 2, Gazebo, Nav2로 구축했습니다. 계단 두 곳이 있는 건물 한 층을 만들고, slam_toolbox로 계단이 빈 바닥으로 찍힌 지도를 직접 만들었습니다. 평상시, 사람이 막는 상황, 위치 착각, 계단 표시 누락에 더해 검은 계단, 미끄러운 바닥, 움직이는 사람, 뒤로 비켜 주기까지 비교합니다. 비교 대상은 지도만 쓰는 방식부터 현장 표준인 금지구역과 IR까지입니다. 결과를 보고 기준을 고른다는 비판을 막기 위해, 판정 기준은 실험 전에 고정했습니다.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가설은 네 가지입니다. 가장 중요한 것은, 악조건에서 제안 방식의 안전 실패율이 현장 표준보다 유의하게 낮고, 도착률은 10 %p 넘게 떨어지지 않는다는 것입니다. 반대로 평상시에는 차이가 없을 것으로 봅니다. 제안의 가치는 악조건에서 나온다는 뜻입니다. 또 기억은 지도가 아니라 바퀴 기준 좌표에 둬야 위치 착각에 견딜 것으로 예상합니다.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필터와 기억이 각각 왜 필요한지는 2×2 설계로 따로 검증합니다. 필터 없이 기억만 두면 가짜 낭떠러지가 쌓여 길이 막히고, 기억 없이 필터만 두면 뒤로 물러날 때 떨어질 것으로 예측합니다. 두 예측이 맞으면 두 요소가 각각 필요하다는 것을 따로 보일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위험 요소도 미리 정리했습니다. 반사가 없는 바닥에서는 깊이값이 나오지 않아 IR을 마지막 층으로 남겼고, 한 월드에만 맞춘 설정이 되지 않도록 두 번째 월드에서 같은 설정으로 확인할 계획입니다. 최종 발표에서는 현장 표준과의 비교, 악조건별 결과, 구성 요소 분석을 보여 드리겠습니다. 저희 제안은 현장 방식을 대체하는 것이 아니라, 두 겹 방어 사이의 빈 구간을 메우는 것입니다.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FallV" Type="http://schemas.openxmlformats.org/officeDocument/2006/relationships/video" Target="../media/media_fall.mp4"/><Relationship Id="rIdFallM" Type="http://schemas.microsoft.com/office/2007/relationships/media" Target="../media/media_fall.mp4"/><Relationship Id="rIdFallP" Type="http://schemas.openxmlformats.org/officeDocument/2006/relationships/image" Target="../media/image_fall_poster.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1905000"/>
            <a:ext cx="18105120" cy="1562100"/>
          </a:xfrm>
          <a:prstGeom prst="rect">
            <a:avLst/>
          </a:prstGeom>
          <a:noFill/>
          <a:ln/>
        </p:spPr>
        <p:txBody>
          <a:bodyPr wrap="square" lIns="25400" tIns="25400" rIns="25400" bIns="25400" rtlCol="0" anchor="t">
            <a:normAutofit/>
          </a:bodyPr>
          <a:lstStyle/>
          <a:p>
            <a:pPr marL="0" indent="0" algn="l">
              <a:lnSpc>
                <a:spcPct val="98039"/>
              </a:lnSpc>
              <a:buNone/>
            </a:pPr>
            <a:r>
              <a:rPr lang="en-US" sz="9600" b="1" kern="0" spc="-288" dirty="0">
                <a:solidFill>
                  <a:srgbClr val="1F2328"/>
                </a:solidFill>
                <a:latin typeface="Pretendard" pitchFamily="34" charset="0"/>
                <a:ea typeface="Pretendard" pitchFamily="34" charset="-122"/>
                <a:cs typeface="Pretendard" pitchFamily="34" charset="-120"/>
              </a:rPr>
              <a:t>보이지 않는 계단</a:t>
            </a:r>
            <a:endParaRPr lang="en-US" sz="9600" dirty="0"/>
          </a:p>
        </p:txBody>
      </p:sp>
      <p:sp>
        <p:nvSpPr>
          <p:cNvPr id="3" name="Text 1"/>
          <p:cNvSpPr/>
          <p:nvPr/>
        </p:nvSpPr>
        <p:spPr>
          <a:xfrm>
            <a:off x="914400" y="3657600"/>
            <a:ext cx="18105120" cy="6096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5B6470"/>
                </a:solidFill>
                <a:latin typeface="Pretendard" pitchFamily="34" charset="0"/>
                <a:ea typeface="Pretendard" pitchFamily="34" charset="-122"/>
                <a:cs typeface="Pretendard" pitchFamily="34" charset="-120"/>
              </a:rPr>
              <a:t>2D LiDAR 지도에 없는 낭떠러지를 피하는 깊이카메라 안전층</a:t>
            </a:r>
            <a:endParaRPr lang="en-US" sz="3000" dirty="0"/>
          </a:p>
        </p:txBody>
      </p:sp>
      <p:sp>
        <p:nvSpPr>
          <p:cNvPr id="4" name="Shape 2"/>
          <p:cNvSpPr/>
          <p:nvPr/>
        </p:nvSpPr>
        <p:spPr>
          <a:xfrm>
            <a:off x="914400" y="7334250"/>
            <a:ext cx="10096500" cy="38100"/>
          </a:xfrm>
          <a:prstGeom prst="rect">
            <a:avLst/>
          </a:prstGeom>
          <a:solidFill>
            <a:srgbClr val="1F2328"/>
          </a:solidFill>
          <a:ln/>
        </p:spPr>
        <p:txBody>
          <a:bodyPr/>
          <a:lstStyle/>
          <a:p>
            <a:endParaRPr lang="ko-KR" altLang="en-US"/>
          </a:p>
        </p:txBody>
      </p:sp>
      <p:sp>
        <p:nvSpPr>
          <p:cNvPr id="5" name="Shape 3"/>
          <p:cNvSpPr/>
          <p:nvPr/>
        </p:nvSpPr>
        <p:spPr>
          <a:xfrm>
            <a:off x="11010900" y="7334250"/>
            <a:ext cx="38100" cy="276225"/>
          </a:xfrm>
          <a:prstGeom prst="rect">
            <a:avLst/>
          </a:prstGeom>
          <a:solidFill>
            <a:srgbClr val="D33C3C"/>
          </a:solidFill>
          <a:ln/>
        </p:spPr>
        <p:txBody>
          <a:bodyPr/>
          <a:lstStyle/>
          <a:p>
            <a:endParaRPr lang="ko-KR" altLang="en-US"/>
          </a:p>
        </p:txBody>
      </p:sp>
      <p:sp>
        <p:nvSpPr>
          <p:cNvPr id="6" name="Shape 4"/>
          <p:cNvSpPr/>
          <p:nvPr/>
        </p:nvSpPr>
        <p:spPr>
          <a:xfrm>
            <a:off x="11010900" y="7572375"/>
            <a:ext cx="704850" cy="38100"/>
          </a:xfrm>
          <a:prstGeom prst="rect">
            <a:avLst/>
          </a:prstGeom>
          <a:solidFill>
            <a:srgbClr val="D33C3C"/>
          </a:solidFill>
          <a:ln/>
        </p:spPr>
        <p:txBody>
          <a:bodyPr/>
          <a:lstStyle/>
          <a:p>
            <a:endParaRPr lang="ko-KR" altLang="en-US"/>
          </a:p>
        </p:txBody>
      </p:sp>
      <p:sp>
        <p:nvSpPr>
          <p:cNvPr id="7" name="Shape 5"/>
          <p:cNvSpPr/>
          <p:nvPr/>
        </p:nvSpPr>
        <p:spPr>
          <a:xfrm>
            <a:off x="11677650" y="7572375"/>
            <a:ext cx="38100" cy="276225"/>
          </a:xfrm>
          <a:prstGeom prst="rect">
            <a:avLst/>
          </a:prstGeom>
          <a:solidFill>
            <a:srgbClr val="D33C3C"/>
          </a:solidFill>
          <a:ln/>
        </p:spPr>
        <p:txBody>
          <a:bodyPr/>
          <a:lstStyle/>
          <a:p>
            <a:endParaRPr lang="ko-KR" altLang="en-US"/>
          </a:p>
        </p:txBody>
      </p:sp>
      <p:sp>
        <p:nvSpPr>
          <p:cNvPr id="8" name="Shape 6"/>
          <p:cNvSpPr/>
          <p:nvPr/>
        </p:nvSpPr>
        <p:spPr>
          <a:xfrm>
            <a:off x="11677650" y="7810500"/>
            <a:ext cx="704850" cy="38100"/>
          </a:xfrm>
          <a:prstGeom prst="rect">
            <a:avLst/>
          </a:prstGeom>
          <a:solidFill>
            <a:srgbClr val="D33C3C"/>
          </a:solidFill>
          <a:ln/>
        </p:spPr>
        <p:txBody>
          <a:bodyPr/>
          <a:lstStyle/>
          <a:p>
            <a:endParaRPr lang="ko-KR" altLang="en-US"/>
          </a:p>
        </p:txBody>
      </p:sp>
      <p:sp>
        <p:nvSpPr>
          <p:cNvPr id="9" name="Shape 7"/>
          <p:cNvSpPr/>
          <p:nvPr/>
        </p:nvSpPr>
        <p:spPr>
          <a:xfrm>
            <a:off x="12344400" y="7810500"/>
            <a:ext cx="38100" cy="276225"/>
          </a:xfrm>
          <a:prstGeom prst="rect">
            <a:avLst/>
          </a:prstGeom>
          <a:solidFill>
            <a:srgbClr val="D33C3C"/>
          </a:solidFill>
          <a:ln/>
        </p:spPr>
        <p:txBody>
          <a:bodyPr/>
          <a:lstStyle/>
          <a:p>
            <a:endParaRPr lang="ko-KR" altLang="en-US"/>
          </a:p>
        </p:txBody>
      </p:sp>
      <p:sp>
        <p:nvSpPr>
          <p:cNvPr id="10" name="Shape 8"/>
          <p:cNvSpPr/>
          <p:nvPr/>
        </p:nvSpPr>
        <p:spPr>
          <a:xfrm>
            <a:off x="12344400" y="8048625"/>
            <a:ext cx="704850" cy="38100"/>
          </a:xfrm>
          <a:prstGeom prst="rect">
            <a:avLst/>
          </a:prstGeom>
          <a:solidFill>
            <a:srgbClr val="D33C3C"/>
          </a:solidFill>
          <a:ln/>
        </p:spPr>
        <p:txBody>
          <a:bodyPr/>
          <a:lstStyle/>
          <a:p>
            <a:endParaRPr lang="ko-KR" altLang="en-US"/>
          </a:p>
        </p:txBody>
      </p:sp>
      <p:sp>
        <p:nvSpPr>
          <p:cNvPr id="11" name="Shape 9"/>
          <p:cNvSpPr/>
          <p:nvPr/>
        </p:nvSpPr>
        <p:spPr>
          <a:xfrm>
            <a:off x="13011150" y="8048625"/>
            <a:ext cx="38100" cy="238125"/>
          </a:xfrm>
          <a:prstGeom prst="rect">
            <a:avLst/>
          </a:prstGeom>
          <a:solidFill>
            <a:srgbClr val="D33C3C"/>
          </a:solidFill>
          <a:ln/>
        </p:spPr>
        <p:txBody>
          <a:bodyPr/>
          <a:lstStyle/>
          <a:p>
            <a:endParaRPr lang="ko-KR" altLang="en-US"/>
          </a:p>
        </p:txBody>
      </p:sp>
      <p:sp>
        <p:nvSpPr>
          <p:cNvPr id="12" name="Shape 10"/>
          <p:cNvSpPr/>
          <p:nvPr/>
        </p:nvSpPr>
        <p:spPr>
          <a:xfrm>
            <a:off x="13011150" y="8248650"/>
            <a:ext cx="2381250" cy="38100"/>
          </a:xfrm>
          <a:prstGeom prst="rect">
            <a:avLst/>
          </a:prstGeom>
          <a:solidFill>
            <a:srgbClr val="1F2328"/>
          </a:solidFill>
          <a:ln/>
        </p:spPr>
        <p:txBody>
          <a:bodyPr/>
          <a:lstStyle/>
          <a:p>
            <a:endParaRPr lang="ko-KR" altLang="en-US"/>
          </a:p>
        </p:txBody>
      </p:sp>
      <p:sp>
        <p:nvSpPr>
          <p:cNvPr id="13" name="Shape 11"/>
          <p:cNvSpPr/>
          <p:nvPr/>
        </p:nvSpPr>
        <p:spPr>
          <a:xfrm>
            <a:off x="15392400" y="5334000"/>
            <a:ext cx="266700" cy="2952750"/>
          </a:xfrm>
          <a:prstGeom prst="rect">
            <a:avLst/>
          </a:prstGeom>
          <a:solidFill>
            <a:srgbClr val="1F2328"/>
          </a:solidFill>
          <a:ln/>
        </p:spPr>
        <p:txBody>
          <a:bodyPr/>
          <a:lstStyle/>
          <a:p>
            <a:endParaRPr lang="ko-KR" altLang="en-US"/>
          </a:p>
        </p:txBody>
      </p:sp>
      <p:sp>
        <p:nvSpPr>
          <p:cNvPr id="14" name="Shape 12"/>
          <p:cNvSpPr/>
          <p:nvPr/>
        </p:nvSpPr>
        <p:spPr>
          <a:xfrm>
            <a:off x="7010400" y="6153150"/>
            <a:ext cx="1333500" cy="952500"/>
          </a:xfrm>
          <a:prstGeom prst="roundRect">
            <a:avLst>
              <a:gd name="adj" fmla="val 8000"/>
            </a:avLst>
          </a:prstGeom>
          <a:solidFill>
            <a:srgbClr val="FCFCFB"/>
          </a:solidFill>
          <a:ln w="38100">
            <a:solidFill>
              <a:srgbClr val="1F2328"/>
            </a:solidFill>
            <a:prstDash val="solid"/>
          </a:ln>
        </p:spPr>
        <p:txBody>
          <a:bodyPr/>
          <a:lstStyle/>
          <a:p>
            <a:endParaRPr lang="ko-KR" altLang="en-US"/>
          </a:p>
        </p:txBody>
      </p:sp>
      <p:sp>
        <p:nvSpPr>
          <p:cNvPr id="15" name="Shape 13"/>
          <p:cNvSpPr/>
          <p:nvPr/>
        </p:nvSpPr>
        <p:spPr>
          <a:xfrm>
            <a:off x="7162800" y="7067550"/>
            <a:ext cx="266700" cy="266700"/>
          </a:xfrm>
          <a:prstGeom prst="ellipse">
            <a:avLst/>
          </a:prstGeom>
          <a:solidFill>
            <a:srgbClr val="1F2328"/>
          </a:solidFill>
          <a:ln/>
        </p:spPr>
        <p:txBody>
          <a:bodyPr/>
          <a:lstStyle/>
          <a:p>
            <a:endParaRPr lang="ko-KR" altLang="en-US"/>
          </a:p>
        </p:txBody>
      </p:sp>
      <p:sp>
        <p:nvSpPr>
          <p:cNvPr id="16" name="Shape 14"/>
          <p:cNvSpPr/>
          <p:nvPr/>
        </p:nvSpPr>
        <p:spPr>
          <a:xfrm>
            <a:off x="7924800" y="7067550"/>
            <a:ext cx="266700" cy="266700"/>
          </a:xfrm>
          <a:prstGeom prst="ellipse">
            <a:avLst/>
          </a:prstGeom>
          <a:solidFill>
            <a:srgbClr val="1F2328"/>
          </a:solidFill>
          <a:ln/>
        </p:spPr>
        <p:txBody>
          <a:bodyPr/>
          <a:lstStyle/>
          <a:p>
            <a:endParaRPr lang="ko-KR" altLang="en-US"/>
          </a:p>
        </p:txBody>
      </p:sp>
      <p:sp>
        <p:nvSpPr>
          <p:cNvPr id="17" name="Shape 15"/>
          <p:cNvSpPr/>
          <p:nvPr/>
        </p:nvSpPr>
        <p:spPr>
          <a:xfrm>
            <a:off x="8343900" y="6419850"/>
            <a:ext cx="228600" cy="266700"/>
          </a:xfrm>
          <a:prstGeom prst="roundRect">
            <a:avLst>
              <a:gd name="adj" fmla="val 16667"/>
            </a:avLst>
          </a:prstGeom>
          <a:solidFill>
            <a:srgbClr val="1F2328"/>
          </a:solidFill>
          <a:ln/>
        </p:spPr>
        <p:txBody>
          <a:bodyPr/>
          <a:lstStyle/>
          <a:p>
            <a:endParaRPr lang="ko-KR" altLang="en-US"/>
          </a:p>
        </p:txBody>
      </p:sp>
      <p:sp>
        <p:nvSpPr>
          <p:cNvPr id="18" name="Shape 16"/>
          <p:cNvSpPr/>
          <p:nvPr/>
        </p:nvSpPr>
        <p:spPr>
          <a:xfrm>
            <a:off x="8572500" y="6534150"/>
            <a:ext cx="6819900" cy="38100"/>
          </a:xfrm>
          <a:prstGeom prst="rect">
            <a:avLst/>
          </a:prstGeom>
          <a:solidFill>
            <a:srgbClr val="1F2328"/>
          </a:solidFill>
          <a:ln/>
        </p:spPr>
        <p:txBody>
          <a:bodyPr/>
          <a:lstStyle/>
          <a:p>
            <a:endParaRPr lang="ko-KR" altLang="en-US"/>
          </a:p>
        </p:txBody>
      </p:sp>
      <p:sp>
        <p:nvSpPr>
          <p:cNvPr id="19" name="Shape 17"/>
          <p:cNvSpPr/>
          <p:nvPr/>
        </p:nvSpPr>
        <p:spPr>
          <a:xfrm>
            <a:off x="914400" y="8610600"/>
            <a:ext cx="16459200" cy="19050"/>
          </a:xfrm>
          <a:prstGeom prst="rect">
            <a:avLst/>
          </a:prstGeom>
          <a:solidFill>
            <a:srgbClr val="E3E6EA"/>
          </a:solidFill>
          <a:ln/>
        </p:spPr>
        <p:txBody>
          <a:bodyPr/>
          <a:lstStyle/>
          <a:p>
            <a:endParaRPr lang="ko-KR" altLang="en-US"/>
          </a:p>
        </p:txBody>
      </p:sp>
      <p:sp>
        <p:nvSpPr>
          <p:cNvPr id="20" name="Text 18"/>
          <p:cNvSpPr/>
          <p:nvPr/>
        </p:nvSpPr>
        <p:spPr>
          <a:xfrm>
            <a:off x="914400" y="8839200"/>
            <a:ext cx="4953074"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로봇내비게이션 텀프로젝트 Proposal</a:t>
            </a:r>
            <a:endParaRPr lang="en-US" sz="2400" dirty="0"/>
          </a:p>
        </p:txBody>
      </p:sp>
      <p:sp>
        <p:nvSpPr>
          <p:cNvPr id="22" name="Text 20"/>
          <p:cNvSpPr/>
          <p:nvPr/>
        </p:nvSpPr>
        <p:spPr>
          <a:xfrm>
            <a:off x="5875586" y="8839200"/>
            <a:ext cx="972665" cy="457200"/>
          </a:xfrm>
          <a:prstGeom prst="rect">
            <a:avLst/>
          </a:prstGeom>
          <a:noFill/>
          <a:ln/>
        </p:spPr>
        <p:txBody>
          <a:bodyPr wrap="square" lIns="25400" tIns="25400" rIns="25400" bIns="25400" rtlCol="0" anchor="t">
            <a:noAutofit/>
          </a:bodyPr>
          <a:lstStyle/>
          <a:p>
            <a:pPr marL="0" indent="0" algn="l">
              <a:lnSpc>
                <a:spcPct val="115789"/>
              </a:lnSpc>
              <a:buNone/>
            </a:pPr>
            <a:r>
              <a:rPr lang="en-US" sz="2400" dirty="0">
                <a:solidFill>
                  <a:srgbClr val="1F2328"/>
                </a:solidFill>
                <a:latin typeface="Pretendard" pitchFamily="34" charset="0"/>
                <a:ea typeface="Pretendard" pitchFamily="34" charset="-122"/>
                <a:cs typeface="Pretendard" pitchFamily="34" charset="-120"/>
              </a:rPr>
              <a:t>박정원</a:t>
            </a:r>
            <a:endParaRPr lang="en-US" sz="2400" dirty="0"/>
          </a:p>
        </p:txBody>
      </p:sp>
      <p:sp>
        <p:nvSpPr>
          <p:cNvPr id="23" name="Text 21"/>
          <p:cNvSpPr/>
          <p:nvPr/>
        </p:nvSpPr>
        <p:spPr>
          <a:xfrm>
            <a:off x="6856363" y="8839200"/>
            <a:ext cx="153591"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a:t>
            </a:r>
            <a:endParaRPr lang="en-US" sz="2400" dirty="0"/>
          </a:p>
        </p:txBody>
      </p:sp>
      <p:sp>
        <p:nvSpPr>
          <p:cNvPr id="24" name="Text 22"/>
          <p:cNvSpPr/>
          <p:nvPr/>
        </p:nvSpPr>
        <p:spPr>
          <a:xfrm>
            <a:off x="7124254" y="8839200"/>
            <a:ext cx="980777"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1F2328"/>
                </a:solidFill>
                <a:latin typeface="Pretendard" pitchFamily="34" charset="0"/>
                <a:ea typeface="Pretendard" pitchFamily="34" charset="-122"/>
                <a:cs typeface="Pretendard" pitchFamily="34" charset="-120"/>
              </a:rPr>
              <a:t>박준우</a:t>
            </a:r>
            <a:endParaRPr lang="en-US" sz="2400" dirty="0"/>
          </a:p>
        </p:txBody>
      </p:sp>
      <p:sp>
        <p:nvSpPr>
          <p:cNvPr id="25" name="Text 23"/>
          <p:cNvSpPr/>
          <p:nvPr/>
        </p:nvSpPr>
        <p:spPr>
          <a:xfrm>
            <a:off x="8105031" y="8839200"/>
            <a:ext cx="153591"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a:t>
            </a:r>
            <a:endParaRPr lang="en-US" sz="2400" dirty="0"/>
          </a:p>
        </p:txBody>
      </p:sp>
      <p:sp>
        <p:nvSpPr>
          <p:cNvPr id="26" name="Text 24"/>
          <p:cNvSpPr/>
          <p:nvPr/>
        </p:nvSpPr>
        <p:spPr>
          <a:xfrm>
            <a:off x="8372921" y="8839200"/>
            <a:ext cx="1670506"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2026.10.26</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PROBLEM</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내려가는 계단은 지도에 '빈 바닥'으로 찍힌다</a:t>
            </a:r>
            <a:endParaRPr lang="en-US" sz="5400" dirty="0"/>
          </a:p>
        </p:txBody>
      </p:sp>
      <p:sp>
        <p:nvSpPr>
          <p:cNvPr id="4" name="Shape 2"/>
          <p:cNvSpPr/>
          <p:nvPr/>
        </p:nvSpPr>
        <p:spPr>
          <a:xfrm>
            <a:off x="914400" y="3981450"/>
            <a:ext cx="4191000" cy="38100"/>
          </a:xfrm>
          <a:prstGeom prst="rect">
            <a:avLst/>
          </a:prstGeom>
          <a:solidFill>
            <a:srgbClr val="1F2328"/>
          </a:solidFill>
          <a:ln/>
        </p:spPr>
        <p:txBody>
          <a:bodyPr/>
          <a:lstStyle/>
          <a:p>
            <a:endParaRPr lang="ko-KR" altLang="en-US"/>
          </a:p>
        </p:txBody>
      </p:sp>
      <p:sp>
        <p:nvSpPr>
          <p:cNvPr id="5" name="Shape 3"/>
          <p:cNvSpPr/>
          <p:nvPr/>
        </p:nvSpPr>
        <p:spPr>
          <a:xfrm>
            <a:off x="5105400" y="3981450"/>
            <a:ext cx="38100" cy="247650"/>
          </a:xfrm>
          <a:prstGeom prst="rect">
            <a:avLst/>
          </a:prstGeom>
          <a:solidFill>
            <a:srgbClr val="D33C3C"/>
          </a:solidFill>
          <a:ln/>
        </p:spPr>
        <p:txBody>
          <a:bodyPr/>
          <a:lstStyle/>
          <a:p>
            <a:endParaRPr lang="ko-KR" altLang="en-US"/>
          </a:p>
        </p:txBody>
      </p:sp>
      <p:sp>
        <p:nvSpPr>
          <p:cNvPr id="6" name="Shape 4"/>
          <p:cNvSpPr/>
          <p:nvPr/>
        </p:nvSpPr>
        <p:spPr>
          <a:xfrm>
            <a:off x="5105400" y="4191000"/>
            <a:ext cx="666750" cy="38100"/>
          </a:xfrm>
          <a:prstGeom prst="rect">
            <a:avLst/>
          </a:prstGeom>
          <a:solidFill>
            <a:srgbClr val="D33C3C"/>
          </a:solidFill>
          <a:ln/>
        </p:spPr>
        <p:txBody>
          <a:bodyPr/>
          <a:lstStyle/>
          <a:p>
            <a:endParaRPr lang="ko-KR" altLang="en-US"/>
          </a:p>
        </p:txBody>
      </p:sp>
      <p:sp>
        <p:nvSpPr>
          <p:cNvPr id="7" name="Shape 5"/>
          <p:cNvSpPr/>
          <p:nvPr/>
        </p:nvSpPr>
        <p:spPr>
          <a:xfrm>
            <a:off x="5734050" y="4191000"/>
            <a:ext cx="38100" cy="228600"/>
          </a:xfrm>
          <a:prstGeom prst="rect">
            <a:avLst/>
          </a:prstGeom>
          <a:solidFill>
            <a:srgbClr val="D33C3C"/>
          </a:solidFill>
          <a:ln/>
        </p:spPr>
        <p:txBody>
          <a:bodyPr/>
          <a:lstStyle/>
          <a:p>
            <a:endParaRPr lang="ko-KR" altLang="en-US"/>
          </a:p>
        </p:txBody>
      </p:sp>
      <p:sp>
        <p:nvSpPr>
          <p:cNvPr id="8" name="Shape 6"/>
          <p:cNvSpPr/>
          <p:nvPr/>
        </p:nvSpPr>
        <p:spPr>
          <a:xfrm>
            <a:off x="5734050" y="4381500"/>
            <a:ext cx="666750" cy="38100"/>
          </a:xfrm>
          <a:prstGeom prst="rect">
            <a:avLst/>
          </a:prstGeom>
          <a:solidFill>
            <a:srgbClr val="D33C3C"/>
          </a:solidFill>
          <a:ln/>
        </p:spPr>
        <p:txBody>
          <a:bodyPr/>
          <a:lstStyle/>
          <a:p>
            <a:endParaRPr lang="ko-KR" altLang="en-US"/>
          </a:p>
        </p:txBody>
      </p:sp>
      <p:sp>
        <p:nvSpPr>
          <p:cNvPr id="9" name="Shape 7"/>
          <p:cNvSpPr/>
          <p:nvPr/>
        </p:nvSpPr>
        <p:spPr>
          <a:xfrm>
            <a:off x="6362700" y="4381500"/>
            <a:ext cx="38100" cy="266700"/>
          </a:xfrm>
          <a:prstGeom prst="rect">
            <a:avLst/>
          </a:prstGeom>
          <a:solidFill>
            <a:srgbClr val="D33C3C"/>
          </a:solidFill>
          <a:ln/>
        </p:spPr>
        <p:txBody>
          <a:bodyPr/>
          <a:lstStyle/>
          <a:p>
            <a:endParaRPr lang="ko-KR" altLang="en-US"/>
          </a:p>
        </p:txBody>
      </p:sp>
      <p:sp>
        <p:nvSpPr>
          <p:cNvPr id="10" name="Shape 8"/>
          <p:cNvSpPr/>
          <p:nvPr/>
        </p:nvSpPr>
        <p:spPr>
          <a:xfrm>
            <a:off x="6362700" y="4610100"/>
            <a:ext cx="2514600" cy="38100"/>
          </a:xfrm>
          <a:prstGeom prst="rect">
            <a:avLst/>
          </a:prstGeom>
          <a:solidFill>
            <a:srgbClr val="1F2328"/>
          </a:solidFill>
          <a:ln/>
        </p:spPr>
        <p:txBody>
          <a:bodyPr/>
          <a:lstStyle/>
          <a:p>
            <a:endParaRPr lang="ko-KR" altLang="en-US"/>
          </a:p>
        </p:txBody>
      </p:sp>
      <p:sp>
        <p:nvSpPr>
          <p:cNvPr id="11" name="Shape 9"/>
          <p:cNvSpPr/>
          <p:nvPr/>
        </p:nvSpPr>
        <p:spPr>
          <a:xfrm>
            <a:off x="8877300" y="2400300"/>
            <a:ext cx="266700" cy="2286000"/>
          </a:xfrm>
          <a:prstGeom prst="rect">
            <a:avLst/>
          </a:prstGeom>
          <a:solidFill>
            <a:srgbClr val="1F2328"/>
          </a:solidFill>
          <a:ln/>
        </p:spPr>
        <p:txBody>
          <a:bodyPr/>
          <a:lstStyle/>
          <a:p>
            <a:endParaRPr lang="ko-KR" altLang="en-US"/>
          </a:p>
        </p:txBody>
      </p:sp>
      <p:sp>
        <p:nvSpPr>
          <p:cNvPr id="12" name="Shape 10"/>
          <p:cNvSpPr/>
          <p:nvPr/>
        </p:nvSpPr>
        <p:spPr>
          <a:xfrm>
            <a:off x="2724150" y="3028950"/>
            <a:ext cx="1047750" cy="762000"/>
          </a:xfrm>
          <a:prstGeom prst="roundRect">
            <a:avLst>
              <a:gd name="adj" fmla="val 10000"/>
            </a:avLst>
          </a:prstGeom>
          <a:solidFill>
            <a:srgbClr val="FCFCFB"/>
          </a:solidFill>
          <a:ln w="38100">
            <a:solidFill>
              <a:srgbClr val="1F2328"/>
            </a:solidFill>
            <a:prstDash val="solid"/>
          </a:ln>
        </p:spPr>
        <p:txBody>
          <a:bodyPr/>
          <a:lstStyle/>
          <a:p>
            <a:endParaRPr lang="ko-KR" altLang="en-US"/>
          </a:p>
        </p:txBody>
      </p:sp>
      <p:sp>
        <p:nvSpPr>
          <p:cNvPr id="13" name="Shape 11"/>
          <p:cNvSpPr/>
          <p:nvPr/>
        </p:nvSpPr>
        <p:spPr>
          <a:xfrm>
            <a:off x="2819400" y="3752850"/>
            <a:ext cx="228600" cy="228600"/>
          </a:xfrm>
          <a:prstGeom prst="ellipse">
            <a:avLst/>
          </a:prstGeom>
          <a:solidFill>
            <a:srgbClr val="1F2328"/>
          </a:solidFill>
          <a:ln/>
        </p:spPr>
        <p:txBody>
          <a:bodyPr/>
          <a:lstStyle/>
          <a:p>
            <a:endParaRPr lang="ko-KR" altLang="en-US"/>
          </a:p>
        </p:txBody>
      </p:sp>
      <p:sp>
        <p:nvSpPr>
          <p:cNvPr id="14" name="Shape 12"/>
          <p:cNvSpPr/>
          <p:nvPr/>
        </p:nvSpPr>
        <p:spPr>
          <a:xfrm>
            <a:off x="3448050" y="3752850"/>
            <a:ext cx="228600" cy="228600"/>
          </a:xfrm>
          <a:prstGeom prst="ellipse">
            <a:avLst/>
          </a:prstGeom>
          <a:solidFill>
            <a:srgbClr val="1F2328"/>
          </a:solidFill>
          <a:ln/>
        </p:spPr>
        <p:txBody>
          <a:bodyPr/>
          <a:lstStyle/>
          <a:p>
            <a:endParaRPr lang="ko-KR" altLang="en-US"/>
          </a:p>
        </p:txBody>
      </p:sp>
      <p:sp>
        <p:nvSpPr>
          <p:cNvPr id="15" name="Shape 13"/>
          <p:cNvSpPr/>
          <p:nvPr/>
        </p:nvSpPr>
        <p:spPr>
          <a:xfrm>
            <a:off x="3771900" y="3162300"/>
            <a:ext cx="209550" cy="228600"/>
          </a:xfrm>
          <a:prstGeom prst="roundRect">
            <a:avLst>
              <a:gd name="adj" fmla="val 18182"/>
            </a:avLst>
          </a:prstGeom>
          <a:solidFill>
            <a:srgbClr val="1F2328"/>
          </a:solidFill>
          <a:ln/>
        </p:spPr>
        <p:txBody>
          <a:bodyPr/>
          <a:lstStyle/>
          <a:p>
            <a:endParaRPr lang="ko-KR" altLang="en-US"/>
          </a:p>
        </p:txBody>
      </p:sp>
      <p:sp>
        <p:nvSpPr>
          <p:cNvPr id="16" name="Shape 14"/>
          <p:cNvSpPr/>
          <p:nvPr/>
        </p:nvSpPr>
        <p:spPr>
          <a:xfrm>
            <a:off x="3981450" y="3257550"/>
            <a:ext cx="4895850" cy="38100"/>
          </a:xfrm>
          <a:prstGeom prst="rect">
            <a:avLst/>
          </a:prstGeom>
          <a:solidFill>
            <a:srgbClr val="1F2328"/>
          </a:solidFill>
          <a:ln/>
        </p:spPr>
        <p:txBody>
          <a:bodyPr/>
          <a:lstStyle/>
          <a:p>
            <a:endParaRPr lang="ko-KR" altLang="en-US"/>
          </a:p>
        </p:txBody>
      </p:sp>
      <p:sp>
        <p:nvSpPr>
          <p:cNvPr id="17" name="Text 15"/>
          <p:cNvSpPr/>
          <p:nvPr/>
        </p:nvSpPr>
        <p:spPr>
          <a:xfrm>
            <a:off x="5162550" y="2400300"/>
            <a:ext cx="3562350" cy="419100"/>
          </a:xfrm>
          <a:prstGeom prst="rect">
            <a:avLst/>
          </a:prstGeom>
          <a:noFill/>
          <a:ln/>
        </p:spPr>
        <p:txBody>
          <a:bodyPr wrap="none" lIns="25400" tIns="25400" rIns="25400" bIns="25400" rtlCol="0" anchor="t">
            <a:normAutofit/>
          </a:bodyPr>
          <a:lstStyle/>
          <a:p>
            <a:pPr marL="0" indent="0" algn="r">
              <a:lnSpc>
                <a:spcPct val="105263"/>
              </a:lnSpc>
              <a:buNone/>
            </a:pPr>
            <a:r>
              <a:rPr lang="en-US" sz="2400" dirty="0">
                <a:solidFill>
                  <a:srgbClr val="1F2328"/>
                </a:solidFill>
                <a:latin typeface="Pretendard" pitchFamily="34" charset="0"/>
                <a:ea typeface="Pretendard" pitchFamily="34" charset="-122"/>
                <a:cs typeface="Pretendard" pitchFamily="34" charset="-120"/>
              </a:rPr>
              <a:t>건너편 벽에 맞는다</a:t>
            </a:r>
            <a:endParaRPr lang="en-US" sz="2400" dirty="0"/>
          </a:p>
        </p:txBody>
      </p:sp>
      <p:sp>
        <p:nvSpPr>
          <p:cNvPr id="18" name="Text 16"/>
          <p:cNvSpPr/>
          <p:nvPr/>
        </p:nvSpPr>
        <p:spPr>
          <a:xfrm>
            <a:off x="4152900" y="2819400"/>
            <a:ext cx="4191000" cy="419100"/>
          </a:xfrm>
          <a:prstGeom prst="rect">
            <a:avLst/>
          </a:prstGeom>
          <a:noFill/>
          <a:ln/>
        </p:spPr>
        <p:txBody>
          <a:bodyPr wrap="non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2D LiDAR 레이저 (수평)</a:t>
            </a:r>
            <a:endParaRPr lang="en-US" sz="2400" dirty="0"/>
          </a:p>
        </p:txBody>
      </p:sp>
      <p:sp>
        <p:nvSpPr>
          <p:cNvPr id="19" name="Text 17"/>
          <p:cNvSpPr/>
          <p:nvPr/>
        </p:nvSpPr>
        <p:spPr>
          <a:xfrm>
            <a:off x="5219700" y="3429000"/>
            <a:ext cx="3939540" cy="419100"/>
          </a:xfrm>
          <a:prstGeom prst="rect">
            <a:avLst/>
          </a:prstGeom>
          <a:noFill/>
          <a:ln/>
        </p:spPr>
        <p:txBody>
          <a:bodyPr wrap="none" lIns="25400" tIns="25400" rIns="25400" bIns="25400" rtlCol="0" anchor="t">
            <a:normAutofit/>
          </a:bodyPr>
          <a:lstStyle/>
          <a:p>
            <a:pPr marL="0" indent="0" algn="l">
              <a:lnSpc>
                <a:spcPct val="105263"/>
              </a:lnSpc>
              <a:buNone/>
            </a:pPr>
            <a:r>
              <a:rPr lang="en-US" sz="2400" b="1" dirty="0">
                <a:solidFill>
                  <a:srgbClr val="D33C3C"/>
                </a:solidFill>
                <a:latin typeface="Pretendard" pitchFamily="34" charset="0"/>
                <a:ea typeface="Pretendard" pitchFamily="34" charset="-122"/>
                <a:cs typeface="Pretendard" pitchFamily="34" charset="-120"/>
              </a:rPr>
              <a:t>계단 위 허공을 지나간다</a:t>
            </a:r>
            <a:endParaRPr lang="en-US" sz="2400" dirty="0"/>
          </a:p>
        </p:txBody>
      </p:sp>
      <p:sp>
        <p:nvSpPr>
          <p:cNvPr id="20" name="Shape 18"/>
          <p:cNvSpPr/>
          <p:nvPr/>
        </p:nvSpPr>
        <p:spPr>
          <a:xfrm>
            <a:off x="2419350" y="3943350"/>
            <a:ext cx="152400" cy="38100"/>
          </a:xfrm>
          <a:prstGeom prst="rect">
            <a:avLst/>
          </a:prstGeom>
          <a:solidFill>
            <a:srgbClr val="5B6470"/>
          </a:solidFill>
          <a:ln/>
        </p:spPr>
        <p:txBody>
          <a:bodyPr/>
          <a:lstStyle/>
          <a:p>
            <a:endParaRPr lang="ko-KR" altLang="en-US"/>
          </a:p>
        </p:txBody>
      </p:sp>
      <p:sp>
        <p:nvSpPr>
          <p:cNvPr id="21" name="Shape 19"/>
          <p:cNvSpPr/>
          <p:nvPr/>
        </p:nvSpPr>
        <p:spPr>
          <a:xfrm>
            <a:off x="2419350" y="3276600"/>
            <a:ext cx="152400" cy="38100"/>
          </a:xfrm>
          <a:prstGeom prst="rect">
            <a:avLst/>
          </a:prstGeom>
          <a:solidFill>
            <a:srgbClr val="5B6470"/>
          </a:solidFill>
          <a:ln/>
        </p:spPr>
        <p:txBody>
          <a:bodyPr/>
          <a:lstStyle/>
          <a:p>
            <a:endParaRPr lang="ko-KR" altLang="en-US"/>
          </a:p>
        </p:txBody>
      </p:sp>
      <p:sp>
        <p:nvSpPr>
          <p:cNvPr id="22" name="Shape 20"/>
          <p:cNvSpPr/>
          <p:nvPr/>
        </p:nvSpPr>
        <p:spPr>
          <a:xfrm>
            <a:off x="2419350" y="3276600"/>
            <a:ext cx="38100" cy="704850"/>
          </a:xfrm>
          <a:prstGeom prst="rect">
            <a:avLst/>
          </a:prstGeom>
          <a:solidFill>
            <a:srgbClr val="5B6470"/>
          </a:solidFill>
          <a:ln/>
        </p:spPr>
        <p:txBody>
          <a:bodyPr/>
          <a:lstStyle/>
          <a:p>
            <a:endParaRPr lang="ko-KR" altLang="en-US"/>
          </a:p>
        </p:txBody>
      </p:sp>
      <p:sp>
        <p:nvSpPr>
          <p:cNvPr id="23" name="Text 21"/>
          <p:cNvSpPr/>
          <p:nvPr/>
        </p:nvSpPr>
        <p:spPr>
          <a:xfrm>
            <a:off x="628650" y="3238500"/>
            <a:ext cx="1676400" cy="419100"/>
          </a:xfrm>
          <a:prstGeom prst="rect">
            <a:avLst/>
          </a:prstGeom>
          <a:noFill/>
          <a:ln/>
        </p:spPr>
        <p:txBody>
          <a:bodyPr wrap="square" lIns="25400" tIns="25400" rIns="25400" bIns="25400" rtlCol="0" anchor="t">
            <a:normAutofit/>
          </a:bodyPr>
          <a:lstStyle/>
          <a:p>
            <a:pPr marL="0" indent="0" algn="r">
              <a:lnSpc>
                <a:spcPct val="105263"/>
              </a:lnSpc>
              <a:buNone/>
            </a:pPr>
            <a:r>
              <a:rPr lang="en-US" sz="2400" dirty="0">
                <a:solidFill>
                  <a:srgbClr val="5B6470"/>
                </a:solidFill>
                <a:latin typeface="Pretendard" pitchFamily="34" charset="0"/>
                <a:ea typeface="Pretendard" pitchFamily="34" charset="-122"/>
                <a:cs typeface="Pretendard" pitchFamily="34" charset="-120"/>
              </a:rPr>
              <a:t>바닥 위</a:t>
            </a:r>
            <a:endParaRPr lang="en-US" sz="2400" dirty="0"/>
          </a:p>
        </p:txBody>
      </p:sp>
      <p:sp>
        <p:nvSpPr>
          <p:cNvPr id="24" name="Text 22"/>
          <p:cNvSpPr/>
          <p:nvPr/>
        </p:nvSpPr>
        <p:spPr>
          <a:xfrm>
            <a:off x="628650" y="3619500"/>
            <a:ext cx="1676400" cy="419100"/>
          </a:xfrm>
          <a:prstGeom prst="rect">
            <a:avLst/>
          </a:prstGeom>
          <a:noFill/>
          <a:ln/>
        </p:spPr>
        <p:txBody>
          <a:bodyPr wrap="none" lIns="25400" tIns="25400" rIns="25400" bIns="25400" rtlCol="0" anchor="t">
            <a:normAutofit lnSpcReduction="10000"/>
          </a:bodyPr>
          <a:lstStyle/>
          <a:p>
            <a:pPr marL="0" indent="0" algn="r">
              <a:lnSpc>
                <a:spcPct val="105263"/>
              </a:lnSpc>
              <a:buNone/>
            </a:pPr>
            <a:r>
              <a:rPr lang="en-US" sz="2400" dirty="0">
                <a:solidFill>
                  <a:srgbClr val="5B6470"/>
                </a:solidFill>
                <a:latin typeface="Pretendard" pitchFamily="34" charset="0"/>
                <a:ea typeface="Pretendard" pitchFamily="34" charset="-122"/>
                <a:cs typeface="Pretendard" pitchFamily="34" charset="-120"/>
              </a:rPr>
              <a:t>20–30 cm</a:t>
            </a:r>
            <a:endParaRPr lang="en-US" sz="2400" dirty="0"/>
          </a:p>
        </p:txBody>
      </p:sp>
      <p:sp>
        <p:nvSpPr>
          <p:cNvPr id="25" name="Text 23"/>
          <p:cNvSpPr/>
          <p:nvPr/>
        </p:nvSpPr>
        <p:spPr>
          <a:xfrm>
            <a:off x="914400" y="4800600"/>
            <a:ext cx="922020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지도에 찍히는 모습</a:t>
            </a:r>
            <a:endParaRPr lang="en-US" sz="2400" dirty="0"/>
          </a:p>
        </p:txBody>
      </p:sp>
      <p:sp>
        <p:nvSpPr>
          <p:cNvPr id="26" name="Shape 24"/>
          <p:cNvSpPr/>
          <p:nvPr/>
        </p:nvSpPr>
        <p:spPr>
          <a:xfrm>
            <a:off x="914400" y="5219700"/>
            <a:ext cx="4191000" cy="533400"/>
          </a:xfrm>
          <a:prstGeom prst="rect">
            <a:avLst/>
          </a:prstGeom>
          <a:ln w="19050">
            <a:solidFill>
              <a:srgbClr val="5B6470"/>
            </a:solidFill>
            <a:prstDash val="solid"/>
          </a:ln>
        </p:spPr>
        <p:txBody>
          <a:bodyPr/>
          <a:lstStyle/>
          <a:p>
            <a:endParaRPr lang="ko-KR" altLang="en-US"/>
          </a:p>
        </p:txBody>
      </p:sp>
      <p:sp>
        <p:nvSpPr>
          <p:cNvPr id="27" name="Text 25"/>
          <p:cNvSpPr/>
          <p:nvPr/>
        </p:nvSpPr>
        <p:spPr>
          <a:xfrm>
            <a:off x="1123950" y="5238750"/>
            <a:ext cx="4088130" cy="533400"/>
          </a:xfrm>
          <a:prstGeom prst="rect">
            <a:avLst/>
          </a:prstGeom>
          <a:noFill/>
          <a:ln/>
        </p:spPr>
        <p:txBody>
          <a:bodyPr wrap="square" lIns="25400" tIns="25400" rIns="25400" bIns="25400" rtlCol="0" anchor="ctr">
            <a:normAutofit/>
          </a:bodyPr>
          <a:lstStyle/>
          <a:p>
            <a:pPr marL="0" indent="0" algn="l">
              <a:buNone/>
            </a:pPr>
            <a:r>
              <a:rPr lang="en-US" sz="2400" dirty="0">
                <a:solidFill>
                  <a:srgbClr val="5B6470"/>
                </a:solidFill>
                <a:latin typeface="Pretendard" pitchFamily="34" charset="0"/>
                <a:ea typeface="Pretendard" pitchFamily="34" charset="-122"/>
                <a:cs typeface="Pretendard" pitchFamily="34" charset="-120"/>
              </a:rPr>
              <a:t>빈 바닥</a:t>
            </a:r>
            <a:endParaRPr lang="en-US" sz="2400" dirty="0"/>
          </a:p>
        </p:txBody>
      </p:sp>
      <p:sp>
        <p:nvSpPr>
          <p:cNvPr id="28" name="Shape 26"/>
          <p:cNvSpPr/>
          <p:nvPr/>
        </p:nvSpPr>
        <p:spPr>
          <a:xfrm>
            <a:off x="5105400" y="5219700"/>
            <a:ext cx="3771900" cy="533400"/>
          </a:xfrm>
          <a:prstGeom prst="rect">
            <a:avLst/>
          </a:prstGeom>
          <a:ln w="38100">
            <a:solidFill>
              <a:srgbClr val="D33C3C"/>
            </a:solidFill>
            <a:prstDash val="dash"/>
          </a:ln>
        </p:spPr>
        <p:txBody>
          <a:bodyPr/>
          <a:lstStyle/>
          <a:p>
            <a:endParaRPr lang="ko-KR" altLang="en-US"/>
          </a:p>
        </p:txBody>
      </p:sp>
      <p:sp>
        <p:nvSpPr>
          <p:cNvPr id="29" name="Text 27"/>
          <p:cNvSpPr/>
          <p:nvPr/>
        </p:nvSpPr>
        <p:spPr>
          <a:xfrm>
            <a:off x="5334000" y="5257800"/>
            <a:ext cx="3618357" cy="495300"/>
          </a:xfrm>
          <a:prstGeom prst="rect">
            <a:avLst/>
          </a:prstGeom>
          <a:noFill/>
          <a:ln/>
        </p:spPr>
        <p:txBody>
          <a:bodyPr wrap="none" lIns="25400" tIns="25400" rIns="25400" bIns="25400" rtlCol="0" anchor="ctr">
            <a:normAutofit/>
          </a:bodyPr>
          <a:lstStyle/>
          <a:p>
            <a:pPr marL="0" indent="0" algn="l">
              <a:buNone/>
            </a:pPr>
            <a:r>
              <a:rPr lang="en-US" sz="2400" b="1" dirty="0">
                <a:solidFill>
                  <a:srgbClr val="D33C3C"/>
                </a:solidFill>
                <a:latin typeface="Pretendard" pitchFamily="34" charset="0"/>
                <a:ea typeface="Pretendard" pitchFamily="34" charset="-122"/>
                <a:cs typeface="Pretendard" pitchFamily="34" charset="-120"/>
              </a:rPr>
              <a:t>빈 바닥 (실제는 계단)</a:t>
            </a:r>
            <a:endParaRPr lang="en-US" sz="2400" dirty="0"/>
          </a:p>
        </p:txBody>
      </p:sp>
      <p:sp>
        <p:nvSpPr>
          <p:cNvPr id="30" name="Shape 28"/>
          <p:cNvSpPr/>
          <p:nvPr/>
        </p:nvSpPr>
        <p:spPr>
          <a:xfrm>
            <a:off x="8877300" y="5219700"/>
            <a:ext cx="266700" cy="533400"/>
          </a:xfrm>
          <a:prstGeom prst="rect">
            <a:avLst/>
          </a:prstGeom>
          <a:solidFill>
            <a:srgbClr val="1F2328"/>
          </a:solidFill>
          <a:ln/>
        </p:spPr>
        <p:txBody>
          <a:bodyPr/>
          <a:lstStyle/>
          <a:p>
            <a:endParaRPr lang="ko-KR" altLang="en-US"/>
          </a:p>
        </p:txBody>
      </p:sp>
      <p:sp>
        <p:nvSpPr>
          <p:cNvPr id="31" name="Text 29"/>
          <p:cNvSpPr/>
          <p:nvPr/>
        </p:nvSpPr>
        <p:spPr>
          <a:xfrm>
            <a:off x="9525000" y="2400300"/>
            <a:ext cx="863346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err="1">
                <a:solidFill>
                  <a:srgbClr val="5B6470"/>
                </a:solidFill>
                <a:latin typeface="Pretendard" pitchFamily="34" charset="0"/>
                <a:ea typeface="Pretendard" pitchFamily="34" charset="-122"/>
                <a:cs typeface="Pretendard" pitchFamily="34" charset="-120"/>
              </a:rPr>
              <a:t>위험해지는</a:t>
            </a:r>
            <a:r>
              <a:rPr lang="en-US" sz="2400" b="1" dirty="0">
                <a:solidFill>
                  <a:srgbClr val="5B6470"/>
                </a:solidFill>
                <a:latin typeface="Pretendard" pitchFamily="34" charset="0"/>
                <a:ea typeface="Pretendard" pitchFamily="34" charset="-122"/>
                <a:cs typeface="Pretendard" pitchFamily="34" charset="-120"/>
              </a:rPr>
              <a:t> 4</a:t>
            </a:r>
            <a:r>
              <a:rPr lang="ko-KR" altLang="en-US" sz="2400" b="1" dirty="0">
                <a:solidFill>
                  <a:srgbClr val="5B6470"/>
                </a:solidFill>
                <a:latin typeface="Pretendard" pitchFamily="34" charset="0"/>
                <a:ea typeface="Pretendard" pitchFamily="34" charset="-122"/>
                <a:cs typeface="Pretendard" pitchFamily="34" charset="-120"/>
              </a:rPr>
              <a:t>가지 </a:t>
            </a:r>
            <a:r>
              <a:rPr lang="en-US" sz="2400" b="1" dirty="0" err="1">
                <a:solidFill>
                  <a:srgbClr val="5B6470"/>
                </a:solidFill>
                <a:latin typeface="Pretendard" pitchFamily="34" charset="0"/>
                <a:ea typeface="Pretendard" pitchFamily="34" charset="-122"/>
                <a:cs typeface="Pretendard" pitchFamily="34" charset="-120"/>
              </a:rPr>
              <a:t>순간</a:t>
            </a:r>
            <a:endParaRPr lang="en-US" sz="2400" dirty="0"/>
          </a:p>
        </p:txBody>
      </p:sp>
      <p:pic>
        <p:nvPicPr>
          <p:cNvPr id="3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5000" y="2933700"/>
            <a:ext cx="419100" cy="419100"/>
          </a:xfrm>
          <a:prstGeom prst="rect">
            <a:avLst/>
          </a:prstGeom>
        </p:spPr>
      </p:pic>
      <p:sp>
        <p:nvSpPr>
          <p:cNvPr id="33" name="Text 30"/>
          <p:cNvSpPr/>
          <p:nvPr/>
        </p:nvSpPr>
        <p:spPr>
          <a:xfrm>
            <a:off x="10134600" y="2952750"/>
            <a:ext cx="7239000" cy="800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사람이 길을 막을 때 → 돌아갈 길로 계단 쪽을 고른다</a:t>
            </a:r>
            <a:endParaRPr lang="en-US" sz="2400" dirty="0"/>
          </a:p>
        </p:txBody>
      </p:sp>
      <p:pic>
        <p:nvPicPr>
          <p:cNvPr id="3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5000" y="3867150"/>
            <a:ext cx="419100" cy="419100"/>
          </a:xfrm>
          <a:prstGeom prst="rect">
            <a:avLst/>
          </a:prstGeom>
        </p:spPr>
      </p:pic>
      <p:sp>
        <p:nvSpPr>
          <p:cNvPr id="35" name="Text 31"/>
          <p:cNvSpPr/>
          <p:nvPr/>
        </p:nvSpPr>
        <p:spPr>
          <a:xfrm>
            <a:off x="10134600" y="3886200"/>
            <a:ext cx="563656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밀리거나 미끄러져 위치를 착각할 때</a:t>
            </a:r>
            <a:endParaRPr lang="en-US" sz="2400" dirty="0"/>
          </a:p>
        </p:txBody>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25000" y="4438650"/>
            <a:ext cx="419100" cy="419100"/>
          </a:xfrm>
          <a:prstGeom prst="rect">
            <a:avLst/>
          </a:prstGeom>
        </p:spPr>
      </p:pic>
      <p:sp>
        <p:nvSpPr>
          <p:cNvPr id="37" name="Text 32"/>
          <p:cNvSpPr/>
          <p:nvPr/>
        </p:nvSpPr>
        <p:spPr>
          <a:xfrm>
            <a:off x="10134600" y="4457700"/>
            <a:ext cx="621376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운영자가 계단 금지구역 표시를 빠뜨렸을 때</a:t>
            </a:r>
            <a:endParaRPr lang="en-US" sz="2400" dirty="0"/>
          </a:p>
        </p:txBody>
      </p:sp>
      <p:pic>
        <p:nvPicPr>
          <p:cNvPr id="3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25000" y="5010150"/>
            <a:ext cx="419100" cy="419100"/>
          </a:xfrm>
          <a:prstGeom prst="rect">
            <a:avLst/>
          </a:prstGeom>
        </p:spPr>
      </p:pic>
      <p:sp>
        <p:nvSpPr>
          <p:cNvPr id="39" name="Text 33"/>
          <p:cNvSpPr/>
          <p:nvPr/>
        </p:nvSpPr>
        <p:spPr>
          <a:xfrm>
            <a:off x="10134600" y="5029200"/>
            <a:ext cx="517467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뒤로 물러날 때 (카메라는 앞만 본다)</a:t>
            </a:r>
            <a:endParaRPr lang="en-US" sz="2400" dirty="0"/>
          </a:p>
        </p:txBody>
      </p:sp>
      <p:sp>
        <p:nvSpPr>
          <p:cNvPr id="40" name="Shape 34"/>
          <p:cNvSpPr/>
          <p:nvPr/>
        </p:nvSpPr>
        <p:spPr>
          <a:xfrm>
            <a:off x="914400" y="5943600"/>
            <a:ext cx="16459200" cy="19050"/>
          </a:xfrm>
          <a:prstGeom prst="rect">
            <a:avLst/>
          </a:prstGeom>
          <a:solidFill>
            <a:srgbClr val="E3E6EA"/>
          </a:solidFill>
          <a:ln/>
        </p:spPr>
        <p:txBody>
          <a:bodyPr/>
          <a:lstStyle/>
          <a:p>
            <a:endParaRPr lang="ko-KR" altLang="en-US"/>
          </a:p>
        </p:txBody>
      </p:sp>
      <p:sp>
        <p:nvSpPr>
          <p:cNvPr id="41" name="Shape 35"/>
          <p:cNvSpPr/>
          <p:nvPr/>
        </p:nvSpPr>
        <p:spPr>
          <a:xfrm>
            <a:off x="914400" y="6172200"/>
            <a:ext cx="5486400" cy="3086100"/>
          </a:xfrm>
          <a:prstGeom prst="rect">
            <a:avLst/>
          </a:prstGeom>
          <a:solidFill>
            <a:srgbClr val="FFFFFF"/>
          </a:solidFill>
          <a:ln w="19050">
            <a:solidFill>
              <a:srgbClr val="C3C8CE"/>
            </a:solidFill>
            <a:prstDash val="solid"/>
          </a:ln>
        </p:spPr>
        <p:txBody>
          <a:bodyPr/>
          <a:lstStyle/>
          <a:p>
            <a:endParaRPr lang="ko-KR" altLang="en-US"/>
          </a:p>
        </p:txBody>
      </p:sp>
      <p:pic>
        <p:nvPicPr>
          <p:cNvPr id="49" name="추락 시뮬 영상" descr="지도만 쓰는 로봇(P0)이 사람을 피해 돌다 계단 A로 떨어지는 Gazebo 시뮬레이션 (S2, 2배속)">
            <a:hlinkClick r:id="" action="ppaction://media"/>
          </p:cNvPr>
          <p:cNvPicPr>
            <a:picLocks noChangeAspect="1"/>
          </p:cNvPicPr>
          <p:nvPr>
            <a:videoFile r:link="rIdFallV"/>
            <p:extLst>
              <p:ext uri="{DAA4B4D4-6D71-4841-9C94-3DE7FCFB9230}">
                <p14:media xmlns:p14="http://schemas.microsoft.com/office/powerpoint/2010/main" r:embed="rIdFallM"/>
              </p:ext>
            </p:extLst>
          </p:nvPr>
        </p:nvPicPr>
        <p:blipFill>
          <a:blip r:embed="rIdFallP"/>
          <a:stretch>
            <a:fillRect/>
          </a:stretch>
        </p:blipFill>
        <p:spPr>
          <a:xfrm>
            <a:off x="914400" y="6172200"/>
            <a:ext cx="5486400" cy="3086100"/>
          </a:xfrm>
          <a:prstGeom prst="rect">
            <a:avLst/>
          </a:prstGeom>
        </p:spPr>
      </p:pic>
      <p:sp>
        <p:nvSpPr>
          <p:cNvPr id="43" name="Text 37"/>
          <p:cNvSpPr/>
          <p:nvPr/>
        </p:nvSpPr>
        <p:spPr>
          <a:xfrm>
            <a:off x="6858000" y="6172200"/>
            <a:ext cx="10831068" cy="1333500"/>
          </a:xfrm>
          <a:prstGeom prst="rect">
            <a:avLst/>
          </a:prstGeom>
          <a:noFill/>
          <a:ln/>
        </p:spPr>
        <p:txBody>
          <a:bodyPr wrap="square" lIns="25400" tIns="25400" rIns="25400" bIns="25400" rtlCol="0" anchor="t">
            <a:normAutofit/>
          </a:bodyPr>
          <a:lstStyle/>
          <a:p>
            <a:pPr marL="0" indent="0" algn="l">
              <a:lnSpc>
                <a:spcPct val="106897"/>
              </a:lnSpc>
              <a:buNone/>
            </a:pPr>
            <a:r>
              <a:rPr lang="en-US" sz="3600" b="1" kern="0" spc="-36" dirty="0">
                <a:solidFill>
                  <a:srgbClr val="1F2328"/>
                </a:solidFill>
                <a:latin typeface="Pretendard" pitchFamily="34" charset="0"/>
                <a:ea typeface="Pretendard" pitchFamily="34" charset="-122"/>
                <a:cs typeface="Pretendard" pitchFamily="34" charset="-120"/>
              </a:rPr>
              <a:t>지도만 쓰는 로봇이 계단으로 떨어지는 장면을 시뮬레이션에서 재현했다</a:t>
            </a:r>
            <a:endParaRPr lang="en-US" sz="3600" dirty="0"/>
          </a:p>
        </p:txBody>
      </p:sp>
      <p:sp>
        <p:nvSpPr>
          <p:cNvPr id="44" name="Text 38"/>
          <p:cNvSpPr/>
          <p:nvPr/>
        </p:nvSpPr>
        <p:spPr>
          <a:xfrm>
            <a:off x="6858000" y="8267700"/>
            <a:ext cx="9810750" cy="647700"/>
          </a:xfrm>
          <a:prstGeom prst="rect">
            <a:avLst/>
          </a:prstGeom>
          <a:noFill/>
          <a:ln/>
        </p:spPr>
        <p:txBody>
          <a:bodyPr wrap="square" lIns="25400" tIns="25400" rIns="25400" bIns="25400" rtlCol="0" anchor="t">
            <a:normAutofit/>
          </a:bodyPr>
          <a:lstStyle/>
          <a:p>
            <a:pPr marL="0" indent="0" algn="l">
              <a:lnSpc>
                <a:spcPct val="110345"/>
              </a:lnSpc>
              <a:buNone/>
            </a:pPr>
            <a:r>
              <a:rPr lang="en-US" sz="1800" dirty="0">
                <a:solidFill>
                  <a:srgbClr val="5B6470"/>
                </a:solidFill>
                <a:latin typeface="Pretendard" pitchFamily="34" charset="0"/>
                <a:ea typeface="Pretendard" pitchFamily="34" charset="-122"/>
                <a:cs typeface="Pretendard" pitchFamily="34" charset="-120"/>
              </a:rPr>
              <a:t>산업용 AMR 제조사 MiR의 매뉴얼: 내려가는 계단과 바닥 구멍을 제때 감지하지 못하므로 지도에 금지구역으로 표시하라고 안내한다</a:t>
            </a:r>
            <a:endParaRPr lang="en-US" sz="1800" dirty="0"/>
          </a:p>
        </p:txBody>
      </p:sp>
      <p:sp>
        <p:nvSpPr>
          <p:cNvPr id="45" name="Text 39"/>
          <p:cNvSpPr/>
          <p:nvPr/>
        </p:nvSpPr>
        <p:spPr>
          <a:xfrm>
            <a:off x="6858000" y="8877300"/>
            <a:ext cx="1047750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dirty="0">
                <a:solidFill>
                  <a:srgbClr val="5B6470"/>
                </a:solidFill>
                <a:latin typeface="Pretendard" pitchFamily="34" charset="0"/>
                <a:ea typeface="Pretendard" pitchFamily="34" charset="-122"/>
                <a:cs typeface="Pretendard" pitchFamily="34" charset="-120"/>
              </a:rPr>
              <a:t>2024년 6월, 구미시의회 건물 계단에서 '로봇 주무관' 추락. 공식 원인은 비공개</a:t>
            </a:r>
            <a:endParaRPr lang="en-US" sz="1800" dirty="0"/>
          </a:p>
        </p:txBody>
      </p:sp>
      <p:sp>
        <p:nvSpPr>
          <p:cNvPr id="46" name="Text 40"/>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2</a:t>
            </a:r>
            <a:endParaRPr lang="en-US" sz="1800" dirty="0"/>
          </a:p>
        </p:txBody>
      </p:sp>
      <p:pic>
        <p:nvPicPr>
          <p:cNvPr id="48" name="그림 47" descr="구미시 '1호 로봇 주무관' 계단서 추락해 파손…병가 처리? | 연합뉴스TV">
            <a:extLst>
              <a:ext uri="{FF2B5EF4-FFF2-40B4-BE49-F238E27FC236}">
                <a16:creationId xmlns:a16="http://schemas.microsoft.com/office/drawing/2014/main" id="{8555CF32-16D5-FC04-B100-6FBE8488351D}"/>
              </a:ext>
            </a:extLst>
          </p:cNvPr>
          <p:cNvPicPr>
            <a:picLocks noChangeAspect="1"/>
          </p:cNvPicPr>
          <p:nvPr/>
        </p:nvPicPr>
        <p:blipFill>
          <a:blip r:embed="rId7"/>
          <a:stretch>
            <a:fillRect/>
          </a:stretch>
        </p:blipFill>
        <p:spPr>
          <a:xfrm>
            <a:off x="2286000" y="1285875"/>
            <a:ext cx="13716000" cy="7715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9"/>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GAP</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현장의 두 겹 방어 사이에는 빈 구간이 있다</a:t>
            </a:r>
            <a:endParaRPr lang="en-US" sz="5400" dirty="0"/>
          </a:p>
        </p:txBody>
      </p:sp>
      <p:sp>
        <p:nvSpPr>
          <p:cNvPr id="4" name="Text 2"/>
          <p:cNvSpPr/>
          <p:nvPr/>
        </p:nvSpPr>
        <p:spPr>
          <a:xfrm>
            <a:off x="914400" y="2476500"/>
            <a:ext cx="1676400" cy="800100"/>
          </a:xfrm>
          <a:prstGeom prst="rect">
            <a:avLst/>
          </a:prstGeom>
          <a:noFill/>
          <a:ln/>
        </p:spPr>
        <p:txBody>
          <a:bodyPr wrap="square" lIns="25400" tIns="25400" rIns="25400" bIns="25400" rtlCol="0" anchor="ctr">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현장</a:t>
            </a:r>
            <a:endParaRPr lang="en-US" sz="2400" dirty="0"/>
          </a:p>
        </p:txBody>
      </p:sp>
      <p:sp>
        <p:nvSpPr>
          <p:cNvPr id="5" name="Shape 3"/>
          <p:cNvSpPr/>
          <p:nvPr/>
        </p:nvSpPr>
        <p:spPr>
          <a:xfrm>
            <a:off x="2857500" y="2476500"/>
            <a:ext cx="4762500" cy="762000"/>
          </a:xfrm>
          <a:prstGeom prst="roundRect">
            <a:avLst>
              <a:gd name="adj" fmla="val 10000"/>
            </a:avLst>
          </a:prstGeom>
          <a:ln w="38100">
            <a:solidFill>
              <a:srgbClr val="1F2328"/>
            </a:solidFill>
            <a:prstDash val="solid"/>
          </a:ln>
        </p:spPr>
        <p:txBody>
          <a:bodyPr/>
          <a:lstStyle/>
          <a:p>
            <a:endParaRPr lang="ko-KR" altLang="en-US"/>
          </a:p>
        </p:txBody>
      </p:sp>
      <p:sp>
        <p:nvSpPr>
          <p:cNvPr id="6" name="Text 4"/>
          <p:cNvSpPr/>
          <p:nvPr/>
        </p:nvSpPr>
        <p:spPr>
          <a:xfrm>
            <a:off x="2824163" y="2514600"/>
            <a:ext cx="4829175"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지도 금지구역 keepout</a:t>
            </a:r>
            <a:endParaRPr lang="en-US" sz="2400" dirty="0"/>
          </a:p>
        </p:txBody>
      </p:sp>
      <p:sp>
        <p:nvSpPr>
          <p:cNvPr id="7" name="Shape 5"/>
          <p:cNvSpPr/>
          <p:nvPr/>
        </p:nvSpPr>
        <p:spPr>
          <a:xfrm>
            <a:off x="8001000" y="2476500"/>
            <a:ext cx="4953000" cy="762000"/>
          </a:xfrm>
          <a:prstGeom prst="roundRect">
            <a:avLst>
              <a:gd name="adj" fmla="val 10000"/>
            </a:avLst>
          </a:prstGeom>
          <a:ln w="38100">
            <a:solidFill>
              <a:srgbClr val="D33C3C"/>
            </a:solidFill>
            <a:prstDash val="dash"/>
          </a:ln>
        </p:spPr>
        <p:txBody>
          <a:bodyPr/>
          <a:lstStyle/>
          <a:p>
            <a:endParaRPr lang="ko-KR" altLang="en-US"/>
          </a:p>
        </p:txBody>
      </p:sp>
      <p:sp>
        <p:nvSpPr>
          <p:cNvPr id="8" name="Text 6"/>
          <p:cNvSpPr/>
          <p:nvPr/>
        </p:nvSpPr>
        <p:spPr>
          <a:xfrm>
            <a:off x="7964805" y="2514600"/>
            <a:ext cx="5025390"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b="1" dirty="0">
                <a:solidFill>
                  <a:srgbClr val="D33C3C"/>
                </a:solidFill>
                <a:latin typeface="Pretendard" pitchFamily="34" charset="0"/>
                <a:ea typeface="Pretendard" pitchFamily="34" charset="-122"/>
                <a:cs typeface="Pretendard" pitchFamily="34" charset="-120"/>
              </a:rPr>
              <a:t>빈 구간</a:t>
            </a:r>
            <a:endParaRPr lang="en-US" sz="2400" dirty="0"/>
          </a:p>
        </p:txBody>
      </p:sp>
      <p:sp>
        <p:nvSpPr>
          <p:cNvPr id="9" name="Shape 7"/>
          <p:cNvSpPr/>
          <p:nvPr/>
        </p:nvSpPr>
        <p:spPr>
          <a:xfrm>
            <a:off x="13335000" y="2476500"/>
            <a:ext cx="3848100" cy="762000"/>
          </a:xfrm>
          <a:prstGeom prst="roundRect">
            <a:avLst>
              <a:gd name="adj" fmla="val 10000"/>
            </a:avLst>
          </a:prstGeom>
          <a:ln w="38100">
            <a:solidFill>
              <a:srgbClr val="1F2328"/>
            </a:solidFill>
            <a:prstDash val="solid"/>
          </a:ln>
        </p:spPr>
        <p:txBody>
          <a:bodyPr/>
          <a:lstStyle/>
          <a:p>
            <a:endParaRPr lang="ko-KR" altLang="en-US"/>
          </a:p>
        </p:txBody>
      </p:sp>
      <p:sp>
        <p:nvSpPr>
          <p:cNvPr id="10" name="Text 8"/>
          <p:cNvSpPr/>
          <p:nvPr/>
        </p:nvSpPr>
        <p:spPr>
          <a:xfrm>
            <a:off x="13315379" y="2514600"/>
            <a:ext cx="3887343"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하향 IR 급정지</a:t>
            </a:r>
            <a:endParaRPr lang="en-US" sz="2400" dirty="0"/>
          </a:p>
        </p:txBody>
      </p:sp>
      <p:sp>
        <p:nvSpPr>
          <p:cNvPr id="11" name="Shape 9"/>
          <p:cNvSpPr/>
          <p:nvPr/>
        </p:nvSpPr>
        <p:spPr>
          <a:xfrm>
            <a:off x="914400" y="4219575"/>
            <a:ext cx="1752600" cy="19050"/>
          </a:xfrm>
          <a:prstGeom prst="rect">
            <a:avLst/>
          </a:prstGeom>
          <a:solidFill>
            <a:srgbClr val="1F2328"/>
          </a:solidFill>
          <a:ln/>
        </p:spPr>
        <p:txBody>
          <a:bodyPr/>
          <a:lstStyle/>
          <a:p>
            <a:endParaRPr lang="ko-KR" altLang="en-US"/>
          </a:p>
        </p:txBody>
      </p:sp>
      <p:sp>
        <p:nvSpPr>
          <p:cNvPr id="12" name="Text 10"/>
          <p:cNvSpPr/>
          <p:nvPr/>
        </p:nvSpPr>
        <p:spPr>
          <a:xfrm>
            <a:off x="914400" y="3390900"/>
            <a:ext cx="1676400" cy="790575"/>
          </a:xfrm>
          <a:prstGeom prst="rect">
            <a:avLst/>
          </a:prstGeom>
          <a:noFill/>
          <a:ln/>
        </p:spPr>
        <p:txBody>
          <a:bodyPr wrap="square" lIns="25400" tIns="25400" rIns="25400" bIns="25400" rtlCol="0" anchor="ctr">
            <a:normAutofit/>
          </a:bodyPr>
          <a:lstStyle/>
          <a:p>
            <a:pPr marL="0" indent="0" algn="l">
              <a:lnSpc>
                <a:spcPct val="113684"/>
              </a:lnSpc>
              <a:buNone/>
            </a:pPr>
            <a:r>
              <a:rPr lang="en-US" sz="2400" b="1" dirty="0">
                <a:solidFill>
                  <a:srgbClr val="008300"/>
                </a:solidFill>
                <a:latin typeface="Pretendard" pitchFamily="34" charset="0"/>
                <a:ea typeface="Pretendard" pitchFamily="34" charset="-122"/>
                <a:cs typeface="Pretendard" pitchFamily="34" charset="-120"/>
              </a:rPr>
              <a:t>제안</a:t>
            </a:r>
            <a:endParaRPr lang="en-US" sz="2400" dirty="0"/>
          </a:p>
        </p:txBody>
      </p:sp>
      <p:sp>
        <p:nvSpPr>
          <p:cNvPr id="13" name="Shape 11"/>
          <p:cNvSpPr/>
          <p:nvPr/>
        </p:nvSpPr>
        <p:spPr>
          <a:xfrm>
            <a:off x="2667000" y="4219575"/>
            <a:ext cx="5143500" cy="19050"/>
          </a:xfrm>
          <a:prstGeom prst="rect">
            <a:avLst/>
          </a:prstGeom>
          <a:solidFill>
            <a:srgbClr val="1F2328"/>
          </a:solidFill>
          <a:ln/>
        </p:spPr>
        <p:txBody>
          <a:bodyPr/>
          <a:lstStyle/>
          <a:p>
            <a:endParaRPr lang="ko-KR" altLang="en-US"/>
          </a:p>
        </p:txBody>
      </p:sp>
      <p:sp>
        <p:nvSpPr>
          <p:cNvPr id="14" name="Shape 12"/>
          <p:cNvSpPr/>
          <p:nvPr/>
        </p:nvSpPr>
        <p:spPr>
          <a:xfrm>
            <a:off x="2857500" y="3390900"/>
            <a:ext cx="4762500" cy="762000"/>
          </a:xfrm>
          <a:prstGeom prst="roundRect">
            <a:avLst>
              <a:gd name="adj" fmla="val 10000"/>
            </a:avLst>
          </a:prstGeom>
          <a:ln w="38100">
            <a:solidFill>
              <a:srgbClr val="1F2328"/>
            </a:solidFill>
            <a:prstDash val="solid"/>
          </a:ln>
        </p:spPr>
        <p:txBody>
          <a:bodyPr/>
          <a:lstStyle/>
          <a:p>
            <a:endParaRPr lang="ko-KR" altLang="en-US"/>
          </a:p>
        </p:txBody>
      </p:sp>
      <p:sp>
        <p:nvSpPr>
          <p:cNvPr id="15" name="Text 13"/>
          <p:cNvSpPr/>
          <p:nvPr/>
        </p:nvSpPr>
        <p:spPr>
          <a:xfrm>
            <a:off x="2824163" y="3429000"/>
            <a:ext cx="4829175"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지도 금지구역 keepout</a:t>
            </a:r>
            <a:endParaRPr lang="en-US" sz="2400" dirty="0"/>
          </a:p>
        </p:txBody>
      </p:sp>
      <p:sp>
        <p:nvSpPr>
          <p:cNvPr id="16" name="Shape 14"/>
          <p:cNvSpPr/>
          <p:nvPr/>
        </p:nvSpPr>
        <p:spPr>
          <a:xfrm>
            <a:off x="7810500" y="3314700"/>
            <a:ext cx="5334000" cy="923925"/>
          </a:xfrm>
          <a:prstGeom prst="rect">
            <a:avLst/>
          </a:prstGeom>
          <a:solidFill>
            <a:srgbClr val="EAF4EA"/>
          </a:solidFill>
          <a:ln/>
        </p:spPr>
        <p:txBody>
          <a:bodyPr/>
          <a:lstStyle/>
          <a:p>
            <a:endParaRPr lang="ko-KR" altLang="en-US"/>
          </a:p>
        </p:txBody>
      </p:sp>
      <p:sp>
        <p:nvSpPr>
          <p:cNvPr id="17" name="Shape 15"/>
          <p:cNvSpPr/>
          <p:nvPr/>
        </p:nvSpPr>
        <p:spPr>
          <a:xfrm>
            <a:off x="7810500" y="4219575"/>
            <a:ext cx="5334000" cy="19050"/>
          </a:xfrm>
          <a:prstGeom prst="rect">
            <a:avLst/>
          </a:prstGeom>
          <a:solidFill>
            <a:srgbClr val="1F2328"/>
          </a:solidFill>
          <a:ln/>
        </p:spPr>
        <p:txBody>
          <a:bodyPr/>
          <a:lstStyle/>
          <a:p>
            <a:endParaRPr lang="ko-KR" altLang="en-US"/>
          </a:p>
        </p:txBody>
      </p:sp>
      <p:sp>
        <p:nvSpPr>
          <p:cNvPr id="18" name="Shape 16"/>
          <p:cNvSpPr/>
          <p:nvPr/>
        </p:nvSpPr>
        <p:spPr>
          <a:xfrm>
            <a:off x="8001000" y="3390900"/>
            <a:ext cx="4953000" cy="762000"/>
          </a:xfrm>
          <a:prstGeom prst="roundRect">
            <a:avLst>
              <a:gd name="adj" fmla="val 10000"/>
            </a:avLst>
          </a:prstGeom>
          <a:solidFill>
            <a:srgbClr val="008300"/>
          </a:solidFill>
          <a:ln w="38100">
            <a:solidFill>
              <a:srgbClr val="008300"/>
            </a:solidFill>
            <a:prstDash val="solid"/>
          </a:ln>
        </p:spPr>
        <p:txBody>
          <a:bodyPr/>
          <a:lstStyle/>
          <a:p>
            <a:endParaRPr lang="ko-KR" altLang="en-US"/>
          </a:p>
        </p:txBody>
      </p:sp>
      <p:sp>
        <p:nvSpPr>
          <p:cNvPr id="19" name="Text 17"/>
          <p:cNvSpPr/>
          <p:nvPr/>
        </p:nvSpPr>
        <p:spPr>
          <a:xfrm>
            <a:off x="7964805" y="3429000"/>
            <a:ext cx="5025390"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b="1" dirty="0">
                <a:solidFill>
                  <a:srgbClr val="FFFFFF"/>
                </a:solidFill>
                <a:latin typeface="Pretendard" pitchFamily="34" charset="0"/>
                <a:ea typeface="Pretendard" pitchFamily="34" charset="-122"/>
                <a:cs typeface="Pretendard" pitchFamily="34" charset="-120"/>
              </a:rPr>
              <a:t>깊이카메라 안전층</a:t>
            </a:r>
            <a:endParaRPr lang="en-US" sz="2400" dirty="0"/>
          </a:p>
        </p:txBody>
      </p:sp>
      <p:sp>
        <p:nvSpPr>
          <p:cNvPr id="20" name="Shape 18"/>
          <p:cNvSpPr/>
          <p:nvPr/>
        </p:nvSpPr>
        <p:spPr>
          <a:xfrm>
            <a:off x="13144500" y="4219575"/>
            <a:ext cx="4229100" cy="19050"/>
          </a:xfrm>
          <a:prstGeom prst="rect">
            <a:avLst/>
          </a:prstGeom>
          <a:solidFill>
            <a:srgbClr val="1F2328"/>
          </a:solidFill>
          <a:ln/>
        </p:spPr>
        <p:txBody>
          <a:bodyPr/>
          <a:lstStyle/>
          <a:p>
            <a:endParaRPr lang="ko-KR" altLang="en-US"/>
          </a:p>
        </p:txBody>
      </p:sp>
      <p:sp>
        <p:nvSpPr>
          <p:cNvPr id="21" name="Shape 19"/>
          <p:cNvSpPr/>
          <p:nvPr/>
        </p:nvSpPr>
        <p:spPr>
          <a:xfrm>
            <a:off x="13335000" y="3390900"/>
            <a:ext cx="3848100" cy="762000"/>
          </a:xfrm>
          <a:prstGeom prst="roundRect">
            <a:avLst>
              <a:gd name="adj" fmla="val 10000"/>
            </a:avLst>
          </a:prstGeom>
          <a:ln w="38100">
            <a:solidFill>
              <a:srgbClr val="1F2328"/>
            </a:solidFill>
            <a:prstDash val="solid"/>
          </a:ln>
        </p:spPr>
        <p:txBody>
          <a:bodyPr/>
          <a:lstStyle/>
          <a:p>
            <a:endParaRPr lang="ko-KR" altLang="en-US"/>
          </a:p>
        </p:txBody>
      </p:sp>
      <p:sp>
        <p:nvSpPr>
          <p:cNvPr id="22" name="Text 20"/>
          <p:cNvSpPr/>
          <p:nvPr/>
        </p:nvSpPr>
        <p:spPr>
          <a:xfrm>
            <a:off x="13315379" y="3429000"/>
            <a:ext cx="3887343"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하향 IR 급정지</a:t>
            </a:r>
            <a:endParaRPr lang="en-US" sz="2400" dirty="0"/>
          </a:p>
        </p:txBody>
      </p:sp>
      <p:sp>
        <p:nvSpPr>
          <p:cNvPr id="23" name="Shape 21"/>
          <p:cNvSpPr/>
          <p:nvPr/>
        </p:nvSpPr>
        <p:spPr>
          <a:xfrm>
            <a:off x="914400" y="5289947"/>
            <a:ext cx="1752600" cy="19050"/>
          </a:xfrm>
          <a:prstGeom prst="rect">
            <a:avLst/>
          </a:prstGeom>
          <a:solidFill>
            <a:srgbClr val="E3E6EA"/>
          </a:solidFill>
          <a:ln/>
        </p:spPr>
        <p:txBody>
          <a:bodyPr/>
          <a:lstStyle/>
          <a:p>
            <a:endParaRPr lang="ko-KR" altLang="en-US"/>
          </a:p>
        </p:txBody>
      </p:sp>
      <p:sp>
        <p:nvSpPr>
          <p:cNvPr id="24" name="Text 22"/>
          <p:cNvSpPr/>
          <p:nvPr/>
        </p:nvSpPr>
        <p:spPr>
          <a:xfrm>
            <a:off x="914400" y="4352925"/>
            <a:ext cx="1676400"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언제 알아채나</a:t>
            </a:r>
            <a:endParaRPr lang="en-US" sz="2400" dirty="0"/>
          </a:p>
        </p:txBody>
      </p:sp>
      <p:sp>
        <p:nvSpPr>
          <p:cNvPr id="25" name="Shape 23"/>
          <p:cNvSpPr/>
          <p:nvPr/>
        </p:nvSpPr>
        <p:spPr>
          <a:xfrm>
            <a:off x="2667000" y="5289947"/>
            <a:ext cx="5143500" cy="19050"/>
          </a:xfrm>
          <a:prstGeom prst="rect">
            <a:avLst/>
          </a:prstGeom>
          <a:solidFill>
            <a:srgbClr val="E3E6EA"/>
          </a:solidFill>
          <a:ln/>
        </p:spPr>
        <p:txBody>
          <a:bodyPr/>
          <a:lstStyle/>
          <a:p>
            <a:endParaRPr lang="ko-KR" altLang="en-US"/>
          </a:p>
        </p:txBody>
      </p:sp>
      <p:sp>
        <p:nvSpPr>
          <p:cNvPr id="26" name="Text 24"/>
          <p:cNvSpPr/>
          <p:nvPr/>
        </p:nvSpPr>
        <p:spPr>
          <a:xfrm>
            <a:off x="2857500" y="4352925"/>
            <a:ext cx="4916805"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미리 안다. 단, </a:t>
            </a:r>
            <a:r>
              <a:rPr lang="en-US" sz="2400" b="1" dirty="0">
                <a:solidFill>
                  <a:srgbClr val="1F2328"/>
                </a:solidFill>
                <a:latin typeface="Pretendard" pitchFamily="34" charset="0"/>
                <a:ea typeface="Pretendard" pitchFamily="34" charset="-122"/>
                <a:cs typeface="Pretendard" pitchFamily="34" charset="-120"/>
              </a:rPr>
              <a:t>자기 위치가 정확할 때만</a:t>
            </a:r>
            <a:endParaRPr lang="en-US" sz="2400" dirty="0"/>
          </a:p>
        </p:txBody>
      </p:sp>
      <p:sp>
        <p:nvSpPr>
          <p:cNvPr id="27" name="Shape 25"/>
          <p:cNvSpPr/>
          <p:nvPr/>
        </p:nvSpPr>
        <p:spPr>
          <a:xfrm>
            <a:off x="7810500" y="4238625"/>
            <a:ext cx="5334000" cy="1070372"/>
          </a:xfrm>
          <a:prstGeom prst="rect">
            <a:avLst/>
          </a:prstGeom>
          <a:solidFill>
            <a:srgbClr val="EAF4EA"/>
          </a:solidFill>
          <a:ln/>
        </p:spPr>
        <p:txBody>
          <a:bodyPr/>
          <a:lstStyle/>
          <a:p>
            <a:endParaRPr lang="ko-KR" altLang="en-US"/>
          </a:p>
        </p:txBody>
      </p:sp>
      <p:sp>
        <p:nvSpPr>
          <p:cNvPr id="28" name="Shape 26"/>
          <p:cNvSpPr/>
          <p:nvPr/>
        </p:nvSpPr>
        <p:spPr>
          <a:xfrm>
            <a:off x="7810500" y="5289947"/>
            <a:ext cx="5334000" cy="19050"/>
          </a:xfrm>
          <a:prstGeom prst="rect">
            <a:avLst/>
          </a:prstGeom>
          <a:solidFill>
            <a:srgbClr val="E3E6EA"/>
          </a:solidFill>
          <a:ln/>
        </p:spPr>
        <p:txBody>
          <a:bodyPr/>
          <a:lstStyle/>
          <a:p>
            <a:endParaRPr lang="ko-KR" altLang="en-US"/>
          </a:p>
        </p:txBody>
      </p:sp>
      <p:sp>
        <p:nvSpPr>
          <p:cNvPr id="29" name="Text 27"/>
          <p:cNvSpPr/>
          <p:nvPr/>
        </p:nvSpPr>
        <p:spPr>
          <a:xfrm>
            <a:off x="8001000" y="4352925"/>
            <a:ext cx="5113020"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약 2.5 m 앞에서 미리</a:t>
            </a:r>
            <a:endParaRPr lang="en-US" sz="2400" dirty="0"/>
          </a:p>
        </p:txBody>
      </p:sp>
      <p:sp>
        <p:nvSpPr>
          <p:cNvPr id="30" name="Shape 28"/>
          <p:cNvSpPr/>
          <p:nvPr/>
        </p:nvSpPr>
        <p:spPr>
          <a:xfrm>
            <a:off x="13144500" y="5289947"/>
            <a:ext cx="4229100" cy="19050"/>
          </a:xfrm>
          <a:prstGeom prst="rect">
            <a:avLst/>
          </a:prstGeom>
          <a:solidFill>
            <a:srgbClr val="E3E6EA"/>
          </a:solidFill>
          <a:ln/>
        </p:spPr>
        <p:txBody>
          <a:bodyPr/>
          <a:lstStyle/>
          <a:p>
            <a:endParaRPr lang="ko-KR" altLang="en-US"/>
          </a:p>
        </p:txBody>
      </p:sp>
      <p:sp>
        <p:nvSpPr>
          <p:cNvPr id="31" name="Text 29"/>
          <p:cNvSpPr/>
          <p:nvPr/>
        </p:nvSpPr>
        <p:spPr>
          <a:xfrm>
            <a:off x="13335000" y="4352925"/>
            <a:ext cx="3974973"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몸체 끝이 가장자리에 닿아야 안다</a:t>
            </a:r>
            <a:endParaRPr lang="en-US" sz="2400" dirty="0"/>
          </a:p>
        </p:txBody>
      </p:sp>
      <p:sp>
        <p:nvSpPr>
          <p:cNvPr id="32" name="Shape 30"/>
          <p:cNvSpPr/>
          <p:nvPr/>
        </p:nvSpPr>
        <p:spPr>
          <a:xfrm>
            <a:off x="914400" y="5948958"/>
            <a:ext cx="1752600" cy="19050"/>
          </a:xfrm>
          <a:prstGeom prst="rect">
            <a:avLst/>
          </a:prstGeom>
          <a:solidFill>
            <a:srgbClr val="E3E6EA"/>
          </a:solidFill>
          <a:ln/>
        </p:spPr>
        <p:txBody>
          <a:bodyPr/>
          <a:lstStyle/>
          <a:p>
            <a:endParaRPr lang="ko-KR" altLang="en-US"/>
          </a:p>
        </p:txBody>
      </p:sp>
      <p:sp>
        <p:nvSpPr>
          <p:cNvPr id="33" name="Text 31"/>
          <p:cNvSpPr/>
          <p:nvPr/>
        </p:nvSpPr>
        <p:spPr>
          <a:xfrm>
            <a:off x="914400" y="5423297"/>
            <a:ext cx="1676400"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기억</a:t>
            </a:r>
            <a:endParaRPr lang="en-US" sz="2400" dirty="0"/>
          </a:p>
        </p:txBody>
      </p:sp>
      <p:sp>
        <p:nvSpPr>
          <p:cNvPr id="34" name="Shape 32"/>
          <p:cNvSpPr/>
          <p:nvPr/>
        </p:nvSpPr>
        <p:spPr>
          <a:xfrm>
            <a:off x="2667000" y="5948958"/>
            <a:ext cx="5143500" cy="19050"/>
          </a:xfrm>
          <a:prstGeom prst="rect">
            <a:avLst/>
          </a:prstGeom>
          <a:solidFill>
            <a:srgbClr val="E3E6EA"/>
          </a:solidFill>
          <a:ln/>
        </p:spPr>
        <p:txBody>
          <a:bodyPr/>
          <a:lstStyle/>
          <a:p>
            <a:endParaRPr lang="ko-KR" altLang="en-US"/>
          </a:p>
        </p:txBody>
      </p:sp>
      <p:sp>
        <p:nvSpPr>
          <p:cNvPr id="35" name="Text 33"/>
          <p:cNvSpPr/>
          <p:nvPr/>
        </p:nvSpPr>
        <p:spPr>
          <a:xfrm>
            <a:off x="2857500" y="5423297"/>
            <a:ext cx="4916805"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지도 좌표에 고정</a:t>
            </a:r>
            <a:endParaRPr lang="en-US" sz="2400" dirty="0"/>
          </a:p>
        </p:txBody>
      </p:sp>
      <p:sp>
        <p:nvSpPr>
          <p:cNvPr id="36" name="Shape 34"/>
          <p:cNvSpPr/>
          <p:nvPr/>
        </p:nvSpPr>
        <p:spPr>
          <a:xfrm>
            <a:off x="7810500" y="5308997"/>
            <a:ext cx="5334000" cy="659011"/>
          </a:xfrm>
          <a:prstGeom prst="rect">
            <a:avLst/>
          </a:prstGeom>
          <a:solidFill>
            <a:srgbClr val="EAF4EA"/>
          </a:solidFill>
          <a:ln/>
        </p:spPr>
        <p:txBody>
          <a:bodyPr/>
          <a:lstStyle/>
          <a:p>
            <a:endParaRPr lang="ko-KR" altLang="en-US"/>
          </a:p>
        </p:txBody>
      </p:sp>
      <p:sp>
        <p:nvSpPr>
          <p:cNvPr id="37" name="Shape 35"/>
          <p:cNvSpPr/>
          <p:nvPr/>
        </p:nvSpPr>
        <p:spPr>
          <a:xfrm>
            <a:off x="7810500" y="5948958"/>
            <a:ext cx="5334000" cy="19050"/>
          </a:xfrm>
          <a:prstGeom prst="rect">
            <a:avLst/>
          </a:prstGeom>
          <a:solidFill>
            <a:srgbClr val="E3E6EA"/>
          </a:solidFill>
          <a:ln/>
        </p:spPr>
        <p:txBody>
          <a:bodyPr/>
          <a:lstStyle/>
          <a:p>
            <a:endParaRPr lang="ko-KR" altLang="en-US"/>
          </a:p>
        </p:txBody>
      </p:sp>
      <p:sp>
        <p:nvSpPr>
          <p:cNvPr id="38" name="Text 36"/>
          <p:cNvSpPr/>
          <p:nvPr/>
        </p:nvSpPr>
        <p:spPr>
          <a:xfrm>
            <a:off x="8001000" y="5423297"/>
            <a:ext cx="5113020"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바퀴 기준 좌표 (odom)</a:t>
            </a:r>
            <a:endParaRPr lang="en-US" sz="2400" dirty="0"/>
          </a:p>
        </p:txBody>
      </p:sp>
      <p:sp>
        <p:nvSpPr>
          <p:cNvPr id="39" name="Shape 37"/>
          <p:cNvSpPr/>
          <p:nvPr/>
        </p:nvSpPr>
        <p:spPr>
          <a:xfrm>
            <a:off x="13144500" y="5948958"/>
            <a:ext cx="4229100" cy="19050"/>
          </a:xfrm>
          <a:prstGeom prst="rect">
            <a:avLst/>
          </a:prstGeom>
          <a:solidFill>
            <a:srgbClr val="E3E6EA"/>
          </a:solidFill>
          <a:ln/>
        </p:spPr>
        <p:txBody>
          <a:bodyPr/>
          <a:lstStyle/>
          <a:p>
            <a:endParaRPr lang="ko-KR" altLang="en-US"/>
          </a:p>
        </p:txBody>
      </p:sp>
      <p:sp>
        <p:nvSpPr>
          <p:cNvPr id="40" name="Text 38"/>
          <p:cNvSpPr/>
          <p:nvPr/>
        </p:nvSpPr>
        <p:spPr>
          <a:xfrm>
            <a:off x="13335000" y="5423297"/>
            <a:ext cx="3974973"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없음</a:t>
            </a:r>
            <a:endParaRPr lang="en-US" sz="2400" dirty="0"/>
          </a:p>
        </p:txBody>
      </p:sp>
      <p:sp>
        <p:nvSpPr>
          <p:cNvPr id="41" name="Shape 39"/>
          <p:cNvSpPr/>
          <p:nvPr/>
        </p:nvSpPr>
        <p:spPr>
          <a:xfrm>
            <a:off x="914400" y="7430691"/>
            <a:ext cx="1752600" cy="19050"/>
          </a:xfrm>
          <a:prstGeom prst="rect">
            <a:avLst/>
          </a:prstGeom>
          <a:solidFill>
            <a:srgbClr val="E3E6EA"/>
          </a:solidFill>
          <a:ln/>
        </p:spPr>
        <p:txBody>
          <a:bodyPr/>
          <a:lstStyle/>
          <a:p>
            <a:endParaRPr lang="ko-KR" altLang="en-US"/>
          </a:p>
        </p:txBody>
      </p:sp>
      <p:sp>
        <p:nvSpPr>
          <p:cNvPr id="42" name="Text 40"/>
          <p:cNvSpPr/>
          <p:nvPr/>
        </p:nvSpPr>
        <p:spPr>
          <a:xfrm>
            <a:off x="914400" y="6082308"/>
            <a:ext cx="1676400"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약점</a:t>
            </a:r>
            <a:endParaRPr lang="en-US" sz="2400" dirty="0"/>
          </a:p>
        </p:txBody>
      </p:sp>
      <p:sp>
        <p:nvSpPr>
          <p:cNvPr id="43" name="Shape 41"/>
          <p:cNvSpPr/>
          <p:nvPr/>
        </p:nvSpPr>
        <p:spPr>
          <a:xfrm>
            <a:off x="2667000" y="7430691"/>
            <a:ext cx="5143500" cy="19050"/>
          </a:xfrm>
          <a:prstGeom prst="rect">
            <a:avLst/>
          </a:prstGeom>
          <a:solidFill>
            <a:srgbClr val="E3E6EA"/>
          </a:solidFill>
          <a:ln/>
        </p:spPr>
        <p:txBody>
          <a:bodyPr/>
          <a:lstStyle/>
          <a:p>
            <a:endParaRPr lang="ko-KR" altLang="en-US"/>
          </a:p>
        </p:txBody>
      </p:sp>
      <p:sp>
        <p:nvSpPr>
          <p:cNvPr id="44" name="Text 42"/>
          <p:cNvSpPr/>
          <p:nvPr/>
        </p:nvSpPr>
        <p:spPr>
          <a:xfrm>
            <a:off x="2857500" y="6082308"/>
            <a:ext cx="4916805"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위치 착각 · 표시 누락</a:t>
            </a:r>
            <a:endParaRPr lang="en-US" sz="2400" dirty="0"/>
          </a:p>
        </p:txBody>
      </p:sp>
      <p:sp>
        <p:nvSpPr>
          <p:cNvPr id="45" name="Shape 43"/>
          <p:cNvSpPr/>
          <p:nvPr/>
        </p:nvSpPr>
        <p:spPr>
          <a:xfrm>
            <a:off x="7810500" y="5968008"/>
            <a:ext cx="5334000" cy="1481733"/>
          </a:xfrm>
          <a:prstGeom prst="rect">
            <a:avLst/>
          </a:prstGeom>
          <a:solidFill>
            <a:srgbClr val="EAF4EA"/>
          </a:solidFill>
          <a:ln/>
        </p:spPr>
        <p:txBody>
          <a:bodyPr/>
          <a:lstStyle/>
          <a:p>
            <a:endParaRPr lang="ko-KR" altLang="en-US"/>
          </a:p>
        </p:txBody>
      </p:sp>
      <p:sp>
        <p:nvSpPr>
          <p:cNvPr id="46" name="Shape 44"/>
          <p:cNvSpPr/>
          <p:nvPr/>
        </p:nvSpPr>
        <p:spPr>
          <a:xfrm>
            <a:off x="7810500" y="7430691"/>
            <a:ext cx="5334000" cy="19050"/>
          </a:xfrm>
          <a:prstGeom prst="rect">
            <a:avLst/>
          </a:prstGeom>
          <a:solidFill>
            <a:srgbClr val="E3E6EA"/>
          </a:solidFill>
          <a:ln/>
        </p:spPr>
        <p:txBody>
          <a:bodyPr/>
          <a:lstStyle/>
          <a:p>
            <a:endParaRPr lang="ko-KR" altLang="en-US"/>
          </a:p>
        </p:txBody>
      </p:sp>
      <p:sp>
        <p:nvSpPr>
          <p:cNvPr id="47" name="Text 45"/>
          <p:cNvSpPr/>
          <p:nvPr/>
        </p:nvSpPr>
        <p:spPr>
          <a:xfrm>
            <a:off x="8001000" y="6082308"/>
            <a:ext cx="5113020"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highlight>
                  <a:srgbClr val="EAF4EA"/>
                </a:highlight>
                <a:latin typeface="Pretendard" pitchFamily="34" charset="0"/>
                <a:ea typeface="Pretendard" pitchFamily="34" charset="-122"/>
                <a:cs typeface="Pretendard" pitchFamily="34" charset="-120"/>
              </a:rPr>
              <a:t>반사가 없는 바닥은 못 본다 → IR로 보완</a:t>
            </a:r>
            <a:endParaRPr lang="en-US" sz="2400" dirty="0"/>
          </a:p>
        </p:txBody>
      </p:sp>
      <p:sp>
        <p:nvSpPr>
          <p:cNvPr id="48" name="Shape 46"/>
          <p:cNvSpPr/>
          <p:nvPr/>
        </p:nvSpPr>
        <p:spPr>
          <a:xfrm>
            <a:off x="13144500" y="7430691"/>
            <a:ext cx="4229100" cy="19050"/>
          </a:xfrm>
          <a:prstGeom prst="rect">
            <a:avLst/>
          </a:prstGeom>
          <a:solidFill>
            <a:srgbClr val="E3E6EA"/>
          </a:solidFill>
          <a:ln/>
        </p:spPr>
        <p:txBody>
          <a:bodyPr/>
          <a:lstStyle/>
          <a:p>
            <a:endParaRPr lang="ko-KR" altLang="en-US"/>
          </a:p>
        </p:txBody>
      </p:sp>
      <p:sp>
        <p:nvSpPr>
          <p:cNvPr id="49" name="Text 47"/>
          <p:cNvSpPr/>
          <p:nvPr/>
        </p:nvSpPr>
        <p:spPr>
          <a:xfrm>
            <a:off x="13335000" y="6082308"/>
            <a:ext cx="3974973"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너무 늦게 알아, 바닥이 미끄러우면 멈추지 못한다</a:t>
            </a:r>
            <a:endParaRPr lang="en-US" sz="2400" dirty="0"/>
          </a:p>
        </p:txBody>
      </p:sp>
      <p:sp>
        <p:nvSpPr>
          <p:cNvPr id="50" name="Shape 48"/>
          <p:cNvSpPr/>
          <p:nvPr/>
        </p:nvSpPr>
        <p:spPr>
          <a:xfrm>
            <a:off x="7632000" y="2838450"/>
            <a:ext cx="381000" cy="38100"/>
          </a:xfrm>
          <a:prstGeom prst="rect">
            <a:avLst/>
          </a:prstGeom>
          <a:solidFill>
            <a:srgbClr val="1F2328"/>
          </a:solidFill>
          <a:ln/>
        </p:spPr>
        <p:txBody>
          <a:bodyPr/>
          <a:lstStyle/>
          <a:p>
            <a:endParaRPr lang="ko-KR" altLang="en-US"/>
          </a:p>
        </p:txBody>
      </p:sp>
      <p:sp>
        <p:nvSpPr>
          <p:cNvPr id="51" name="Shape 49"/>
          <p:cNvSpPr/>
          <p:nvPr/>
        </p:nvSpPr>
        <p:spPr>
          <a:xfrm>
            <a:off x="12960000" y="2838450"/>
            <a:ext cx="381000" cy="38100"/>
          </a:xfrm>
          <a:prstGeom prst="rect">
            <a:avLst/>
          </a:prstGeom>
          <a:solidFill>
            <a:srgbClr val="1F2328"/>
          </a:solidFill>
          <a:ln/>
        </p:spPr>
        <p:txBody>
          <a:bodyPr/>
          <a:lstStyle/>
          <a:p>
            <a:endParaRPr lang="ko-KR" altLang="en-US"/>
          </a:p>
        </p:txBody>
      </p:sp>
      <p:sp>
        <p:nvSpPr>
          <p:cNvPr id="52" name="Shape 50"/>
          <p:cNvSpPr/>
          <p:nvPr/>
        </p:nvSpPr>
        <p:spPr>
          <a:xfrm>
            <a:off x="7632000" y="3752850"/>
            <a:ext cx="381000" cy="38100"/>
          </a:xfrm>
          <a:prstGeom prst="rect">
            <a:avLst/>
          </a:prstGeom>
          <a:solidFill>
            <a:srgbClr val="1F2328"/>
          </a:solidFill>
          <a:ln/>
        </p:spPr>
        <p:txBody>
          <a:bodyPr anchor="ctr"/>
          <a:lstStyle/>
          <a:p>
            <a:endParaRPr lang="ko-KR" altLang="en-US"/>
          </a:p>
        </p:txBody>
      </p:sp>
      <p:sp>
        <p:nvSpPr>
          <p:cNvPr id="53" name="Shape 51"/>
          <p:cNvSpPr/>
          <p:nvPr/>
        </p:nvSpPr>
        <p:spPr>
          <a:xfrm>
            <a:off x="12960000" y="3752850"/>
            <a:ext cx="381000" cy="38100"/>
          </a:xfrm>
          <a:prstGeom prst="rect">
            <a:avLst/>
          </a:prstGeom>
          <a:solidFill>
            <a:srgbClr val="1F2328"/>
          </a:solidFill>
          <a:ln/>
        </p:spPr>
        <p:txBody>
          <a:bodyPr/>
          <a:lstStyle/>
          <a:p>
            <a:endParaRPr lang="ko-KR" altLang="en-US"/>
          </a:p>
        </p:txBody>
      </p:sp>
      <p:sp>
        <p:nvSpPr>
          <p:cNvPr id="54" name="Text 52"/>
          <p:cNvSpPr/>
          <p:nvPr/>
        </p:nvSpPr>
        <p:spPr>
          <a:xfrm>
            <a:off x="914400" y="8115300"/>
            <a:ext cx="16952976" cy="10668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서빙로봇도 카메라를 달지만 처리 방식은 공개되지 않았다. </a:t>
            </a:r>
          </a:p>
          <a:p>
            <a:pPr marL="0" indent="0" algn="l">
              <a:lnSpc>
                <a:spcPct val="108333"/>
              </a:lnSpc>
              <a:buNone/>
            </a:pPr>
            <a:r>
              <a:rPr lang="en-US" sz="3000" dirty="0" err="1">
                <a:solidFill>
                  <a:srgbClr val="1F2328"/>
                </a:solidFill>
                <a:latin typeface="Pretendard" pitchFamily="34" charset="0"/>
                <a:ea typeface="Pretendard" pitchFamily="34" charset="-122"/>
                <a:cs typeface="Pretendard" pitchFamily="34" charset="-120"/>
              </a:rPr>
              <a:t>차이는</a:t>
            </a:r>
            <a:r>
              <a:rPr lang="en-US" sz="3000" dirty="0">
                <a:solidFill>
                  <a:srgbClr val="1F2328"/>
                </a:solidFill>
                <a:latin typeface="Pretendard" pitchFamily="34" charset="0"/>
                <a:ea typeface="Pretendard" pitchFamily="34" charset="-122"/>
                <a:cs typeface="Pretendard" pitchFamily="34" charset="-120"/>
              </a:rPr>
              <a:t> 카메라의 유무가 아니라 </a:t>
            </a:r>
            <a:r>
              <a:rPr lang="en-US" sz="3000" b="1" dirty="0">
                <a:solidFill>
                  <a:srgbClr val="1F2328"/>
                </a:solidFill>
                <a:latin typeface="Pretendard" pitchFamily="34" charset="0"/>
                <a:ea typeface="Pretendard" pitchFamily="34" charset="-122"/>
                <a:cs typeface="Pretendard" pitchFamily="34" charset="-120"/>
              </a:rPr>
              <a:t>카메라 데이터를 처리하는 방식</a:t>
            </a:r>
            <a:r>
              <a:rPr lang="en-US" sz="3000" dirty="0">
                <a:solidFill>
                  <a:srgbClr val="1F2328"/>
                </a:solidFill>
                <a:latin typeface="Pretendard" pitchFamily="34" charset="0"/>
                <a:ea typeface="Pretendard" pitchFamily="34" charset="-122"/>
                <a:cs typeface="Pretendard" pitchFamily="34" charset="-120"/>
              </a:rPr>
              <a:t>이다.</a:t>
            </a:r>
            <a:endParaRPr lang="en-US" sz="3000" dirty="0"/>
          </a:p>
        </p:txBody>
      </p:sp>
      <p:sp>
        <p:nvSpPr>
          <p:cNvPr id="55" name="Text 53"/>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METHOD</a:t>
            </a:r>
            <a:endParaRPr lang="en-US" sz="1800" dirty="0"/>
          </a:p>
        </p:txBody>
      </p:sp>
      <p:sp>
        <p:nvSpPr>
          <p:cNvPr id="3" name="Text 1"/>
          <p:cNvSpPr/>
          <p:nvPr/>
        </p:nvSpPr>
        <p:spPr>
          <a:xfrm>
            <a:off x="914400" y="1066800"/>
            <a:ext cx="16952976" cy="19050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앞을 보고 · 쌓아서 판단하고 · 로봇 기준으로 기억한다</a:t>
            </a:r>
            <a:endParaRPr lang="en-US" sz="5400" dirty="0"/>
          </a:p>
        </p:txBody>
      </p:sp>
      <p:sp>
        <p:nvSpPr>
          <p:cNvPr id="4" name="Shape 2"/>
          <p:cNvSpPr/>
          <p:nvPr/>
        </p:nvSpPr>
        <p:spPr>
          <a:xfrm>
            <a:off x="914400" y="3086100"/>
            <a:ext cx="3581400" cy="3238500"/>
          </a:xfrm>
          <a:prstGeom prst="roundRect">
            <a:avLst>
              <a:gd name="adj" fmla="val 2353"/>
            </a:avLst>
          </a:prstGeom>
          <a:ln w="38100">
            <a:solidFill>
              <a:srgbClr val="1F2328"/>
            </a:solidFill>
            <a:prstDash val="solid"/>
          </a:ln>
        </p:spPr>
        <p:txBody>
          <a:bodyPr/>
          <a:lstStyle/>
          <a:p>
            <a:endParaRPr lang="ko-KR" altLang="en-US"/>
          </a:p>
        </p:txBody>
      </p:sp>
      <p:sp>
        <p:nvSpPr>
          <p:cNvPr id="5" name="Shape 3"/>
          <p:cNvSpPr/>
          <p:nvPr/>
        </p:nvSpPr>
        <p:spPr>
          <a:xfrm>
            <a:off x="1104900" y="3276000"/>
            <a:ext cx="419100" cy="419100"/>
          </a:xfrm>
          <a:prstGeom prst="ellipse">
            <a:avLst/>
          </a:prstGeom>
          <a:solidFill>
            <a:srgbClr val="1F2328"/>
          </a:solidFill>
          <a:ln/>
        </p:spPr>
        <p:txBody>
          <a:bodyPr/>
          <a:lstStyle/>
          <a:p>
            <a:endParaRPr lang="ko-KR" altLang="en-US"/>
          </a:p>
        </p:txBody>
      </p:sp>
      <p:sp>
        <p:nvSpPr>
          <p:cNvPr id="6" name="Text 4"/>
          <p:cNvSpPr/>
          <p:nvPr/>
        </p:nvSpPr>
        <p:spPr>
          <a:xfrm>
            <a:off x="1066800" y="32400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6200" y="3238500"/>
            <a:ext cx="419100" cy="419100"/>
          </a:xfrm>
          <a:prstGeom prst="rect">
            <a:avLst/>
          </a:prstGeom>
        </p:spPr>
      </p:pic>
      <p:sp>
        <p:nvSpPr>
          <p:cNvPr id="8" name="Text 5"/>
          <p:cNvSpPr/>
          <p:nvPr/>
        </p:nvSpPr>
        <p:spPr>
          <a:xfrm>
            <a:off x="1104900" y="3733800"/>
            <a:ext cx="352044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깊이카메라</a:t>
            </a:r>
            <a:endParaRPr lang="en-US" sz="2700" dirty="0"/>
          </a:p>
        </p:txBody>
      </p:sp>
      <p:sp>
        <p:nvSpPr>
          <p:cNvPr id="9" name="Text 6"/>
          <p:cNvSpPr/>
          <p:nvPr/>
        </p:nvSpPr>
        <p:spPr>
          <a:xfrm>
            <a:off x="1104900" y="4210050"/>
            <a:ext cx="3296412" cy="1562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0.6 m 높이에서 45° 아래를 본다. 0.3–3 m 앞 바닥을 10 cm 칸으로 </a:t>
            </a:r>
            <a:r>
              <a:rPr lang="en-US" sz="2400" dirty="0" err="1">
                <a:solidFill>
                  <a:srgbClr val="1F2328"/>
                </a:solidFill>
                <a:latin typeface="Pretendard" pitchFamily="34" charset="0"/>
                <a:ea typeface="Pretendard" pitchFamily="34" charset="-122"/>
                <a:cs typeface="Pretendard" pitchFamily="34" charset="-120"/>
              </a:rPr>
              <a:t>나눠</a:t>
            </a:r>
            <a:r>
              <a:rPr lang="en-US" sz="2400" dirty="0">
                <a:solidFill>
                  <a:srgbClr val="1F2328"/>
                </a:solidFill>
                <a:latin typeface="Pretendard" pitchFamily="34" charset="0"/>
                <a:ea typeface="Pretendard" pitchFamily="34" charset="-122"/>
                <a:cs typeface="Pretendard" pitchFamily="34" charset="-120"/>
              </a:rPr>
              <a:t> </a:t>
            </a:r>
            <a:r>
              <a:rPr lang="en-US" sz="2400" b="1" dirty="0" err="1">
                <a:solidFill>
                  <a:srgbClr val="1F2328"/>
                </a:solidFill>
                <a:latin typeface="Pretendard" pitchFamily="34" charset="0"/>
                <a:ea typeface="Pretendard" pitchFamily="34" charset="-122"/>
                <a:cs typeface="Pretendard" pitchFamily="34" charset="-120"/>
              </a:rPr>
              <a:t>낮음</a:t>
            </a:r>
            <a:r>
              <a:rPr lang="en-US" sz="2400" b="1" dirty="0">
                <a:solidFill>
                  <a:srgbClr val="1F2328"/>
                </a:solidFill>
                <a:latin typeface="Pretendard" pitchFamily="34" charset="0"/>
                <a:ea typeface="Pretendard" pitchFamily="34" charset="-122"/>
                <a:cs typeface="Pretendard" pitchFamily="34" charset="-120"/>
              </a:rPr>
              <a:t> / 바닥 / 값 없음 </a:t>
            </a:r>
            <a:r>
              <a:rPr lang="en-US" sz="2400" dirty="0">
                <a:solidFill>
                  <a:srgbClr val="1F2328"/>
                </a:solidFill>
                <a:latin typeface="Pretendard" pitchFamily="34" charset="0"/>
                <a:ea typeface="Pretendard" pitchFamily="34" charset="-122"/>
                <a:cs typeface="Pretendard" pitchFamily="34" charset="-120"/>
              </a:rPr>
              <a:t>분류</a:t>
            </a:r>
            <a:endParaRPr lang="en-US" sz="2400" dirty="0"/>
          </a:p>
        </p:txBody>
      </p:sp>
      <p:sp>
        <p:nvSpPr>
          <p:cNvPr id="10" name="Text 7"/>
          <p:cNvSpPr/>
          <p:nvPr/>
        </p:nvSpPr>
        <p:spPr>
          <a:xfrm>
            <a:off x="914400" y="6438900"/>
            <a:ext cx="3688842" cy="609600"/>
          </a:xfrm>
          <a:prstGeom prst="rect">
            <a:avLst/>
          </a:prstGeom>
          <a:noFill/>
          <a:ln/>
        </p:spPr>
        <p:txBody>
          <a:bodyPr wrap="square" lIns="25400" tIns="25400" rIns="25400" bIns="25400" rtlCol="0" anchor="t">
            <a:normAutofit fontScale="85000" lnSpcReduction="10000"/>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IR은 가장자리에 닿아야 안다. 미리 알아야 경로를 바꿀 시간이 생긴다</a:t>
            </a:r>
            <a:endParaRPr lang="en-US" sz="1800" dirty="0"/>
          </a:p>
        </p:txBody>
      </p:sp>
      <p:sp>
        <p:nvSpPr>
          <p:cNvPr id="11" name="Text 8"/>
          <p:cNvSpPr/>
          <p:nvPr/>
        </p:nvSpPr>
        <p:spPr>
          <a:xfrm>
            <a:off x="44577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12" name="Shape 9"/>
          <p:cNvSpPr/>
          <p:nvPr/>
        </p:nvSpPr>
        <p:spPr>
          <a:xfrm>
            <a:off x="4800600" y="3086100"/>
            <a:ext cx="3048000" cy="3238500"/>
          </a:xfrm>
          <a:prstGeom prst="roundRect">
            <a:avLst>
              <a:gd name="adj" fmla="val 2500"/>
            </a:avLst>
          </a:prstGeom>
          <a:ln w="38100">
            <a:solidFill>
              <a:srgbClr val="1F2328"/>
            </a:solidFill>
            <a:prstDash val="solid"/>
          </a:ln>
        </p:spPr>
        <p:txBody>
          <a:bodyPr/>
          <a:lstStyle/>
          <a:p>
            <a:endParaRPr lang="ko-KR" altLang="en-US"/>
          </a:p>
        </p:txBody>
      </p:sp>
      <p:sp>
        <p:nvSpPr>
          <p:cNvPr id="13" name="Shape 10"/>
          <p:cNvSpPr/>
          <p:nvPr/>
        </p:nvSpPr>
        <p:spPr>
          <a:xfrm>
            <a:off x="4991100" y="3276000"/>
            <a:ext cx="419100" cy="419100"/>
          </a:xfrm>
          <a:prstGeom prst="ellipse">
            <a:avLst/>
          </a:prstGeom>
          <a:solidFill>
            <a:srgbClr val="1F2328"/>
          </a:solidFill>
          <a:ln/>
        </p:spPr>
        <p:txBody>
          <a:bodyPr/>
          <a:lstStyle/>
          <a:p>
            <a:endParaRPr lang="ko-KR" altLang="en-US"/>
          </a:p>
        </p:txBody>
      </p:sp>
      <p:sp>
        <p:nvSpPr>
          <p:cNvPr id="14" name="Text 11"/>
          <p:cNvSpPr/>
          <p:nvPr/>
        </p:nvSpPr>
        <p:spPr>
          <a:xfrm>
            <a:off x="49530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9000" y="3238500"/>
            <a:ext cx="419100" cy="419100"/>
          </a:xfrm>
          <a:prstGeom prst="rect">
            <a:avLst/>
          </a:prstGeom>
        </p:spPr>
      </p:pic>
      <p:sp>
        <p:nvSpPr>
          <p:cNvPr id="16" name="Text 12"/>
          <p:cNvSpPr/>
          <p:nvPr/>
        </p:nvSpPr>
        <p:spPr>
          <a:xfrm>
            <a:off x="4991100" y="3733800"/>
            <a:ext cx="293370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베이즈 필터</a:t>
            </a:r>
            <a:endParaRPr lang="en-US" sz="2700" dirty="0"/>
          </a:p>
        </p:txBody>
      </p:sp>
      <p:sp>
        <p:nvSpPr>
          <p:cNvPr id="17" name="Text 13"/>
          <p:cNvSpPr/>
          <p:nvPr/>
        </p:nvSpPr>
        <p:spPr>
          <a:xfrm>
            <a:off x="4991100" y="4152900"/>
            <a:ext cx="293370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5B6470"/>
                </a:solidFill>
                <a:latin typeface="Pretendard" pitchFamily="34" charset="0"/>
                <a:ea typeface="Pretendard" pitchFamily="34" charset="-122"/>
                <a:cs typeface="Pretendard" pitchFamily="34" charset="-120"/>
              </a:rPr>
              <a:t>(log-odds)</a:t>
            </a:r>
            <a:endParaRPr lang="en-US" sz="2400" dirty="0"/>
          </a:p>
        </p:txBody>
      </p:sp>
      <p:sp>
        <p:nvSpPr>
          <p:cNvPr id="18" name="Text 14"/>
          <p:cNvSpPr/>
          <p:nvPr/>
        </p:nvSpPr>
        <p:spPr>
          <a:xfrm>
            <a:off x="4991100" y="4591050"/>
            <a:ext cx="2747010" cy="1181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칸마다 점수를 쌓아, </a:t>
            </a:r>
            <a:r>
              <a:rPr lang="en-US" sz="2400" b="1" dirty="0">
                <a:solidFill>
                  <a:srgbClr val="1F2328"/>
                </a:solidFill>
                <a:latin typeface="Pretendard" pitchFamily="34" charset="0"/>
                <a:ea typeface="Pretendard" pitchFamily="34" charset="-122"/>
                <a:cs typeface="Pretendard" pitchFamily="34" charset="-120"/>
              </a:rPr>
              <a:t>여러 장 연속 '낮음' </a:t>
            </a:r>
            <a:r>
              <a:rPr lang="en-US" sz="2400" dirty="0">
                <a:solidFill>
                  <a:srgbClr val="1F2328"/>
                </a:solidFill>
                <a:latin typeface="Pretendard" pitchFamily="34" charset="0"/>
                <a:ea typeface="Pretendard" pitchFamily="34" charset="-122"/>
                <a:cs typeface="Pretendard" pitchFamily="34" charset="-120"/>
              </a:rPr>
              <a:t>일 때만 낭떠러지로 판정</a:t>
            </a:r>
            <a:endParaRPr lang="en-US" sz="2400" dirty="0"/>
          </a:p>
        </p:txBody>
      </p:sp>
      <p:sp>
        <p:nvSpPr>
          <p:cNvPr id="19" name="Text 15"/>
          <p:cNvSpPr/>
          <p:nvPr/>
        </p:nvSpPr>
        <p:spPr>
          <a:xfrm>
            <a:off x="4800600" y="6438900"/>
            <a:ext cx="3139440" cy="609600"/>
          </a:xfrm>
          <a:prstGeom prst="rect">
            <a:avLst/>
          </a:prstGeom>
          <a:noFill/>
          <a:ln/>
        </p:spPr>
        <p:txBody>
          <a:bodyPr wrap="square" lIns="25400" tIns="25400" rIns="25400" bIns="25400" rtlCol="0" anchor="t">
            <a:normAutofit fontScale="92500"/>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한 장만 보면 햇빛이나 잡음을 낭떠러지로 오인한다</a:t>
            </a:r>
            <a:endParaRPr lang="en-US" sz="1800" dirty="0"/>
          </a:p>
        </p:txBody>
      </p:sp>
      <p:sp>
        <p:nvSpPr>
          <p:cNvPr id="20" name="Text 16"/>
          <p:cNvSpPr/>
          <p:nvPr/>
        </p:nvSpPr>
        <p:spPr>
          <a:xfrm>
            <a:off x="78105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21" name="Shape 17"/>
          <p:cNvSpPr/>
          <p:nvPr/>
        </p:nvSpPr>
        <p:spPr>
          <a:xfrm>
            <a:off x="8153400" y="3086100"/>
            <a:ext cx="3429000" cy="3238500"/>
          </a:xfrm>
          <a:prstGeom prst="roundRect">
            <a:avLst>
              <a:gd name="adj" fmla="val 2353"/>
            </a:avLst>
          </a:prstGeom>
          <a:ln w="38100">
            <a:solidFill>
              <a:srgbClr val="1F2328"/>
            </a:solidFill>
            <a:prstDash val="solid"/>
          </a:ln>
        </p:spPr>
        <p:txBody>
          <a:bodyPr/>
          <a:lstStyle/>
          <a:p>
            <a:endParaRPr lang="ko-KR" altLang="en-US"/>
          </a:p>
        </p:txBody>
      </p:sp>
      <p:sp>
        <p:nvSpPr>
          <p:cNvPr id="22" name="Shape 18"/>
          <p:cNvSpPr/>
          <p:nvPr/>
        </p:nvSpPr>
        <p:spPr>
          <a:xfrm>
            <a:off x="8343900" y="3276000"/>
            <a:ext cx="419100" cy="419100"/>
          </a:xfrm>
          <a:prstGeom prst="ellipse">
            <a:avLst/>
          </a:prstGeom>
          <a:solidFill>
            <a:srgbClr val="1F2328"/>
          </a:solidFill>
          <a:ln/>
        </p:spPr>
        <p:txBody>
          <a:bodyPr/>
          <a:lstStyle/>
          <a:p>
            <a:endParaRPr lang="ko-KR" altLang="en-US"/>
          </a:p>
        </p:txBody>
      </p:sp>
      <p:sp>
        <p:nvSpPr>
          <p:cNvPr id="23" name="Text 19"/>
          <p:cNvSpPr/>
          <p:nvPr/>
        </p:nvSpPr>
        <p:spPr>
          <a:xfrm>
            <a:off x="83058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72800" y="3238500"/>
            <a:ext cx="419100" cy="419100"/>
          </a:xfrm>
          <a:prstGeom prst="rect">
            <a:avLst/>
          </a:prstGeom>
        </p:spPr>
      </p:pic>
      <p:sp>
        <p:nvSpPr>
          <p:cNvPr id="25" name="Text 20"/>
          <p:cNvSpPr/>
          <p:nvPr/>
        </p:nvSpPr>
        <p:spPr>
          <a:xfrm>
            <a:off x="8343900" y="3733800"/>
            <a:ext cx="335280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odom 기억</a:t>
            </a:r>
            <a:endParaRPr lang="en-US" sz="2700" dirty="0"/>
          </a:p>
        </p:txBody>
      </p:sp>
      <p:sp>
        <p:nvSpPr>
          <p:cNvPr id="26" name="Text 21"/>
          <p:cNvSpPr/>
          <p:nvPr/>
        </p:nvSpPr>
        <p:spPr>
          <a:xfrm>
            <a:off x="8343900" y="4210050"/>
            <a:ext cx="3139440"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찾은 낭떠러지 위치를 바퀴 기준 좌표에 저장</a:t>
            </a:r>
            <a:endParaRPr lang="en-US" sz="2400" dirty="0"/>
          </a:p>
        </p:txBody>
      </p:sp>
      <p:sp>
        <p:nvSpPr>
          <p:cNvPr id="27" name="Text 22"/>
          <p:cNvSpPr/>
          <p:nvPr/>
        </p:nvSpPr>
        <p:spPr>
          <a:xfrm>
            <a:off x="8153400" y="6438900"/>
            <a:ext cx="3531870" cy="118110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카메라는 앞만 본다 → 지나친 낭떠러지를 기억해야 돌거나 물러날 수 있다. map 좌표는 위치추정이 보정될 때 튄다 (REP-105)</a:t>
            </a:r>
            <a:endParaRPr lang="en-US" sz="1800" dirty="0"/>
          </a:p>
        </p:txBody>
      </p:sp>
      <p:sp>
        <p:nvSpPr>
          <p:cNvPr id="28" name="Text 23"/>
          <p:cNvSpPr/>
          <p:nvPr/>
        </p:nvSpPr>
        <p:spPr>
          <a:xfrm>
            <a:off x="115443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29" name="Shape 24"/>
          <p:cNvSpPr/>
          <p:nvPr/>
        </p:nvSpPr>
        <p:spPr>
          <a:xfrm>
            <a:off x="11887200" y="3086100"/>
            <a:ext cx="2971800" cy="3238500"/>
          </a:xfrm>
          <a:prstGeom prst="roundRect">
            <a:avLst>
              <a:gd name="adj" fmla="val 2564"/>
            </a:avLst>
          </a:prstGeom>
          <a:ln w="38100">
            <a:solidFill>
              <a:srgbClr val="1F2328"/>
            </a:solidFill>
            <a:prstDash val="solid"/>
          </a:ln>
        </p:spPr>
        <p:txBody>
          <a:bodyPr/>
          <a:lstStyle/>
          <a:p>
            <a:endParaRPr lang="ko-KR" altLang="en-US"/>
          </a:p>
        </p:txBody>
      </p:sp>
      <p:sp>
        <p:nvSpPr>
          <p:cNvPr id="30" name="Shape 25"/>
          <p:cNvSpPr/>
          <p:nvPr/>
        </p:nvSpPr>
        <p:spPr>
          <a:xfrm>
            <a:off x="12077700" y="3276000"/>
            <a:ext cx="419100" cy="419100"/>
          </a:xfrm>
          <a:prstGeom prst="ellipse">
            <a:avLst/>
          </a:prstGeom>
          <a:solidFill>
            <a:srgbClr val="1F2328"/>
          </a:solidFill>
          <a:ln/>
        </p:spPr>
        <p:txBody>
          <a:bodyPr/>
          <a:lstStyle/>
          <a:p>
            <a:endParaRPr lang="ko-KR" altLang="en-US"/>
          </a:p>
        </p:txBody>
      </p:sp>
      <p:sp>
        <p:nvSpPr>
          <p:cNvPr id="31" name="Text 26"/>
          <p:cNvSpPr/>
          <p:nvPr/>
        </p:nvSpPr>
        <p:spPr>
          <a:xfrm>
            <a:off x="120396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249400" y="3238500"/>
            <a:ext cx="419100" cy="419100"/>
          </a:xfrm>
          <a:prstGeom prst="rect">
            <a:avLst/>
          </a:prstGeom>
        </p:spPr>
      </p:pic>
      <p:sp>
        <p:nvSpPr>
          <p:cNvPr id="33" name="Text 27"/>
          <p:cNvSpPr/>
          <p:nvPr/>
        </p:nvSpPr>
        <p:spPr>
          <a:xfrm>
            <a:off x="12077700" y="3733800"/>
            <a:ext cx="284988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Nav2 금지구역</a:t>
            </a:r>
            <a:endParaRPr lang="en-US" sz="2700" dirty="0"/>
          </a:p>
        </p:txBody>
      </p:sp>
      <p:sp>
        <p:nvSpPr>
          <p:cNvPr id="34" name="Text 28"/>
          <p:cNvSpPr/>
          <p:nvPr/>
        </p:nvSpPr>
        <p:spPr>
          <a:xfrm>
            <a:off x="12077700" y="4210050"/>
            <a:ext cx="2668524" cy="1943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가장자리 0.3 m 안은 진입 금지, 0.7 m까지는 가까울수록 비용이 높다</a:t>
            </a:r>
            <a:endParaRPr lang="en-US" sz="2400" dirty="0"/>
          </a:p>
        </p:txBody>
      </p:sp>
      <p:sp>
        <p:nvSpPr>
          <p:cNvPr id="35" name="Text 29"/>
          <p:cNvSpPr/>
          <p:nvPr/>
        </p:nvSpPr>
        <p:spPr>
          <a:xfrm>
            <a:off x="11887200" y="6438900"/>
            <a:ext cx="3060954" cy="60960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경로 계획 단계에서 미리 돌아가게 한다</a:t>
            </a:r>
            <a:endParaRPr lang="en-US" sz="1800" dirty="0"/>
          </a:p>
        </p:txBody>
      </p:sp>
      <p:sp>
        <p:nvSpPr>
          <p:cNvPr id="36" name="Text 30"/>
          <p:cNvSpPr/>
          <p:nvPr/>
        </p:nvSpPr>
        <p:spPr>
          <a:xfrm>
            <a:off x="148209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37" name="Shape 31"/>
          <p:cNvSpPr/>
          <p:nvPr/>
        </p:nvSpPr>
        <p:spPr>
          <a:xfrm>
            <a:off x="15163800" y="3086100"/>
            <a:ext cx="2209800" cy="3238500"/>
          </a:xfrm>
          <a:prstGeom prst="roundRect">
            <a:avLst>
              <a:gd name="adj" fmla="val 3448"/>
            </a:avLst>
          </a:prstGeom>
          <a:ln w="38100">
            <a:solidFill>
              <a:srgbClr val="1F2328"/>
            </a:solidFill>
            <a:prstDash val="solid"/>
          </a:ln>
        </p:spPr>
        <p:txBody>
          <a:bodyPr/>
          <a:lstStyle/>
          <a:p>
            <a:endParaRPr lang="ko-KR" altLang="en-US"/>
          </a:p>
        </p:txBody>
      </p:sp>
      <p:sp>
        <p:nvSpPr>
          <p:cNvPr id="38" name="Shape 32"/>
          <p:cNvSpPr/>
          <p:nvPr/>
        </p:nvSpPr>
        <p:spPr>
          <a:xfrm>
            <a:off x="15354300" y="3276000"/>
            <a:ext cx="419100" cy="419100"/>
          </a:xfrm>
          <a:prstGeom prst="ellipse">
            <a:avLst/>
          </a:prstGeom>
          <a:solidFill>
            <a:srgbClr val="1F2328"/>
          </a:solidFill>
          <a:ln/>
        </p:spPr>
        <p:txBody>
          <a:bodyPr/>
          <a:lstStyle/>
          <a:p>
            <a:endParaRPr lang="ko-KR" altLang="en-US"/>
          </a:p>
        </p:txBody>
      </p:sp>
      <p:sp>
        <p:nvSpPr>
          <p:cNvPr id="39" name="Text 33"/>
          <p:cNvSpPr/>
          <p:nvPr/>
        </p:nvSpPr>
        <p:spPr>
          <a:xfrm>
            <a:off x="15316200" y="32400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764000" y="3238500"/>
            <a:ext cx="419100" cy="419100"/>
          </a:xfrm>
          <a:prstGeom prst="rect">
            <a:avLst/>
          </a:prstGeom>
        </p:spPr>
      </p:pic>
      <p:sp>
        <p:nvSpPr>
          <p:cNvPr id="41" name="Text 34"/>
          <p:cNvSpPr/>
          <p:nvPr/>
        </p:nvSpPr>
        <p:spPr>
          <a:xfrm>
            <a:off x="15354300" y="3733800"/>
            <a:ext cx="201168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하향 IR</a:t>
            </a:r>
            <a:endParaRPr lang="en-US" sz="2700" dirty="0"/>
          </a:p>
        </p:txBody>
      </p:sp>
      <p:sp>
        <p:nvSpPr>
          <p:cNvPr id="42" name="Text 35"/>
          <p:cNvSpPr/>
          <p:nvPr/>
        </p:nvSpPr>
        <p:spPr>
          <a:xfrm>
            <a:off x="15354300" y="4152900"/>
            <a:ext cx="201168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5B6470"/>
                </a:solidFill>
                <a:latin typeface="Pretendard" pitchFamily="34" charset="0"/>
                <a:ea typeface="Pretendard" pitchFamily="34" charset="-122"/>
                <a:cs typeface="Pretendard" pitchFamily="34" charset="-120"/>
              </a:rPr>
              <a:t>(마지막 층)</a:t>
            </a:r>
            <a:endParaRPr lang="en-US" sz="2400" dirty="0"/>
          </a:p>
        </p:txBody>
      </p:sp>
      <p:sp>
        <p:nvSpPr>
          <p:cNvPr id="43" name="Text 36"/>
          <p:cNvSpPr/>
          <p:nvPr/>
        </p:nvSpPr>
        <p:spPr>
          <a:xfrm>
            <a:off x="15354300" y="4591050"/>
            <a:ext cx="1905000"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발밑이 비면 급정지</a:t>
            </a:r>
            <a:endParaRPr lang="en-US" sz="2400" dirty="0"/>
          </a:p>
        </p:txBody>
      </p:sp>
      <p:sp>
        <p:nvSpPr>
          <p:cNvPr id="44" name="Text 37"/>
          <p:cNvSpPr/>
          <p:nvPr/>
        </p:nvSpPr>
        <p:spPr>
          <a:xfrm>
            <a:off x="15163800" y="6438900"/>
            <a:ext cx="2286000" cy="89535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반사가 없는 바닥은 카메라가 깊이를 재지 못한다</a:t>
            </a:r>
            <a:endParaRPr lang="en-US" sz="1800" dirty="0"/>
          </a:p>
        </p:txBody>
      </p:sp>
      <p:sp>
        <p:nvSpPr>
          <p:cNvPr id="45" name="Shape 38"/>
          <p:cNvSpPr/>
          <p:nvPr/>
        </p:nvSpPr>
        <p:spPr>
          <a:xfrm>
            <a:off x="914400" y="8058150"/>
            <a:ext cx="5334000" cy="457200"/>
          </a:xfrm>
          <a:prstGeom prst="roundRect">
            <a:avLst>
              <a:gd name="adj" fmla="val 16667"/>
            </a:avLst>
          </a:prstGeom>
          <a:solidFill>
            <a:srgbClr val="EAF4EA"/>
          </a:solidFill>
          <a:ln/>
        </p:spPr>
        <p:txBody>
          <a:bodyPr/>
          <a:lstStyle/>
          <a:p>
            <a:endParaRPr lang="ko-KR" altLang="en-US"/>
          </a:p>
        </p:txBody>
      </p:sp>
      <p:sp>
        <p:nvSpPr>
          <p:cNvPr id="46" name="Shape 39"/>
          <p:cNvSpPr/>
          <p:nvPr/>
        </p:nvSpPr>
        <p:spPr>
          <a:xfrm>
            <a:off x="1104900" y="8191500"/>
            <a:ext cx="190500" cy="190500"/>
          </a:xfrm>
          <a:prstGeom prst="roundRect">
            <a:avLst>
              <a:gd name="adj" fmla="val 20000"/>
            </a:avLst>
          </a:prstGeom>
          <a:solidFill>
            <a:srgbClr val="008300"/>
          </a:solidFill>
          <a:ln/>
        </p:spPr>
        <p:txBody>
          <a:bodyPr/>
          <a:lstStyle/>
          <a:p>
            <a:endParaRPr lang="ko-KR" altLang="en-US"/>
          </a:p>
        </p:txBody>
      </p:sp>
      <p:sp>
        <p:nvSpPr>
          <p:cNvPr id="47" name="Text 40"/>
          <p:cNvSpPr/>
          <p:nvPr/>
        </p:nvSpPr>
        <p:spPr>
          <a:xfrm>
            <a:off x="1428750" y="8096250"/>
            <a:ext cx="481965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P3i (제안 방식) </a:t>
            </a:r>
            <a:r>
              <a:rPr lang="en-US" sz="2400" dirty="0">
                <a:solidFill>
                  <a:srgbClr val="1F2328"/>
                </a:solidFill>
                <a:latin typeface="Pretendard" pitchFamily="34" charset="0"/>
                <a:ea typeface="Pretendard" pitchFamily="34" charset="-122"/>
                <a:cs typeface="Pretendard" pitchFamily="34" charset="-120"/>
              </a:rPr>
              <a:t>= ①~⑤ 모두 사용</a:t>
            </a:r>
            <a:endParaRPr lang="en-US" sz="2400" dirty="0"/>
          </a:p>
        </p:txBody>
      </p:sp>
      <p:sp>
        <p:nvSpPr>
          <p:cNvPr id="59" name="Text 52"/>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VALIDATION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환경을 구축했고, 판정 기준은 실험 전에 고정했다</a:t>
            </a:r>
            <a:endParaRPr lang="en-US" sz="5400" dirty="0"/>
          </a:p>
        </p:txBody>
      </p:sp>
      <p:sp>
        <p:nvSpPr>
          <p:cNvPr id="4" name="Shape 2"/>
          <p:cNvSpPr/>
          <p:nvPr/>
        </p:nvSpPr>
        <p:spPr>
          <a:xfrm>
            <a:off x="914400" y="2400300"/>
            <a:ext cx="6324600" cy="5276850"/>
          </a:xfrm>
          <a:prstGeom prst="rect">
            <a:avLst/>
          </a:prstGeom>
          <a:ln w="19050">
            <a:solidFill>
              <a:srgbClr val="E3E6EA"/>
            </a:solidFill>
            <a:prstDash val="solid"/>
          </a:ln>
        </p:spPr>
        <p:txBody>
          <a:bodyPr/>
          <a:lstStyle/>
          <a:p>
            <a:endParaRPr lang="ko-KR" altLang="en-US"/>
          </a:p>
        </p:txBody>
      </p:sp>
      <p:pic>
        <p:nvPicPr>
          <p:cNvPr id="5" name="Image 0" descr="preencoded.png"/>
          <p:cNvPicPr>
            <a:picLocks noChangeAspect="1"/>
          </p:cNvPicPr>
          <p:nvPr/>
        </p:nvPicPr>
        <p:blipFill>
          <a:blip r:embed="rId3"/>
          <a:stretch>
            <a:fillRect/>
          </a:stretch>
        </p:blipFill>
        <p:spPr>
          <a:xfrm>
            <a:off x="914400" y="2400300"/>
            <a:ext cx="6324600" cy="5276850"/>
          </a:xfrm>
          <a:prstGeom prst="rect">
            <a:avLst/>
          </a:prstGeom>
        </p:spPr>
      </p:pic>
      <p:sp>
        <p:nvSpPr>
          <p:cNvPr id="6" name="Shape 3"/>
          <p:cNvSpPr/>
          <p:nvPr/>
        </p:nvSpPr>
        <p:spPr>
          <a:xfrm>
            <a:off x="5648325" y="3076575"/>
            <a:ext cx="438150" cy="19050"/>
          </a:xfrm>
          <a:prstGeom prst="rect">
            <a:avLst/>
          </a:prstGeom>
          <a:solidFill>
            <a:srgbClr val="1F2328"/>
          </a:solidFill>
          <a:ln/>
        </p:spPr>
        <p:txBody>
          <a:bodyPr/>
          <a:lstStyle/>
          <a:p>
            <a:endParaRPr lang="ko-KR" altLang="en-US"/>
          </a:p>
        </p:txBody>
      </p:sp>
      <p:sp>
        <p:nvSpPr>
          <p:cNvPr id="7" name="Shape 4"/>
          <p:cNvSpPr/>
          <p:nvPr/>
        </p:nvSpPr>
        <p:spPr>
          <a:xfrm>
            <a:off x="6086475" y="2914650"/>
            <a:ext cx="821978"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8" name="Text 5"/>
          <p:cNvSpPr/>
          <p:nvPr/>
        </p:nvSpPr>
        <p:spPr>
          <a:xfrm>
            <a:off x="6159676" y="2933700"/>
            <a:ext cx="675576"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계단 B</a:t>
            </a:r>
            <a:endParaRPr lang="en-US" sz="1800" dirty="0"/>
          </a:p>
        </p:txBody>
      </p:sp>
      <p:sp>
        <p:nvSpPr>
          <p:cNvPr id="9" name="Shape 6"/>
          <p:cNvSpPr/>
          <p:nvPr/>
        </p:nvSpPr>
        <p:spPr>
          <a:xfrm>
            <a:off x="5562600" y="5076825"/>
            <a:ext cx="523875" cy="19050"/>
          </a:xfrm>
          <a:prstGeom prst="rect">
            <a:avLst/>
          </a:prstGeom>
          <a:solidFill>
            <a:srgbClr val="1F2328"/>
          </a:solidFill>
          <a:ln/>
        </p:spPr>
        <p:txBody>
          <a:bodyPr/>
          <a:lstStyle/>
          <a:p>
            <a:endParaRPr lang="ko-KR" altLang="en-US"/>
          </a:p>
        </p:txBody>
      </p:sp>
      <p:sp>
        <p:nvSpPr>
          <p:cNvPr id="10" name="Shape 7"/>
          <p:cNvSpPr/>
          <p:nvPr/>
        </p:nvSpPr>
        <p:spPr>
          <a:xfrm>
            <a:off x="6086475" y="49149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1" name="Text 8"/>
          <p:cNvSpPr/>
          <p:nvPr/>
        </p:nvSpPr>
        <p:spPr>
          <a:xfrm>
            <a:off x="6169588" y="49339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햇빛</a:t>
            </a:r>
            <a:endParaRPr lang="en-US" sz="1800" dirty="0"/>
          </a:p>
        </p:txBody>
      </p:sp>
      <p:sp>
        <p:nvSpPr>
          <p:cNvPr id="12" name="Shape 9"/>
          <p:cNvSpPr/>
          <p:nvPr/>
        </p:nvSpPr>
        <p:spPr>
          <a:xfrm>
            <a:off x="5295900" y="5648325"/>
            <a:ext cx="790575" cy="19050"/>
          </a:xfrm>
          <a:prstGeom prst="rect">
            <a:avLst/>
          </a:prstGeom>
          <a:solidFill>
            <a:srgbClr val="1F2328"/>
          </a:solidFill>
          <a:ln/>
        </p:spPr>
        <p:txBody>
          <a:bodyPr/>
          <a:lstStyle/>
          <a:p>
            <a:endParaRPr lang="ko-KR" altLang="en-US"/>
          </a:p>
        </p:txBody>
      </p:sp>
      <p:sp>
        <p:nvSpPr>
          <p:cNvPr id="13" name="Shape 10"/>
          <p:cNvSpPr/>
          <p:nvPr/>
        </p:nvSpPr>
        <p:spPr>
          <a:xfrm>
            <a:off x="6086475" y="54864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4" name="Text 11"/>
          <p:cNvSpPr/>
          <p:nvPr/>
        </p:nvSpPr>
        <p:spPr>
          <a:xfrm>
            <a:off x="6169588" y="55054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사람</a:t>
            </a:r>
            <a:endParaRPr lang="en-US" sz="1800" dirty="0"/>
          </a:p>
        </p:txBody>
      </p:sp>
      <p:sp>
        <p:nvSpPr>
          <p:cNvPr id="15" name="Shape 12"/>
          <p:cNvSpPr/>
          <p:nvPr/>
        </p:nvSpPr>
        <p:spPr>
          <a:xfrm>
            <a:off x="4629150" y="6524625"/>
            <a:ext cx="323850" cy="19050"/>
          </a:xfrm>
          <a:prstGeom prst="rect">
            <a:avLst/>
          </a:prstGeom>
          <a:solidFill>
            <a:srgbClr val="1F2328"/>
          </a:solidFill>
          <a:ln/>
        </p:spPr>
        <p:txBody>
          <a:bodyPr/>
          <a:lstStyle/>
          <a:p>
            <a:endParaRPr lang="ko-KR" altLang="en-US"/>
          </a:p>
        </p:txBody>
      </p:sp>
      <p:sp>
        <p:nvSpPr>
          <p:cNvPr id="16" name="Shape 13"/>
          <p:cNvSpPr/>
          <p:nvPr/>
        </p:nvSpPr>
        <p:spPr>
          <a:xfrm>
            <a:off x="4000500" y="63627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7" name="Text 14"/>
          <p:cNvSpPr/>
          <p:nvPr/>
        </p:nvSpPr>
        <p:spPr>
          <a:xfrm>
            <a:off x="4083613" y="63817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로봇</a:t>
            </a:r>
            <a:endParaRPr lang="en-US" sz="1800" dirty="0"/>
          </a:p>
        </p:txBody>
      </p:sp>
      <p:sp>
        <p:nvSpPr>
          <p:cNvPr id="18" name="Shape 15"/>
          <p:cNvSpPr/>
          <p:nvPr/>
        </p:nvSpPr>
        <p:spPr>
          <a:xfrm>
            <a:off x="5962650" y="6667500"/>
            <a:ext cx="840581"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9" name="Text 16"/>
          <p:cNvSpPr/>
          <p:nvPr/>
        </p:nvSpPr>
        <p:spPr>
          <a:xfrm>
            <a:off x="6034921" y="6686550"/>
            <a:ext cx="696039"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계단 A</a:t>
            </a:r>
            <a:endParaRPr lang="en-US" sz="1800" dirty="0"/>
          </a:p>
        </p:txBody>
      </p:sp>
      <p:sp>
        <p:nvSpPr>
          <p:cNvPr id="20" name="Shape 17"/>
          <p:cNvSpPr/>
          <p:nvPr/>
        </p:nvSpPr>
        <p:spPr>
          <a:xfrm>
            <a:off x="2533650" y="6829425"/>
            <a:ext cx="361950" cy="19050"/>
          </a:xfrm>
          <a:prstGeom prst="rect">
            <a:avLst/>
          </a:prstGeom>
          <a:solidFill>
            <a:srgbClr val="1F2328"/>
          </a:solidFill>
          <a:ln/>
        </p:spPr>
        <p:txBody>
          <a:bodyPr/>
          <a:lstStyle/>
          <a:p>
            <a:endParaRPr lang="ko-KR" altLang="en-US"/>
          </a:p>
        </p:txBody>
      </p:sp>
      <p:sp>
        <p:nvSpPr>
          <p:cNvPr id="21" name="Shape 18"/>
          <p:cNvSpPr/>
          <p:nvPr/>
        </p:nvSpPr>
        <p:spPr>
          <a:xfrm>
            <a:off x="1333500" y="6667500"/>
            <a:ext cx="1071563"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22" name="Text 19"/>
          <p:cNvSpPr/>
          <p:nvPr/>
        </p:nvSpPr>
        <p:spPr>
          <a:xfrm>
            <a:off x="1394222" y="6686550"/>
            <a:ext cx="950119"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검은 매트</a:t>
            </a:r>
            <a:endParaRPr lang="en-US" sz="1800" dirty="0"/>
          </a:p>
        </p:txBody>
      </p:sp>
      <p:sp>
        <p:nvSpPr>
          <p:cNvPr id="23" name="Shape 20"/>
          <p:cNvSpPr/>
          <p:nvPr/>
        </p:nvSpPr>
        <p:spPr>
          <a:xfrm>
            <a:off x="1333500" y="5676900"/>
            <a:ext cx="19050" cy="723900"/>
          </a:xfrm>
          <a:prstGeom prst="rect">
            <a:avLst/>
          </a:prstGeom>
          <a:solidFill>
            <a:srgbClr val="1F2328"/>
          </a:solidFill>
          <a:ln/>
        </p:spPr>
        <p:txBody>
          <a:bodyPr/>
          <a:lstStyle/>
          <a:p>
            <a:endParaRPr lang="ko-KR" altLang="en-US"/>
          </a:p>
        </p:txBody>
      </p:sp>
      <p:sp>
        <p:nvSpPr>
          <p:cNvPr id="24" name="Shape 21"/>
          <p:cNvSpPr/>
          <p:nvPr/>
        </p:nvSpPr>
        <p:spPr>
          <a:xfrm>
            <a:off x="1066800" y="53340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25" name="Text 22"/>
          <p:cNvSpPr/>
          <p:nvPr/>
        </p:nvSpPr>
        <p:spPr>
          <a:xfrm>
            <a:off x="1149913" y="53530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출발</a:t>
            </a:r>
            <a:endParaRPr lang="en-US" sz="1800" dirty="0"/>
          </a:p>
        </p:txBody>
      </p:sp>
      <p:sp>
        <p:nvSpPr>
          <p:cNvPr id="26" name="Shape 23"/>
          <p:cNvSpPr/>
          <p:nvPr/>
        </p:nvSpPr>
        <p:spPr>
          <a:xfrm>
            <a:off x="3200400" y="3790950"/>
            <a:ext cx="999530" cy="647700"/>
          </a:xfrm>
          <a:prstGeom prst="roundRect">
            <a:avLst>
              <a:gd name="adj" fmla="val 11765"/>
            </a:avLst>
          </a:prstGeom>
          <a:solidFill>
            <a:srgbClr val="FFFFFF"/>
          </a:solidFill>
          <a:ln w="19050">
            <a:solidFill>
              <a:srgbClr val="1F2328"/>
            </a:solidFill>
            <a:prstDash val="solid"/>
          </a:ln>
        </p:spPr>
        <p:txBody>
          <a:bodyPr/>
          <a:lstStyle/>
          <a:p>
            <a:endParaRPr lang="ko-KR" altLang="en-US"/>
          </a:p>
        </p:txBody>
      </p:sp>
      <p:sp>
        <p:nvSpPr>
          <p:cNvPr id="27" name="Text 24"/>
          <p:cNvSpPr/>
          <p:nvPr/>
        </p:nvSpPr>
        <p:spPr>
          <a:xfrm>
            <a:off x="3276600" y="3810000"/>
            <a:ext cx="847130" cy="6477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err="1">
                <a:solidFill>
                  <a:srgbClr val="1F2328"/>
                </a:solidFill>
                <a:highlight>
                  <a:srgbClr val="FFFFFF"/>
                </a:highlight>
                <a:latin typeface="Pretendard" pitchFamily="34" charset="0"/>
                <a:ea typeface="Pretendard" pitchFamily="34" charset="-122"/>
                <a:cs typeface="Pretendard" pitchFamily="34" charset="-120"/>
              </a:rPr>
              <a:t>사무실</a:t>
            </a:r>
            <a:r>
              <a:rPr lang="en-US" sz="1800" b="1" dirty="0">
                <a:solidFill>
                  <a:srgbClr val="1F2328"/>
                </a:solidFill>
                <a:highlight>
                  <a:srgbClr val="FFFFFF"/>
                </a:highlight>
                <a:latin typeface="Pretendard" pitchFamily="34" charset="0"/>
                <a:ea typeface="Pretendard" pitchFamily="34" charset="-122"/>
                <a:cs typeface="Pretendard" pitchFamily="34" charset="-120"/>
              </a:rPr>
              <a:t> </a:t>
            </a:r>
          </a:p>
          <a:p>
            <a:pPr marL="0" indent="0" algn="ctr">
              <a:lnSpc>
                <a:spcPct val="110345"/>
              </a:lnSpc>
              <a:buNone/>
            </a:pPr>
            <a:r>
              <a:rPr lang="en-US" sz="1800" b="1" dirty="0">
                <a:solidFill>
                  <a:srgbClr val="1F2328"/>
                </a:solidFill>
                <a:highlight>
                  <a:srgbClr val="FFFFFF"/>
                </a:highlight>
                <a:latin typeface="Pretendard" pitchFamily="34" charset="0"/>
                <a:ea typeface="Pretendard" pitchFamily="34" charset="-122"/>
                <a:cs typeface="Pretendard" pitchFamily="34" charset="-120"/>
              </a:rPr>
              <a:t>(</a:t>
            </a:r>
            <a:r>
              <a:rPr lang="en-US" sz="1800" b="1" dirty="0" err="1">
                <a:solidFill>
                  <a:srgbClr val="1F2328"/>
                </a:solidFill>
                <a:highlight>
                  <a:srgbClr val="FFFFFF"/>
                </a:highlight>
                <a:latin typeface="Pretendard" pitchFamily="34" charset="0"/>
                <a:ea typeface="Pretendard" pitchFamily="34" charset="-122"/>
                <a:cs typeface="Pretendard" pitchFamily="34" charset="-120"/>
              </a:rPr>
              <a:t>목적지</a:t>
            </a:r>
            <a:r>
              <a:rPr lang="en-US" sz="1800" b="1" dirty="0">
                <a:solidFill>
                  <a:srgbClr val="1F2328"/>
                </a:solidFill>
                <a:highlight>
                  <a:srgbClr val="FFFFFF"/>
                </a:highlight>
                <a:latin typeface="Pretendard" pitchFamily="34" charset="0"/>
                <a:ea typeface="Pretendard" pitchFamily="34" charset="-122"/>
                <a:cs typeface="Pretendard" pitchFamily="34" charset="-120"/>
              </a:rPr>
              <a:t>)</a:t>
            </a:r>
            <a:endParaRPr lang="en-US" sz="1800" dirty="0"/>
          </a:p>
        </p:txBody>
      </p:sp>
      <p:sp>
        <p:nvSpPr>
          <p:cNvPr id="28" name="Text 25"/>
          <p:cNvSpPr/>
          <p:nvPr/>
        </p:nvSpPr>
        <p:spPr>
          <a:xfrm>
            <a:off x="7619999" y="2400300"/>
            <a:ext cx="679251"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환경</a:t>
            </a:r>
            <a:endParaRPr lang="en-US" sz="2400" dirty="0"/>
          </a:p>
        </p:txBody>
      </p:sp>
      <p:sp>
        <p:nvSpPr>
          <p:cNvPr id="29" name="Shape 26"/>
          <p:cNvSpPr/>
          <p:nvPr/>
        </p:nvSpPr>
        <p:spPr>
          <a:xfrm>
            <a:off x="8299251" y="2419350"/>
            <a:ext cx="1537476" cy="342900"/>
          </a:xfrm>
          <a:prstGeom prst="roundRect">
            <a:avLst>
              <a:gd name="adj" fmla="val 22222"/>
            </a:avLst>
          </a:prstGeom>
          <a:solidFill>
            <a:srgbClr val="EAF4EA"/>
          </a:solidFill>
          <a:ln/>
        </p:spPr>
        <p:txBody>
          <a:bodyPr/>
          <a:lstStyle/>
          <a:p>
            <a:endParaRPr lang="ko-KR" altLang="en-US"/>
          </a:p>
        </p:txBody>
      </p:sp>
      <p:sp>
        <p:nvSpPr>
          <p:cNvPr id="30" name="Text 27"/>
          <p:cNvSpPr/>
          <p:nvPr/>
        </p:nvSpPr>
        <p:spPr>
          <a:xfrm>
            <a:off x="8413552" y="2419350"/>
            <a:ext cx="1318468" cy="381000"/>
          </a:xfrm>
          <a:prstGeom prst="rect">
            <a:avLst/>
          </a:prstGeom>
          <a:noFill/>
          <a:ln/>
        </p:spPr>
        <p:txBody>
          <a:bodyPr wrap="square" lIns="25400" tIns="25400" rIns="25400" bIns="25400" rtlCol="0" anchor="ctr">
            <a:normAutofit/>
          </a:bodyPr>
          <a:lstStyle/>
          <a:p>
            <a:pPr marL="0" indent="0" algn="l">
              <a:lnSpc>
                <a:spcPct val="110345"/>
              </a:lnSpc>
              <a:buNone/>
            </a:pPr>
            <a:r>
              <a:rPr lang="en-US" sz="1800" b="1" dirty="0">
                <a:solidFill>
                  <a:srgbClr val="008300"/>
                </a:solidFill>
                <a:latin typeface="Pretendard" pitchFamily="34" charset="0"/>
                <a:ea typeface="Pretendard" pitchFamily="34" charset="-122"/>
                <a:cs typeface="Pretendard" pitchFamily="34" charset="-120"/>
              </a:rPr>
              <a:t>✓ 구축 완료</a:t>
            </a:r>
            <a:endParaRPr lang="en-US" sz="1800" dirty="0"/>
          </a:p>
        </p:txBody>
      </p:sp>
      <p:sp>
        <p:nvSpPr>
          <p:cNvPr id="31" name="Shape 28"/>
          <p:cNvSpPr/>
          <p:nvPr/>
        </p:nvSpPr>
        <p:spPr>
          <a:xfrm>
            <a:off x="7620000" y="3000375"/>
            <a:ext cx="95250" cy="95250"/>
          </a:xfrm>
          <a:prstGeom prst="rect">
            <a:avLst/>
          </a:prstGeom>
          <a:solidFill>
            <a:srgbClr val="5B6470"/>
          </a:solidFill>
          <a:ln/>
        </p:spPr>
        <p:txBody>
          <a:bodyPr/>
          <a:lstStyle/>
          <a:p>
            <a:endParaRPr lang="ko-KR" altLang="en-US"/>
          </a:p>
        </p:txBody>
      </p:sp>
      <p:sp>
        <p:nvSpPr>
          <p:cNvPr id="32" name="Text 29"/>
          <p:cNvSpPr/>
          <p:nvPr/>
        </p:nvSpPr>
        <p:spPr>
          <a:xfrm>
            <a:off x="7867650" y="2857500"/>
            <a:ext cx="6157005"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ROS 2 Humble · Gazebo Classic 11 · Nav2</a:t>
            </a:r>
            <a:endParaRPr lang="en-US" sz="2400" dirty="0"/>
          </a:p>
        </p:txBody>
      </p:sp>
      <p:sp>
        <p:nvSpPr>
          <p:cNvPr id="33" name="Shape 30"/>
          <p:cNvSpPr/>
          <p:nvPr/>
        </p:nvSpPr>
        <p:spPr>
          <a:xfrm>
            <a:off x="7620000" y="3419475"/>
            <a:ext cx="95250" cy="95250"/>
          </a:xfrm>
          <a:prstGeom prst="rect">
            <a:avLst/>
          </a:prstGeom>
          <a:solidFill>
            <a:srgbClr val="5B6470"/>
          </a:solidFill>
          <a:ln/>
        </p:spPr>
        <p:txBody>
          <a:bodyPr/>
          <a:lstStyle/>
          <a:p>
            <a:endParaRPr lang="ko-KR" altLang="en-US"/>
          </a:p>
        </p:txBody>
      </p:sp>
      <p:sp>
        <p:nvSpPr>
          <p:cNvPr id="34" name="Text 31"/>
          <p:cNvSpPr/>
          <p:nvPr/>
        </p:nvSpPr>
        <p:spPr>
          <a:xfrm>
            <a:off x="7867650" y="3276600"/>
            <a:ext cx="816917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slam_toolbox로 직접 만든 지도 — 계단이 빈 바닥으로 찍힌다</a:t>
            </a:r>
            <a:endParaRPr lang="en-US" sz="2400" dirty="0"/>
          </a:p>
        </p:txBody>
      </p:sp>
      <p:sp>
        <p:nvSpPr>
          <p:cNvPr id="35" name="Shape 32"/>
          <p:cNvSpPr/>
          <p:nvPr/>
        </p:nvSpPr>
        <p:spPr>
          <a:xfrm>
            <a:off x="7620000" y="3838575"/>
            <a:ext cx="95250" cy="95250"/>
          </a:xfrm>
          <a:prstGeom prst="rect">
            <a:avLst/>
          </a:prstGeom>
          <a:solidFill>
            <a:srgbClr val="5B6470"/>
          </a:solidFill>
          <a:ln/>
        </p:spPr>
        <p:txBody>
          <a:bodyPr/>
          <a:lstStyle/>
          <a:p>
            <a:endParaRPr lang="ko-KR" altLang="en-US"/>
          </a:p>
        </p:txBody>
      </p:sp>
      <p:sp>
        <p:nvSpPr>
          <p:cNvPr id="36" name="Text 33"/>
          <p:cNvSpPr/>
          <p:nvPr/>
        </p:nvSpPr>
        <p:spPr>
          <a:xfrm>
            <a:off x="7867650" y="3695700"/>
            <a:ext cx="5087487"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서빙로봇형 차동구동 · 최고 0.45 m/s · 270° LiDAR + 깊이카메라 + 하향 IR 4개</a:t>
            </a:r>
            <a:endParaRPr lang="en-US" sz="2400" dirty="0"/>
          </a:p>
        </p:txBody>
      </p:sp>
      <p:sp>
        <p:nvSpPr>
          <p:cNvPr id="37" name="Shape 34"/>
          <p:cNvSpPr/>
          <p:nvPr/>
        </p:nvSpPr>
        <p:spPr>
          <a:xfrm>
            <a:off x="7620000" y="4638675"/>
            <a:ext cx="95250" cy="95250"/>
          </a:xfrm>
          <a:prstGeom prst="rect">
            <a:avLst/>
          </a:prstGeom>
          <a:solidFill>
            <a:srgbClr val="5B6470"/>
          </a:solidFill>
          <a:ln/>
        </p:spPr>
        <p:txBody>
          <a:bodyPr/>
          <a:lstStyle/>
          <a:p>
            <a:endParaRPr lang="ko-KR" altLang="en-US"/>
          </a:p>
        </p:txBody>
      </p:sp>
      <p:sp>
        <p:nvSpPr>
          <p:cNvPr id="38" name="Text 35"/>
          <p:cNvSpPr/>
          <p:nvPr/>
        </p:nvSpPr>
        <p:spPr>
          <a:xfrm>
            <a:off x="7867650" y="4495800"/>
            <a:ext cx="9791129"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Gazebo가 못 만드는 </a:t>
            </a:r>
            <a:r>
              <a:rPr lang="en-US" sz="2400" dirty="0" err="1">
                <a:solidFill>
                  <a:srgbClr val="1F2328"/>
                </a:solidFill>
                <a:latin typeface="Pretendard" pitchFamily="34" charset="0"/>
                <a:ea typeface="Pretendard" pitchFamily="34" charset="-122"/>
                <a:cs typeface="Pretendard" pitchFamily="34" charset="-120"/>
              </a:rPr>
              <a:t>센서</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오류는</a:t>
            </a:r>
            <a:r>
              <a:rPr lang="en-US" sz="2400" dirty="0">
                <a:solidFill>
                  <a:srgbClr val="1F2328"/>
                </a:solidFill>
                <a:latin typeface="Pretendard" pitchFamily="34" charset="0"/>
                <a:ea typeface="Pretendard" pitchFamily="34" charset="-122"/>
                <a:cs typeface="Pretendard" pitchFamily="34" charset="-120"/>
              </a:rPr>
              <a:t> 정한 위치에 직접 넣는다. </a:t>
            </a:r>
          </a:p>
          <a:p>
            <a:pPr marL="0" indent="0" algn="l">
              <a:lnSpc>
                <a:spcPct val="105263"/>
              </a:lnSpc>
              <a:buNone/>
            </a:pPr>
            <a:r>
              <a:rPr lang="en-US" sz="2400" dirty="0" err="1">
                <a:solidFill>
                  <a:srgbClr val="1F2328"/>
                </a:solidFill>
                <a:latin typeface="Pretendard" pitchFamily="34" charset="0"/>
                <a:ea typeface="Pretendard" pitchFamily="34" charset="-122"/>
                <a:cs typeface="Pretendard" pitchFamily="34" charset="-120"/>
              </a:rPr>
              <a:t>알고리즘에는</a:t>
            </a:r>
            <a:r>
              <a:rPr lang="en-US" sz="2400" dirty="0">
                <a:solidFill>
                  <a:srgbClr val="1F2328"/>
                </a:solidFill>
                <a:latin typeface="Pretendard" pitchFamily="34" charset="0"/>
                <a:ea typeface="Pretendard" pitchFamily="34" charset="-122"/>
                <a:cs typeface="Pretendard" pitchFamily="34" charset="-120"/>
              </a:rPr>
              <a:t> 그 </a:t>
            </a:r>
            <a:r>
              <a:rPr lang="en-US" sz="2400" dirty="0" err="1">
                <a:solidFill>
                  <a:srgbClr val="1F2328"/>
                </a:solidFill>
                <a:latin typeface="Pretendard" pitchFamily="34" charset="0"/>
                <a:ea typeface="Pretendard" pitchFamily="34" charset="-122"/>
                <a:cs typeface="Pretendard" pitchFamily="34" charset="-120"/>
              </a:rPr>
              <a:t>위치를</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알려주지</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않는다</a:t>
            </a: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39" name="Shape 36"/>
          <p:cNvSpPr/>
          <p:nvPr/>
        </p:nvSpPr>
        <p:spPr>
          <a:xfrm>
            <a:off x="7620000" y="5334000"/>
            <a:ext cx="9753600" cy="19050"/>
          </a:xfrm>
          <a:prstGeom prst="rect">
            <a:avLst/>
          </a:prstGeom>
          <a:solidFill>
            <a:srgbClr val="E3E6EA"/>
          </a:solidFill>
          <a:ln/>
        </p:spPr>
        <p:txBody>
          <a:bodyPr/>
          <a:lstStyle/>
          <a:p>
            <a:endParaRPr lang="ko-KR" altLang="en-US"/>
          </a:p>
        </p:txBody>
      </p:sp>
      <p:sp>
        <p:nvSpPr>
          <p:cNvPr id="40" name="Text 37"/>
          <p:cNvSpPr/>
          <p:nvPr/>
        </p:nvSpPr>
        <p:spPr>
          <a:xfrm>
            <a:off x="7620000" y="5429250"/>
            <a:ext cx="1123950" cy="9525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기본</a:t>
            </a:r>
            <a:endParaRPr lang="en-US" sz="2400" dirty="0"/>
          </a:p>
        </p:txBody>
      </p:sp>
      <p:sp>
        <p:nvSpPr>
          <p:cNvPr id="41" name="Shape 38"/>
          <p:cNvSpPr/>
          <p:nvPr/>
        </p:nvSpPr>
        <p:spPr>
          <a:xfrm>
            <a:off x="8763000" y="5429250"/>
            <a:ext cx="1490365" cy="419100"/>
          </a:xfrm>
          <a:prstGeom prst="roundRect">
            <a:avLst>
              <a:gd name="adj" fmla="val 18182"/>
            </a:avLst>
          </a:prstGeom>
          <a:ln w="19050">
            <a:solidFill>
              <a:srgbClr val="C3C8CE"/>
            </a:solidFill>
            <a:prstDash val="solid"/>
          </a:ln>
        </p:spPr>
        <p:txBody>
          <a:bodyPr/>
          <a:lstStyle/>
          <a:p>
            <a:endParaRPr lang="ko-KR" altLang="en-US"/>
          </a:p>
        </p:txBody>
      </p:sp>
      <p:sp>
        <p:nvSpPr>
          <p:cNvPr id="42" name="Text 39"/>
          <p:cNvSpPr/>
          <p:nvPr/>
        </p:nvSpPr>
        <p:spPr>
          <a:xfrm>
            <a:off x="8915400" y="5448300"/>
            <a:ext cx="1334601" cy="419100"/>
          </a:xfrm>
          <a:prstGeom prst="rect">
            <a:avLst/>
          </a:prstGeom>
          <a:noFill/>
          <a:ln/>
        </p:spPr>
        <p:txBody>
          <a:bodyPr wrap="none" lIns="25400" tIns="25400" rIns="25400" bIns="25400" rtlCol="0" anchor="ctr">
            <a:normAutofit/>
          </a:bodyPr>
          <a:lstStyle/>
          <a:p>
            <a:pPr marL="0" indent="0" algn="l">
              <a:lnSpc>
                <a:spcPct val="105263"/>
              </a:lnSpc>
              <a:buNone/>
            </a:pPr>
            <a:r>
              <a:rPr lang="en-US" sz="2300" dirty="0">
                <a:solidFill>
                  <a:srgbClr val="1F2328"/>
                </a:solidFill>
                <a:latin typeface="Pretendard" pitchFamily="34" charset="0"/>
                <a:ea typeface="Pretendard" pitchFamily="34" charset="-122"/>
                <a:cs typeface="Pretendard" pitchFamily="34" charset="-120"/>
              </a:rPr>
              <a:t>S1 평상시</a:t>
            </a:r>
            <a:endParaRPr lang="en-US" sz="2300" dirty="0"/>
          </a:p>
        </p:txBody>
      </p:sp>
      <p:sp>
        <p:nvSpPr>
          <p:cNvPr id="43" name="Shape 40"/>
          <p:cNvSpPr/>
          <p:nvPr/>
        </p:nvSpPr>
        <p:spPr>
          <a:xfrm>
            <a:off x="10348615" y="5429250"/>
            <a:ext cx="3269159" cy="419100"/>
          </a:xfrm>
          <a:prstGeom prst="roundRect">
            <a:avLst>
              <a:gd name="adj" fmla="val 18182"/>
            </a:avLst>
          </a:prstGeom>
          <a:ln w="19050">
            <a:solidFill>
              <a:srgbClr val="C3C8CE"/>
            </a:solidFill>
            <a:prstDash val="solid"/>
          </a:ln>
        </p:spPr>
        <p:txBody>
          <a:bodyPr/>
          <a:lstStyle/>
          <a:p>
            <a:endParaRPr lang="ko-KR" altLang="en-US"/>
          </a:p>
        </p:txBody>
      </p:sp>
      <p:sp>
        <p:nvSpPr>
          <p:cNvPr id="44" name="Text 41"/>
          <p:cNvSpPr/>
          <p:nvPr/>
        </p:nvSpPr>
        <p:spPr>
          <a:xfrm>
            <a:off x="10501015" y="5448300"/>
            <a:ext cx="3291274"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S2 사람이 모퉁이를 막음</a:t>
            </a:r>
            <a:endParaRPr lang="en-US" sz="2200" dirty="0"/>
          </a:p>
        </p:txBody>
      </p:sp>
      <p:sp>
        <p:nvSpPr>
          <p:cNvPr id="45" name="Shape 42"/>
          <p:cNvSpPr/>
          <p:nvPr/>
        </p:nvSpPr>
        <p:spPr>
          <a:xfrm>
            <a:off x="13713023" y="5429250"/>
            <a:ext cx="3354884" cy="419100"/>
          </a:xfrm>
          <a:prstGeom prst="roundRect">
            <a:avLst>
              <a:gd name="adj" fmla="val 18182"/>
            </a:avLst>
          </a:prstGeom>
          <a:ln w="19050">
            <a:solidFill>
              <a:srgbClr val="C3C8CE"/>
            </a:solidFill>
            <a:prstDash val="solid"/>
          </a:ln>
        </p:spPr>
        <p:txBody>
          <a:bodyPr/>
          <a:lstStyle/>
          <a:p>
            <a:endParaRPr lang="ko-KR" altLang="en-US"/>
          </a:p>
        </p:txBody>
      </p:sp>
      <p:sp>
        <p:nvSpPr>
          <p:cNvPr id="46" name="Text 43"/>
          <p:cNvSpPr/>
          <p:nvPr/>
        </p:nvSpPr>
        <p:spPr>
          <a:xfrm>
            <a:off x="13865423" y="5448300"/>
            <a:ext cx="3385572"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S3 로봇이 밀려 위치 착각</a:t>
            </a:r>
            <a:endParaRPr lang="en-US" sz="2200" dirty="0"/>
          </a:p>
        </p:txBody>
      </p:sp>
      <p:sp>
        <p:nvSpPr>
          <p:cNvPr id="47" name="Shape 44"/>
          <p:cNvSpPr/>
          <p:nvPr/>
        </p:nvSpPr>
        <p:spPr>
          <a:xfrm>
            <a:off x="8763000" y="5924550"/>
            <a:ext cx="3017044" cy="419100"/>
          </a:xfrm>
          <a:prstGeom prst="roundRect">
            <a:avLst>
              <a:gd name="adj" fmla="val 18182"/>
            </a:avLst>
          </a:prstGeom>
          <a:ln w="19050">
            <a:solidFill>
              <a:srgbClr val="C3C8CE"/>
            </a:solidFill>
            <a:prstDash val="solid"/>
          </a:ln>
        </p:spPr>
        <p:txBody>
          <a:bodyPr/>
          <a:lstStyle/>
          <a:p>
            <a:endParaRPr lang="ko-KR" altLang="en-US"/>
          </a:p>
        </p:txBody>
      </p:sp>
      <p:sp>
        <p:nvSpPr>
          <p:cNvPr id="48" name="Text 45"/>
          <p:cNvSpPr/>
          <p:nvPr/>
        </p:nvSpPr>
        <p:spPr>
          <a:xfrm>
            <a:off x="8915400" y="5943600"/>
            <a:ext cx="301394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S4 계단 금지구역 누락</a:t>
            </a:r>
            <a:endParaRPr lang="en-US" sz="2200" dirty="0"/>
          </a:p>
        </p:txBody>
      </p:sp>
      <p:sp>
        <p:nvSpPr>
          <p:cNvPr id="49" name="Text 46"/>
          <p:cNvSpPr/>
          <p:nvPr/>
        </p:nvSpPr>
        <p:spPr>
          <a:xfrm>
            <a:off x="7620000" y="6419850"/>
            <a:ext cx="1123950" cy="457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악조건</a:t>
            </a:r>
            <a:endParaRPr lang="en-US" sz="2400" dirty="0"/>
          </a:p>
        </p:txBody>
      </p:sp>
      <p:sp>
        <p:nvSpPr>
          <p:cNvPr id="50" name="Shape 47"/>
          <p:cNvSpPr/>
          <p:nvPr/>
        </p:nvSpPr>
        <p:spPr>
          <a:xfrm>
            <a:off x="8763000" y="6419850"/>
            <a:ext cx="1435001" cy="419100"/>
          </a:xfrm>
          <a:prstGeom prst="roundRect">
            <a:avLst>
              <a:gd name="adj" fmla="val 18182"/>
            </a:avLst>
          </a:prstGeom>
          <a:ln w="19050">
            <a:solidFill>
              <a:srgbClr val="C3C8CE"/>
            </a:solidFill>
            <a:prstDash val="solid"/>
          </a:ln>
        </p:spPr>
        <p:txBody>
          <a:bodyPr/>
          <a:lstStyle/>
          <a:p>
            <a:endParaRPr lang="ko-KR" altLang="en-US"/>
          </a:p>
        </p:txBody>
      </p:sp>
      <p:sp>
        <p:nvSpPr>
          <p:cNvPr id="51" name="Text 48"/>
          <p:cNvSpPr/>
          <p:nvPr/>
        </p:nvSpPr>
        <p:spPr>
          <a:xfrm>
            <a:off x="8915400" y="6438900"/>
            <a:ext cx="1273701"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검은 계단</a:t>
            </a:r>
            <a:endParaRPr lang="en-US" sz="2200" dirty="0"/>
          </a:p>
        </p:txBody>
      </p:sp>
      <p:sp>
        <p:nvSpPr>
          <p:cNvPr id="52" name="Shape 49"/>
          <p:cNvSpPr/>
          <p:nvPr/>
        </p:nvSpPr>
        <p:spPr>
          <a:xfrm>
            <a:off x="10293251" y="6419850"/>
            <a:ext cx="1961852" cy="419100"/>
          </a:xfrm>
          <a:prstGeom prst="roundRect">
            <a:avLst>
              <a:gd name="adj" fmla="val 18182"/>
            </a:avLst>
          </a:prstGeom>
          <a:ln w="19050">
            <a:solidFill>
              <a:srgbClr val="C3C8CE"/>
            </a:solidFill>
            <a:prstDash val="solid"/>
          </a:ln>
        </p:spPr>
        <p:txBody>
          <a:bodyPr/>
          <a:lstStyle/>
          <a:p>
            <a:endParaRPr lang="ko-KR" altLang="en-US"/>
          </a:p>
        </p:txBody>
      </p:sp>
      <p:sp>
        <p:nvSpPr>
          <p:cNvPr id="53" name="Text 50"/>
          <p:cNvSpPr/>
          <p:nvPr/>
        </p:nvSpPr>
        <p:spPr>
          <a:xfrm>
            <a:off x="10390231" y="6438900"/>
            <a:ext cx="185323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미끄러운 바닥</a:t>
            </a:r>
            <a:endParaRPr lang="en-US" sz="2200" dirty="0"/>
          </a:p>
        </p:txBody>
      </p:sp>
      <p:sp>
        <p:nvSpPr>
          <p:cNvPr id="54" name="Shape 51"/>
          <p:cNvSpPr/>
          <p:nvPr/>
        </p:nvSpPr>
        <p:spPr>
          <a:xfrm>
            <a:off x="12350353" y="6419850"/>
            <a:ext cx="1961852" cy="419100"/>
          </a:xfrm>
          <a:prstGeom prst="roundRect">
            <a:avLst>
              <a:gd name="adj" fmla="val 18182"/>
            </a:avLst>
          </a:prstGeom>
          <a:ln w="19050">
            <a:solidFill>
              <a:srgbClr val="C3C8CE"/>
            </a:solidFill>
            <a:prstDash val="solid"/>
          </a:ln>
        </p:spPr>
        <p:txBody>
          <a:bodyPr/>
          <a:lstStyle/>
          <a:p>
            <a:endParaRPr lang="ko-KR" altLang="en-US"/>
          </a:p>
        </p:txBody>
      </p:sp>
      <p:sp>
        <p:nvSpPr>
          <p:cNvPr id="55" name="Text 52"/>
          <p:cNvSpPr/>
          <p:nvPr/>
        </p:nvSpPr>
        <p:spPr>
          <a:xfrm>
            <a:off x="12447333" y="6438900"/>
            <a:ext cx="185323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움직이는 사람</a:t>
            </a:r>
            <a:endParaRPr lang="en-US" sz="2200" dirty="0"/>
          </a:p>
        </p:txBody>
      </p:sp>
      <p:sp>
        <p:nvSpPr>
          <p:cNvPr id="56" name="Shape 53"/>
          <p:cNvSpPr/>
          <p:nvPr/>
        </p:nvSpPr>
        <p:spPr>
          <a:xfrm>
            <a:off x="14407455" y="6419850"/>
            <a:ext cx="2038350" cy="419100"/>
          </a:xfrm>
          <a:prstGeom prst="roundRect">
            <a:avLst>
              <a:gd name="adj" fmla="val 18182"/>
            </a:avLst>
          </a:prstGeom>
          <a:ln w="19050">
            <a:solidFill>
              <a:srgbClr val="C3C8CE"/>
            </a:solidFill>
            <a:prstDash val="solid"/>
          </a:ln>
        </p:spPr>
        <p:txBody>
          <a:bodyPr/>
          <a:lstStyle/>
          <a:p>
            <a:endParaRPr lang="ko-KR" altLang="en-US"/>
          </a:p>
        </p:txBody>
      </p:sp>
      <p:sp>
        <p:nvSpPr>
          <p:cNvPr id="57" name="Text 54"/>
          <p:cNvSpPr/>
          <p:nvPr/>
        </p:nvSpPr>
        <p:spPr>
          <a:xfrm>
            <a:off x="14518290" y="6438900"/>
            <a:ext cx="1937385"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뒤로 비켜 주기</a:t>
            </a:r>
            <a:endParaRPr lang="en-US" sz="2200" dirty="0"/>
          </a:p>
        </p:txBody>
      </p:sp>
      <p:sp>
        <p:nvSpPr>
          <p:cNvPr id="58" name="Text 55"/>
          <p:cNvSpPr/>
          <p:nvPr/>
        </p:nvSpPr>
        <p:spPr>
          <a:xfrm>
            <a:off x="7620000" y="6915150"/>
            <a:ext cx="1433950" cy="1181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비교 방식</a:t>
            </a:r>
            <a:endParaRPr lang="en-US" sz="2400" dirty="0"/>
          </a:p>
        </p:txBody>
      </p:sp>
      <p:sp>
        <p:nvSpPr>
          <p:cNvPr id="59" name="Shape 56"/>
          <p:cNvSpPr/>
          <p:nvPr/>
        </p:nvSpPr>
        <p:spPr>
          <a:xfrm>
            <a:off x="9053950" y="7010400"/>
            <a:ext cx="190500" cy="190500"/>
          </a:xfrm>
          <a:prstGeom prst="roundRect">
            <a:avLst>
              <a:gd name="adj" fmla="val 20000"/>
            </a:avLst>
          </a:prstGeom>
          <a:solidFill>
            <a:srgbClr val="2A78D6"/>
          </a:solidFill>
          <a:ln/>
        </p:spPr>
        <p:txBody>
          <a:bodyPr/>
          <a:lstStyle/>
          <a:p>
            <a:endParaRPr lang="ko-KR" altLang="en-US"/>
          </a:p>
        </p:txBody>
      </p:sp>
      <p:sp>
        <p:nvSpPr>
          <p:cNvPr id="60" name="Text 57"/>
          <p:cNvSpPr/>
          <p:nvPr/>
        </p:nvSpPr>
        <p:spPr>
          <a:xfrm>
            <a:off x="9339700" y="6915150"/>
            <a:ext cx="135585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P0 지도만</a:t>
            </a:r>
            <a:endParaRPr lang="en-US" sz="2400" dirty="0"/>
          </a:p>
        </p:txBody>
      </p:sp>
      <p:sp>
        <p:nvSpPr>
          <p:cNvPr id="61" name="Shape 58"/>
          <p:cNvSpPr/>
          <p:nvPr/>
        </p:nvSpPr>
        <p:spPr>
          <a:xfrm>
            <a:off x="10800895" y="7010400"/>
            <a:ext cx="190500" cy="190500"/>
          </a:xfrm>
          <a:prstGeom prst="roundRect">
            <a:avLst>
              <a:gd name="adj" fmla="val 20000"/>
            </a:avLst>
          </a:prstGeom>
          <a:solidFill>
            <a:srgbClr val="EB6834"/>
          </a:solidFill>
          <a:ln/>
        </p:spPr>
        <p:txBody>
          <a:bodyPr/>
          <a:lstStyle/>
          <a:p>
            <a:endParaRPr lang="ko-KR" altLang="en-US"/>
          </a:p>
        </p:txBody>
      </p:sp>
      <p:sp>
        <p:nvSpPr>
          <p:cNvPr id="62" name="Text 59"/>
          <p:cNvSpPr/>
          <p:nvPr/>
        </p:nvSpPr>
        <p:spPr>
          <a:xfrm>
            <a:off x="11086645" y="6915150"/>
            <a:ext cx="1653972"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P1 keepout</a:t>
            </a:r>
            <a:endParaRPr lang="en-US" sz="2400" dirty="0"/>
          </a:p>
        </p:txBody>
      </p:sp>
      <p:sp>
        <p:nvSpPr>
          <p:cNvPr id="63" name="Shape 60"/>
          <p:cNvSpPr/>
          <p:nvPr/>
        </p:nvSpPr>
        <p:spPr>
          <a:xfrm>
            <a:off x="12818855" y="7010400"/>
            <a:ext cx="190500" cy="190500"/>
          </a:xfrm>
          <a:prstGeom prst="roundRect">
            <a:avLst>
              <a:gd name="adj" fmla="val 20000"/>
            </a:avLst>
          </a:prstGeom>
          <a:solidFill>
            <a:srgbClr val="1BAF7A"/>
          </a:solidFill>
          <a:ln/>
        </p:spPr>
        <p:txBody>
          <a:bodyPr/>
          <a:lstStyle/>
          <a:p>
            <a:endParaRPr lang="ko-KR" altLang="en-US"/>
          </a:p>
        </p:txBody>
      </p:sp>
      <p:sp>
        <p:nvSpPr>
          <p:cNvPr id="64" name="Text 61"/>
          <p:cNvSpPr/>
          <p:nvPr/>
        </p:nvSpPr>
        <p:spPr>
          <a:xfrm>
            <a:off x="13104605" y="6915150"/>
            <a:ext cx="437416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P1i keepout + IR (현장 표준)</a:t>
            </a:r>
            <a:endParaRPr lang="en-US" sz="2400" dirty="0"/>
          </a:p>
        </p:txBody>
      </p:sp>
      <p:sp>
        <p:nvSpPr>
          <p:cNvPr id="65" name="Shape 62"/>
          <p:cNvSpPr/>
          <p:nvPr/>
        </p:nvSpPr>
        <p:spPr>
          <a:xfrm>
            <a:off x="9053950" y="7391400"/>
            <a:ext cx="190500" cy="190500"/>
          </a:xfrm>
          <a:prstGeom prst="roundRect">
            <a:avLst>
              <a:gd name="adj" fmla="val 20000"/>
            </a:avLst>
          </a:prstGeom>
          <a:solidFill>
            <a:srgbClr val="EDA100"/>
          </a:solidFill>
          <a:ln/>
        </p:spPr>
        <p:txBody>
          <a:bodyPr/>
          <a:lstStyle/>
          <a:p>
            <a:endParaRPr lang="ko-KR" altLang="en-US"/>
          </a:p>
        </p:txBody>
      </p:sp>
      <p:sp>
        <p:nvSpPr>
          <p:cNvPr id="66" name="Text 63"/>
          <p:cNvSpPr/>
          <p:nvPr/>
        </p:nvSpPr>
        <p:spPr>
          <a:xfrm>
            <a:off x="9339700" y="7308000"/>
            <a:ext cx="7397055"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P2 카메라 한 장씩 판정 (기억 없음, 서빙로봇 방식 가정)</a:t>
            </a:r>
            <a:endParaRPr lang="en-US" sz="2400" dirty="0"/>
          </a:p>
        </p:txBody>
      </p:sp>
      <p:sp>
        <p:nvSpPr>
          <p:cNvPr id="67" name="Shape 64"/>
          <p:cNvSpPr/>
          <p:nvPr/>
        </p:nvSpPr>
        <p:spPr>
          <a:xfrm>
            <a:off x="9053950" y="7772400"/>
            <a:ext cx="190500" cy="190500"/>
          </a:xfrm>
          <a:prstGeom prst="roundRect">
            <a:avLst>
              <a:gd name="adj" fmla="val 20000"/>
            </a:avLst>
          </a:prstGeom>
          <a:solidFill>
            <a:srgbClr val="6DBE6D"/>
          </a:solidFill>
          <a:ln/>
        </p:spPr>
        <p:txBody>
          <a:bodyPr/>
          <a:lstStyle/>
          <a:p>
            <a:endParaRPr lang="ko-KR" altLang="en-US"/>
          </a:p>
        </p:txBody>
      </p:sp>
      <p:sp>
        <p:nvSpPr>
          <p:cNvPr id="68" name="Text 65"/>
          <p:cNvSpPr/>
          <p:nvPr/>
        </p:nvSpPr>
        <p:spPr>
          <a:xfrm>
            <a:off x="9339700" y="7677150"/>
            <a:ext cx="2973645"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P3 필터 + odom 기억</a:t>
            </a:r>
            <a:endParaRPr lang="en-US" sz="2400" dirty="0"/>
          </a:p>
        </p:txBody>
      </p:sp>
      <p:sp>
        <p:nvSpPr>
          <p:cNvPr id="69" name="Shape 66"/>
          <p:cNvSpPr/>
          <p:nvPr/>
        </p:nvSpPr>
        <p:spPr>
          <a:xfrm>
            <a:off x="12271614" y="7772400"/>
            <a:ext cx="190500" cy="190500"/>
          </a:xfrm>
          <a:prstGeom prst="roundRect">
            <a:avLst>
              <a:gd name="adj" fmla="val 20000"/>
            </a:avLst>
          </a:prstGeom>
          <a:solidFill>
            <a:srgbClr val="008300"/>
          </a:solidFill>
          <a:ln/>
        </p:spPr>
        <p:txBody>
          <a:bodyPr/>
          <a:lstStyle/>
          <a:p>
            <a:endParaRPr lang="ko-KR" altLang="en-US"/>
          </a:p>
        </p:txBody>
      </p:sp>
      <p:sp>
        <p:nvSpPr>
          <p:cNvPr id="70" name="Text 67"/>
          <p:cNvSpPr/>
          <p:nvPr/>
        </p:nvSpPr>
        <p:spPr>
          <a:xfrm>
            <a:off x="12557364" y="7677150"/>
            <a:ext cx="2602022"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P3i 제안 (P3 + IR)</a:t>
            </a:r>
            <a:endParaRPr lang="en-US" sz="2400" dirty="0"/>
          </a:p>
        </p:txBody>
      </p:sp>
      <p:sp>
        <p:nvSpPr>
          <p:cNvPr id="71" name="Shape 68"/>
          <p:cNvSpPr/>
          <p:nvPr/>
        </p:nvSpPr>
        <p:spPr>
          <a:xfrm>
            <a:off x="914400" y="8343900"/>
            <a:ext cx="15087600" cy="1257300"/>
          </a:xfrm>
          <a:prstGeom prst="roundRect">
            <a:avLst>
              <a:gd name="adj" fmla="val 6061"/>
            </a:avLst>
          </a:prstGeom>
          <a:ln w="19050">
            <a:solidFill>
              <a:srgbClr val="1F2328"/>
            </a:solidFill>
            <a:prstDash val="solid"/>
          </a:ln>
        </p:spPr>
        <p:txBody>
          <a:bodyPr/>
          <a:lstStyle/>
          <a:p>
            <a:endParaRPr lang="ko-KR" altLang="en-US"/>
          </a:p>
        </p:txBody>
      </p:sp>
      <p:sp>
        <p:nvSpPr>
          <p:cNvPr id="72" name="Text 69"/>
          <p:cNvSpPr/>
          <p:nvPr/>
        </p:nvSpPr>
        <p:spPr>
          <a:xfrm>
            <a:off x="1125502" y="8541327"/>
            <a:ext cx="2747010" cy="1181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판정 </a:t>
            </a:r>
            <a:r>
              <a:rPr lang="en-US" sz="2400" b="1" dirty="0" err="1">
                <a:solidFill>
                  <a:srgbClr val="1F2328"/>
                </a:solidFill>
                <a:latin typeface="Pretendard" pitchFamily="34" charset="0"/>
                <a:ea typeface="Pretendard" pitchFamily="34" charset="-122"/>
                <a:cs typeface="Pretendard" pitchFamily="34" charset="-120"/>
              </a:rPr>
              <a:t>기준</a:t>
            </a:r>
            <a:r>
              <a:rPr lang="en-US" sz="2400" b="1" dirty="0">
                <a:solidFill>
                  <a:srgbClr val="1F2328"/>
                </a:solidFill>
                <a:latin typeface="Pretendard" pitchFamily="34" charset="0"/>
                <a:ea typeface="Pretendard" pitchFamily="34" charset="-122"/>
                <a:cs typeface="Pretendard" pitchFamily="34" charset="-120"/>
              </a:rPr>
              <a:t> </a:t>
            </a:r>
          </a:p>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(실험 전에 고정)</a:t>
            </a:r>
            <a:endParaRPr lang="en-US" sz="2400" dirty="0"/>
          </a:p>
        </p:txBody>
      </p:sp>
      <p:sp>
        <p:nvSpPr>
          <p:cNvPr id="73" name="Text 70"/>
          <p:cNvSpPr/>
          <p:nvPr/>
        </p:nvSpPr>
        <p:spPr>
          <a:xfrm>
            <a:off x="4083613" y="8541327"/>
            <a:ext cx="11075773" cy="866775"/>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주 지표 = </a:t>
            </a:r>
            <a:r>
              <a:rPr lang="en-US" sz="2400" b="1" dirty="0">
                <a:solidFill>
                  <a:srgbClr val="1F2328"/>
                </a:solidFill>
                <a:latin typeface="Pretendard" pitchFamily="34" charset="0"/>
                <a:ea typeface="Pretendard" pitchFamily="34" charset="-122"/>
                <a:cs typeface="Pretendard" pitchFamily="34" charset="-120"/>
              </a:rPr>
              <a:t>안전 실패율 </a:t>
            </a:r>
            <a:r>
              <a:rPr lang="en-US" sz="2400" dirty="0">
                <a:solidFill>
                  <a:srgbClr val="1F2328"/>
                </a:solidFill>
                <a:latin typeface="Pretendard" pitchFamily="34" charset="0"/>
                <a:ea typeface="Pretendard" pitchFamily="34" charset="-122"/>
                <a:cs typeface="Pretendard" pitchFamily="34" charset="-120"/>
              </a:rPr>
              <a:t>(추락 + 걸침 · 걸침: 로봇 중심이 가장자리 15 cm 안까지 감)</a:t>
            </a:r>
          </a:p>
          <a:p>
            <a:pPr marL="0" indent="0" algn="l">
              <a:lnSpc>
                <a:spcPct val="105263"/>
              </a:lnSpc>
              <a:buNone/>
            </a:pPr>
            <a:r>
              <a:rPr lang="ko-KR" altLang="en-US" sz="2400" dirty="0">
                <a:solidFill>
                  <a:srgbClr val="1F2328"/>
                </a:solidFill>
                <a:latin typeface="Pretendard" pitchFamily="34" charset="0"/>
                <a:ea typeface="Pretendard" pitchFamily="34" charset="-122"/>
                <a:cs typeface="Pretendard" pitchFamily="34" charset="-120"/>
              </a:rPr>
              <a:t>부 지표 </a:t>
            </a:r>
            <a:r>
              <a:rPr lang="en-US" altLang="ko-KR" sz="2400" dirty="0">
                <a:solidFill>
                  <a:srgbClr val="1F2328"/>
                </a:solidFill>
                <a:latin typeface="Pretendard" pitchFamily="34" charset="0"/>
                <a:ea typeface="Pretendard" pitchFamily="34" charset="-122"/>
                <a:cs typeface="Pretendard" pitchFamily="34" charset="-120"/>
              </a:rPr>
              <a:t>= </a:t>
            </a:r>
            <a:r>
              <a:rPr lang="ko-KR" altLang="en-US" sz="2400" dirty="0" err="1">
                <a:solidFill>
                  <a:srgbClr val="1F2328"/>
                </a:solidFill>
                <a:latin typeface="Pretendard" pitchFamily="34" charset="0"/>
                <a:ea typeface="Pretendard" pitchFamily="34" charset="-122"/>
                <a:cs typeface="Pretendard" pitchFamily="34" charset="-120"/>
              </a:rPr>
              <a:t>도착률</a:t>
            </a:r>
            <a:endParaRPr lang="en-US" sz="2400" dirty="0">
              <a:solidFill>
                <a:srgbClr val="1F2328"/>
              </a:solidFill>
              <a:latin typeface="Pretendard" pitchFamily="34" charset="0"/>
              <a:ea typeface="Pretendard" pitchFamily="34" charset="-122"/>
              <a:cs typeface="Pretendard" pitchFamily="34" charset="-120"/>
            </a:endParaRPr>
          </a:p>
          <a:p>
            <a:pPr marL="0" indent="0" algn="l">
              <a:lnSpc>
                <a:spcPct val="105263"/>
              </a:lnSpc>
              <a:buNone/>
            </a:pPr>
            <a:endParaRPr lang="en-US" sz="2400" dirty="0"/>
          </a:p>
        </p:txBody>
      </p:sp>
      <p:sp>
        <p:nvSpPr>
          <p:cNvPr id="76" name="Text 73"/>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HYPOTHESIS</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검증할 가설: 악조건에서 현장 표준보다 안전하다</a:t>
            </a:r>
            <a:endParaRPr lang="en-US" sz="5400" dirty="0"/>
          </a:p>
        </p:txBody>
      </p:sp>
      <p:sp>
        <p:nvSpPr>
          <p:cNvPr id="4" name="Shape 2"/>
          <p:cNvSpPr/>
          <p:nvPr/>
        </p:nvSpPr>
        <p:spPr>
          <a:xfrm>
            <a:off x="914400" y="2400300"/>
            <a:ext cx="9525000" cy="3886200"/>
          </a:xfrm>
          <a:prstGeom prst="roundRect">
            <a:avLst>
              <a:gd name="adj" fmla="val 1961"/>
            </a:avLst>
          </a:prstGeom>
          <a:ln w="38100">
            <a:solidFill>
              <a:srgbClr val="008300"/>
            </a:solidFill>
            <a:prstDash val="solid"/>
          </a:ln>
        </p:spPr>
        <p:txBody>
          <a:bodyPr/>
          <a:lstStyle/>
          <a:p>
            <a:endParaRPr lang="ko-KR" altLang="en-US"/>
          </a:p>
        </p:txBody>
      </p:sp>
      <p:sp>
        <p:nvSpPr>
          <p:cNvPr id="5" name="Text 3"/>
          <p:cNvSpPr/>
          <p:nvPr/>
        </p:nvSpPr>
        <p:spPr>
          <a:xfrm>
            <a:off x="1219200" y="2667000"/>
            <a:ext cx="980694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008300"/>
                </a:solidFill>
                <a:latin typeface="Pretendard" pitchFamily="34" charset="0"/>
                <a:ea typeface="Pretendard" pitchFamily="34" charset="-122"/>
                <a:cs typeface="Pretendard" pitchFamily="34" charset="-120"/>
              </a:rPr>
              <a:t>H1 (주 가설)</a:t>
            </a:r>
            <a:endParaRPr lang="en-US" sz="2400" dirty="0"/>
          </a:p>
        </p:txBody>
      </p:sp>
      <p:sp>
        <p:nvSpPr>
          <p:cNvPr id="6" name="Text 4"/>
          <p:cNvSpPr/>
          <p:nvPr/>
        </p:nvSpPr>
        <p:spPr>
          <a:xfrm>
            <a:off x="1219200" y="3143250"/>
            <a:ext cx="9182862" cy="1752600"/>
          </a:xfrm>
          <a:prstGeom prst="rect">
            <a:avLst/>
          </a:prstGeom>
          <a:noFill/>
          <a:ln/>
        </p:spPr>
        <p:txBody>
          <a:bodyPr wrap="square" lIns="25400" tIns="25400" rIns="25400" bIns="25400" rtlCol="0" anchor="t">
            <a:normAutofit/>
          </a:bodyPr>
          <a:lstStyle/>
          <a:p>
            <a:pPr marL="0" indent="0" algn="l">
              <a:lnSpc>
                <a:spcPct val="103448"/>
              </a:lnSpc>
              <a:buNone/>
            </a:pPr>
            <a:r>
              <a:rPr lang="en-US" sz="3600" b="1" kern="0" spc="-36" dirty="0">
                <a:solidFill>
                  <a:srgbClr val="1F2328"/>
                </a:solidFill>
                <a:latin typeface="Pretendard" pitchFamily="34" charset="0"/>
                <a:ea typeface="Pretendard" pitchFamily="34" charset="-122"/>
                <a:cs typeface="Pretendard" pitchFamily="34" charset="-120"/>
              </a:rPr>
              <a:t>악조건에서 제안(P3i)의 안전 실패율이 현장 표준(P1i)</a:t>
            </a:r>
            <a:r>
              <a:rPr lang="en-US" sz="3600" b="1" kern="0" spc="-36" dirty="0" err="1">
                <a:solidFill>
                  <a:srgbClr val="1F2328"/>
                </a:solidFill>
                <a:latin typeface="Pretendard" pitchFamily="34" charset="0"/>
                <a:ea typeface="Pretendard" pitchFamily="34" charset="-122"/>
                <a:cs typeface="Pretendard" pitchFamily="34" charset="-120"/>
              </a:rPr>
              <a:t>보다</a:t>
            </a:r>
            <a:r>
              <a:rPr lang="en-US" sz="3600" b="1" kern="0" spc="-36" dirty="0">
                <a:solidFill>
                  <a:srgbClr val="1F2328"/>
                </a:solidFill>
                <a:latin typeface="Pretendard" pitchFamily="34" charset="0"/>
                <a:ea typeface="Pretendard" pitchFamily="34" charset="-122"/>
                <a:cs typeface="Pretendard" pitchFamily="34" charset="-120"/>
              </a:rPr>
              <a:t> </a:t>
            </a:r>
            <a:r>
              <a:rPr lang="en-US" sz="3600" b="1" kern="0" spc="-36" dirty="0" err="1">
                <a:solidFill>
                  <a:srgbClr val="1F2328"/>
                </a:solidFill>
                <a:latin typeface="Pretendard" pitchFamily="34" charset="0"/>
                <a:ea typeface="Pretendard" pitchFamily="34" charset="-122"/>
                <a:cs typeface="Pretendard" pitchFamily="34" charset="-120"/>
              </a:rPr>
              <a:t>유의</a:t>
            </a:r>
            <a:r>
              <a:rPr lang="ko-KR" altLang="en-US" sz="3600" b="1" kern="0" spc="-36" dirty="0">
                <a:solidFill>
                  <a:srgbClr val="1F2328"/>
                </a:solidFill>
                <a:latin typeface="Pretendard" pitchFamily="34" charset="0"/>
                <a:ea typeface="Pretendard" pitchFamily="34" charset="-122"/>
                <a:cs typeface="Pretendard" pitchFamily="34" charset="-120"/>
              </a:rPr>
              <a:t>미</a:t>
            </a:r>
            <a:r>
              <a:rPr lang="en-US" sz="3600" b="1" kern="0" spc="-36" dirty="0" err="1">
                <a:solidFill>
                  <a:srgbClr val="1F2328"/>
                </a:solidFill>
                <a:latin typeface="Pretendard" pitchFamily="34" charset="0"/>
                <a:ea typeface="Pretendard" pitchFamily="34" charset="-122"/>
                <a:cs typeface="Pretendard" pitchFamily="34" charset="-120"/>
              </a:rPr>
              <a:t>하게</a:t>
            </a:r>
            <a:r>
              <a:rPr lang="en-US" sz="3600" b="1" kern="0" spc="-36" dirty="0">
                <a:solidFill>
                  <a:srgbClr val="1F2328"/>
                </a:solidFill>
                <a:latin typeface="Pretendard" pitchFamily="34" charset="0"/>
                <a:ea typeface="Pretendard" pitchFamily="34" charset="-122"/>
                <a:cs typeface="Pretendard" pitchFamily="34" charset="-120"/>
              </a:rPr>
              <a:t> 낮고, </a:t>
            </a:r>
            <a:r>
              <a:rPr lang="en-US" sz="3600" b="1" kern="0" spc="-36" dirty="0" err="1">
                <a:solidFill>
                  <a:srgbClr val="1F2328"/>
                </a:solidFill>
                <a:latin typeface="Pretendard" pitchFamily="34" charset="0"/>
                <a:ea typeface="Pretendard" pitchFamily="34" charset="-122"/>
                <a:cs typeface="Pretendard" pitchFamily="34" charset="-120"/>
              </a:rPr>
              <a:t>도착률은</a:t>
            </a:r>
            <a:r>
              <a:rPr lang="en-US" sz="3600" b="1" kern="0" spc="-36" dirty="0">
                <a:solidFill>
                  <a:srgbClr val="1F2328"/>
                </a:solidFill>
                <a:latin typeface="Pretendard" pitchFamily="34" charset="0"/>
                <a:ea typeface="Pretendard" pitchFamily="34" charset="-122"/>
                <a:cs typeface="Pretendard" pitchFamily="34" charset="-120"/>
              </a:rPr>
              <a:t> 10 %p 넘게 떨어지지 않는다</a:t>
            </a:r>
            <a:endParaRPr lang="en-US" sz="3600" dirty="0"/>
          </a:p>
        </p:txBody>
      </p:sp>
      <p:sp>
        <p:nvSpPr>
          <p:cNvPr id="7" name="Shape 5"/>
          <p:cNvSpPr/>
          <p:nvPr/>
        </p:nvSpPr>
        <p:spPr>
          <a:xfrm>
            <a:off x="1219200" y="5505450"/>
            <a:ext cx="8915400" cy="19050"/>
          </a:xfrm>
          <a:prstGeom prst="rect">
            <a:avLst/>
          </a:prstGeom>
          <a:solidFill>
            <a:srgbClr val="E3E6EA"/>
          </a:solidFill>
          <a:ln/>
        </p:spPr>
        <p:txBody>
          <a:bodyPr/>
          <a:lstStyle/>
          <a:p>
            <a:endParaRPr lang="ko-KR" altLang="en-US"/>
          </a:p>
        </p:txBody>
      </p:sp>
      <p:sp>
        <p:nvSpPr>
          <p:cNvPr id="8" name="Text 6"/>
          <p:cNvSpPr/>
          <p:nvPr/>
        </p:nvSpPr>
        <p:spPr>
          <a:xfrm>
            <a:off x="1219200" y="5638800"/>
            <a:ext cx="1304060" cy="419100"/>
          </a:xfrm>
          <a:prstGeom prst="rect">
            <a:avLst/>
          </a:prstGeom>
          <a:noFill/>
          <a:ln/>
        </p:spPr>
        <p:txBody>
          <a:bodyPr wrap="square" lIns="25400" tIns="25400" rIns="25400" bIns="25400" rtlCol="0" anchor="t">
            <a:noAutofit/>
          </a:bodyPr>
          <a:lstStyle/>
          <a:p>
            <a:pPr marL="0" indent="0" algn="l">
              <a:lnSpc>
                <a:spcPct val="105263"/>
              </a:lnSpc>
              <a:buNone/>
            </a:pPr>
            <a:r>
              <a:rPr lang="en-US" sz="2300" b="1" dirty="0">
                <a:solidFill>
                  <a:srgbClr val="5B6470"/>
                </a:solidFill>
                <a:latin typeface="Pretendard" pitchFamily="34" charset="0"/>
                <a:ea typeface="Pretendard" pitchFamily="34" charset="-122"/>
                <a:cs typeface="Pretendard" pitchFamily="34" charset="-120"/>
              </a:rPr>
              <a:t>검증 방법</a:t>
            </a:r>
            <a:endParaRPr lang="en-US" sz="2300" dirty="0"/>
          </a:p>
        </p:txBody>
      </p:sp>
      <p:sp>
        <p:nvSpPr>
          <p:cNvPr id="9" name="Text 7"/>
          <p:cNvSpPr/>
          <p:nvPr/>
        </p:nvSpPr>
        <p:spPr>
          <a:xfrm>
            <a:off x="2550970" y="5638800"/>
            <a:ext cx="5456959"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5번 판정 기준으로 같은 시드끼리 비교</a:t>
            </a:r>
            <a:endParaRPr lang="en-US" sz="2400" dirty="0"/>
          </a:p>
        </p:txBody>
      </p:sp>
      <p:sp>
        <p:nvSpPr>
          <p:cNvPr id="10" name="Shape 8"/>
          <p:cNvSpPr/>
          <p:nvPr/>
        </p:nvSpPr>
        <p:spPr>
          <a:xfrm>
            <a:off x="10668000" y="2400300"/>
            <a:ext cx="6705600" cy="3886200"/>
          </a:xfrm>
          <a:prstGeom prst="roundRect">
            <a:avLst>
              <a:gd name="adj" fmla="val 1961"/>
            </a:avLst>
          </a:prstGeom>
          <a:ln w="19050">
            <a:solidFill>
              <a:srgbClr val="C3C8CE"/>
            </a:solidFill>
            <a:prstDash val="solid"/>
          </a:ln>
        </p:spPr>
        <p:txBody>
          <a:bodyPr/>
          <a:lstStyle/>
          <a:p>
            <a:endParaRPr lang="ko-KR" altLang="en-US"/>
          </a:p>
        </p:txBody>
      </p:sp>
      <p:sp>
        <p:nvSpPr>
          <p:cNvPr id="11" name="Text 9"/>
          <p:cNvSpPr/>
          <p:nvPr/>
        </p:nvSpPr>
        <p:spPr>
          <a:xfrm>
            <a:off x="10953750" y="2609850"/>
            <a:ext cx="674751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H2</a:t>
            </a:r>
            <a:endParaRPr lang="en-US" sz="2400" dirty="0"/>
          </a:p>
        </p:txBody>
      </p:sp>
      <p:sp>
        <p:nvSpPr>
          <p:cNvPr id="12" name="Text 10"/>
          <p:cNvSpPr/>
          <p:nvPr/>
        </p:nvSpPr>
        <p:spPr>
          <a:xfrm>
            <a:off x="10953750" y="3086100"/>
            <a:ext cx="6318123"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평상시에는 현장 표준과 제안 사이에 차이가 없다</a:t>
            </a:r>
            <a:endParaRPr lang="en-US" sz="3000" dirty="0"/>
          </a:p>
        </p:txBody>
      </p:sp>
      <p:sp>
        <p:nvSpPr>
          <p:cNvPr id="13" name="Shape 11"/>
          <p:cNvSpPr/>
          <p:nvPr/>
        </p:nvSpPr>
        <p:spPr>
          <a:xfrm>
            <a:off x="10953750" y="5562600"/>
            <a:ext cx="6134100" cy="19050"/>
          </a:xfrm>
          <a:prstGeom prst="rect">
            <a:avLst/>
          </a:prstGeom>
          <a:solidFill>
            <a:srgbClr val="E3E6EA"/>
          </a:solidFill>
          <a:ln/>
        </p:spPr>
        <p:txBody>
          <a:bodyPr/>
          <a:lstStyle/>
          <a:p>
            <a:endParaRPr lang="ko-KR" altLang="en-US"/>
          </a:p>
        </p:txBody>
      </p:sp>
      <p:sp>
        <p:nvSpPr>
          <p:cNvPr id="14" name="Text 12"/>
          <p:cNvSpPr/>
          <p:nvPr/>
        </p:nvSpPr>
        <p:spPr>
          <a:xfrm>
            <a:off x="10953750" y="5695950"/>
            <a:ext cx="141489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15" name="Text 13"/>
          <p:cNvSpPr/>
          <p:nvPr/>
        </p:nvSpPr>
        <p:spPr>
          <a:xfrm>
            <a:off x="12368648" y="5695950"/>
            <a:ext cx="2220191"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S1 평상시 비교</a:t>
            </a:r>
            <a:endParaRPr lang="en-US" sz="2400" dirty="0"/>
          </a:p>
        </p:txBody>
      </p:sp>
      <p:sp>
        <p:nvSpPr>
          <p:cNvPr id="16" name="Shape 14"/>
          <p:cNvSpPr/>
          <p:nvPr/>
        </p:nvSpPr>
        <p:spPr>
          <a:xfrm>
            <a:off x="914400" y="6515100"/>
            <a:ext cx="9525000" cy="2552700"/>
          </a:xfrm>
          <a:prstGeom prst="roundRect">
            <a:avLst>
              <a:gd name="adj" fmla="val 2985"/>
            </a:avLst>
          </a:prstGeom>
          <a:ln w="19050">
            <a:solidFill>
              <a:srgbClr val="C3C8CE"/>
            </a:solidFill>
            <a:prstDash val="solid"/>
          </a:ln>
        </p:spPr>
        <p:txBody>
          <a:bodyPr/>
          <a:lstStyle/>
          <a:p>
            <a:endParaRPr lang="ko-KR" altLang="en-US"/>
          </a:p>
        </p:txBody>
      </p:sp>
      <p:sp>
        <p:nvSpPr>
          <p:cNvPr id="17" name="Text 15"/>
          <p:cNvSpPr/>
          <p:nvPr/>
        </p:nvSpPr>
        <p:spPr>
          <a:xfrm>
            <a:off x="1200150" y="6724650"/>
            <a:ext cx="984885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H3</a:t>
            </a:r>
            <a:endParaRPr lang="en-US" sz="2400" dirty="0"/>
          </a:p>
        </p:txBody>
      </p:sp>
      <p:sp>
        <p:nvSpPr>
          <p:cNvPr id="18" name="Text 16"/>
          <p:cNvSpPr/>
          <p:nvPr/>
        </p:nvSpPr>
        <p:spPr>
          <a:xfrm>
            <a:off x="1200150" y="7200900"/>
            <a:ext cx="9222105"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낭떠러지 기억은 map이 아닌 odom 좌표에 둬야 위치 착각 때도 어긋나지 않는다</a:t>
            </a:r>
            <a:endParaRPr lang="en-US" sz="3000" dirty="0"/>
          </a:p>
        </p:txBody>
      </p:sp>
      <p:sp>
        <p:nvSpPr>
          <p:cNvPr id="19" name="Shape 17"/>
          <p:cNvSpPr/>
          <p:nvPr/>
        </p:nvSpPr>
        <p:spPr>
          <a:xfrm>
            <a:off x="1200150" y="8343900"/>
            <a:ext cx="8953500" cy="19050"/>
          </a:xfrm>
          <a:prstGeom prst="rect">
            <a:avLst/>
          </a:prstGeom>
          <a:solidFill>
            <a:srgbClr val="E3E6EA"/>
          </a:solidFill>
          <a:ln/>
        </p:spPr>
        <p:txBody>
          <a:bodyPr/>
          <a:lstStyle/>
          <a:p>
            <a:endParaRPr lang="ko-KR" altLang="en-US"/>
          </a:p>
        </p:txBody>
      </p:sp>
      <p:sp>
        <p:nvSpPr>
          <p:cNvPr id="20" name="Text 18"/>
          <p:cNvSpPr/>
          <p:nvPr/>
        </p:nvSpPr>
        <p:spPr>
          <a:xfrm>
            <a:off x="1200150" y="8477250"/>
            <a:ext cx="135082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21" name="Text 19"/>
          <p:cNvSpPr/>
          <p:nvPr/>
        </p:nvSpPr>
        <p:spPr>
          <a:xfrm>
            <a:off x="2573484" y="8477250"/>
            <a:ext cx="730838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S3 위치 착각에서 odom 기억(P3) vs map 기억(P3m)0</a:t>
            </a:r>
            <a:endParaRPr lang="en-US" sz="2400" dirty="0"/>
          </a:p>
        </p:txBody>
      </p:sp>
      <p:sp>
        <p:nvSpPr>
          <p:cNvPr id="22" name="Shape 20"/>
          <p:cNvSpPr/>
          <p:nvPr/>
        </p:nvSpPr>
        <p:spPr>
          <a:xfrm>
            <a:off x="10668000" y="6515100"/>
            <a:ext cx="6705600" cy="2552700"/>
          </a:xfrm>
          <a:prstGeom prst="roundRect">
            <a:avLst>
              <a:gd name="adj" fmla="val 2985"/>
            </a:avLst>
          </a:prstGeom>
          <a:ln w="19050">
            <a:solidFill>
              <a:srgbClr val="C3C8CE"/>
            </a:solidFill>
            <a:prstDash val="solid"/>
          </a:ln>
        </p:spPr>
        <p:txBody>
          <a:bodyPr/>
          <a:lstStyle/>
          <a:p>
            <a:endParaRPr lang="ko-KR" altLang="en-US"/>
          </a:p>
        </p:txBody>
      </p:sp>
      <p:sp>
        <p:nvSpPr>
          <p:cNvPr id="23" name="Text 21"/>
          <p:cNvSpPr/>
          <p:nvPr/>
        </p:nvSpPr>
        <p:spPr>
          <a:xfrm>
            <a:off x="10953750" y="6724650"/>
            <a:ext cx="674751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H4</a:t>
            </a:r>
            <a:endParaRPr lang="en-US" sz="2400" dirty="0"/>
          </a:p>
        </p:txBody>
      </p:sp>
      <p:sp>
        <p:nvSpPr>
          <p:cNvPr id="24" name="Text 22"/>
          <p:cNvSpPr/>
          <p:nvPr/>
        </p:nvSpPr>
        <p:spPr>
          <a:xfrm>
            <a:off x="10953750" y="7200900"/>
            <a:ext cx="674751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필터와 기억은 각각 따로 필요하다</a:t>
            </a:r>
            <a:endParaRPr lang="en-US" sz="3000" dirty="0"/>
          </a:p>
        </p:txBody>
      </p:sp>
      <p:sp>
        <p:nvSpPr>
          <p:cNvPr id="25" name="Shape 23"/>
          <p:cNvSpPr/>
          <p:nvPr/>
        </p:nvSpPr>
        <p:spPr>
          <a:xfrm>
            <a:off x="10953750" y="8343900"/>
            <a:ext cx="6134100" cy="19050"/>
          </a:xfrm>
          <a:prstGeom prst="rect">
            <a:avLst/>
          </a:prstGeom>
          <a:solidFill>
            <a:srgbClr val="E3E6EA"/>
          </a:solidFill>
          <a:ln/>
        </p:spPr>
        <p:txBody>
          <a:bodyPr/>
          <a:lstStyle/>
          <a:p>
            <a:endParaRPr lang="ko-KR" altLang="en-US"/>
          </a:p>
        </p:txBody>
      </p:sp>
      <p:sp>
        <p:nvSpPr>
          <p:cNvPr id="26" name="Text 24"/>
          <p:cNvSpPr/>
          <p:nvPr/>
        </p:nvSpPr>
        <p:spPr>
          <a:xfrm>
            <a:off x="10953750" y="8477250"/>
            <a:ext cx="141489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27" name="Text 25"/>
          <p:cNvSpPr/>
          <p:nvPr/>
        </p:nvSpPr>
        <p:spPr>
          <a:xfrm>
            <a:off x="12313229" y="8477250"/>
            <a:ext cx="5003989"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필터 유무 × 기억 유무 2×2 비교 (7번)</a:t>
            </a:r>
            <a:endParaRPr lang="en-US" sz="2400" dirty="0"/>
          </a:p>
        </p:txBody>
      </p:sp>
      <p:sp>
        <p:nvSpPr>
          <p:cNvPr id="28" name="Text 26"/>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ABLATION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필터와 기억, 하나만 빼면 어떻게 되는지 시험한다</a:t>
            </a:r>
            <a:endParaRPr lang="en-US" sz="5400" dirty="0"/>
          </a:p>
        </p:txBody>
      </p:sp>
      <p:sp>
        <p:nvSpPr>
          <p:cNvPr id="4" name="Shape 2"/>
          <p:cNvSpPr/>
          <p:nvPr/>
        </p:nvSpPr>
        <p:spPr>
          <a:xfrm>
            <a:off x="914400" y="2886075"/>
            <a:ext cx="2514600" cy="19050"/>
          </a:xfrm>
          <a:prstGeom prst="rect">
            <a:avLst/>
          </a:prstGeom>
          <a:solidFill>
            <a:srgbClr val="1F2328"/>
          </a:solidFill>
          <a:ln/>
        </p:spPr>
        <p:txBody>
          <a:bodyPr/>
          <a:lstStyle/>
          <a:p>
            <a:endParaRPr lang="ko-KR" altLang="en-US"/>
          </a:p>
        </p:txBody>
      </p:sp>
      <p:sp>
        <p:nvSpPr>
          <p:cNvPr id="5" name="Shape 3"/>
          <p:cNvSpPr/>
          <p:nvPr/>
        </p:nvSpPr>
        <p:spPr>
          <a:xfrm>
            <a:off x="3429000" y="2886075"/>
            <a:ext cx="7505700" cy="19050"/>
          </a:xfrm>
          <a:prstGeom prst="rect">
            <a:avLst/>
          </a:prstGeom>
          <a:solidFill>
            <a:srgbClr val="1F2328"/>
          </a:solidFill>
          <a:ln/>
        </p:spPr>
        <p:txBody>
          <a:bodyPr/>
          <a:lstStyle/>
          <a:p>
            <a:endParaRPr lang="ko-KR" altLang="en-US"/>
          </a:p>
        </p:txBody>
      </p:sp>
      <p:sp>
        <p:nvSpPr>
          <p:cNvPr id="6" name="Text 4"/>
          <p:cNvSpPr/>
          <p:nvPr/>
        </p:nvSpPr>
        <p:spPr>
          <a:xfrm>
            <a:off x="3657600" y="2400300"/>
            <a:ext cx="7273671" cy="409575"/>
          </a:xfrm>
          <a:prstGeom prst="rect">
            <a:avLst/>
          </a:prstGeom>
          <a:noFill/>
          <a:ln/>
        </p:spPr>
        <p:txBody>
          <a:bodyPr wrap="square" lIns="25400" tIns="25400" rIns="25400" bIns="25400" rtlCol="0" anchor="ctr">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기억 없음</a:t>
            </a:r>
            <a:endParaRPr lang="en-US" sz="2400" dirty="0"/>
          </a:p>
        </p:txBody>
      </p:sp>
      <p:sp>
        <p:nvSpPr>
          <p:cNvPr id="7" name="Shape 5"/>
          <p:cNvSpPr/>
          <p:nvPr/>
        </p:nvSpPr>
        <p:spPr>
          <a:xfrm>
            <a:off x="10934700" y="2886075"/>
            <a:ext cx="6438900" cy="19050"/>
          </a:xfrm>
          <a:prstGeom prst="rect">
            <a:avLst/>
          </a:prstGeom>
          <a:solidFill>
            <a:srgbClr val="1F2328"/>
          </a:solidFill>
          <a:ln/>
        </p:spPr>
        <p:txBody>
          <a:bodyPr/>
          <a:lstStyle/>
          <a:p>
            <a:endParaRPr lang="ko-KR" altLang="en-US"/>
          </a:p>
        </p:txBody>
      </p:sp>
      <p:sp>
        <p:nvSpPr>
          <p:cNvPr id="8" name="Text 6"/>
          <p:cNvSpPr/>
          <p:nvPr/>
        </p:nvSpPr>
        <p:spPr>
          <a:xfrm>
            <a:off x="11163300" y="2400300"/>
            <a:ext cx="6174867" cy="409575"/>
          </a:xfrm>
          <a:prstGeom prst="rect">
            <a:avLst/>
          </a:prstGeom>
          <a:noFill/>
          <a:ln/>
        </p:spPr>
        <p:txBody>
          <a:bodyPr wrap="square" lIns="25400" tIns="25400" rIns="25400" bIns="25400" rtlCol="0" anchor="ctr">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odom 기억</a:t>
            </a:r>
            <a:endParaRPr lang="en-US" sz="2400" dirty="0"/>
          </a:p>
        </p:txBody>
      </p:sp>
      <p:sp>
        <p:nvSpPr>
          <p:cNvPr id="9" name="Shape 7"/>
          <p:cNvSpPr/>
          <p:nvPr/>
        </p:nvSpPr>
        <p:spPr>
          <a:xfrm>
            <a:off x="914400" y="4924425"/>
            <a:ext cx="2514600" cy="19050"/>
          </a:xfrm>
          <a:prstGeom prst="rect">
            <a:avLst/>
          </a:prstGeom>
          <a:solidFill>
            <a:srgbClr val="E3E6EA"/>
          </a:solidFill>
          <a:ln/>
        </p:spPr>
        <p:txBody>
          <a:bodyPr/>
          <a:lstStyle/>
          <a:p>
            <a:endParaRPr lang="ko-KR" altLang="en-US"/>
          </a:p>
        </p:txBody>
      </p:sp>
      <p:sp>
        <p:nvSpPr>
          <p:cNvPr id="10" name="Text 8"/>
          <p:cNvSpPr/>
          <p:nvPr/>
        </p:nvSpPr>
        <p:spPr>
          <a:xfrm>
            <a:off x="914400" y="3133725"/>
            <a:ext cx="2438400" cy="1600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한 장씩 판정</a:t>
            </a:r>
            <a:endParaRPr lang="en-US" sz="2400" dirty="0"/>
          </a:p>
        </p:txBody>
      </p:sp>
      <p:sp>
        <p:nvSpPr>
          <p:cNvPr id="11" name="Shape 9"/>
          <p:cNvSpPr/>
          <p:nvPr/>
        </p:nvSpPr>
        <p:spPr>
          <a:xfrm>
            <a:off x="3429000" y="4924425"/>
            <a:ext cx="7505700" cy="19050"/>
          </a:xfrm>
          <a:prstGeom prst="rect">
            <a:avLst/>
          </a:prstGeom>
          <a:solidFill>
            <a:srgbClr val="E3E6EA"/>
          </a:solidFill>
          <a:ln/>
        </p:spPr>
        <p:txBody>
          <a:bodyPr/>
          <a:lstStyle/>
          <a:p>
            <a:endParaRPr lang="ko-KR" altLang="en-US"/>
          </a:p>
        </p:txBody>
      </p:sp>
      <p:sp>
        <p:nvSpPr>
          <p:cNvPr id="12" name="Shape 10"/>
          <p:cNvSpPr/>
          <p:nvPr/>
        </p:nvSpPr>
        <p:spPr>
          <a:xfrm>
            <a:off x="3657600" y="3276600"/>
            <a:ext cx="228600" cy="228600"/>
          </a:xfrm>
          <a:prstGeom prst="roundRect">
            <a:avLst>
              <a:gd name="adj" fmla="val 16667"/>
            </a:avLst>
          </a:prstGeom>
          <a:solidFill>
            <a:srgbClr val="EDA100"/>
          </a:solidFill>
          <a:ln/>
        </p:spPr>
        <p:txBody>
          <a:bodyPr/>
          <a:lstStyle/>
          <a:p>
            <a:endParaRPr lang="ko-KR" altLang="en-US"/>
          </a:p>
        </p:txBody>
      </p:sp>
      <p:sp>
        <p:nvSpPr>
          <p:cNvPr id="13" name="Text 11"/>
          <p:cNvSpPr/>
          <p:nvPr/>
        </p:nvSpPr>
        <p:spPr>
          <a:xfrm>
            <a:off x="4019550" y="3143250"/>
            <a:ext cx="546199"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P2</a:t>
            </a:r>
            <a:endParaRPr lang="en-US" sz="3000" dirty="0"/>
          </a:p>
        </p:txBody>
      </p:sp>
      <p:sp>
        <p:nvSpPr>
          <p:cNvPr id="14" name="Text 12"/>
          <p:cNvSpPr/>
          <p:nvPr/>
        </p:nvSpPr>
        <p:spPr>
          <a:xfrm>
            <a:off x="3657600" y="3714750"/>
            <a:ext cx="775335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기준 (필터도 기억도 없음)</a:t>
            </a:r>
            <a:endParaRPr lang="en-US" sz="3000" dirty="0"/>
          </a:p>
        </p:txBody>
      </p:sp>
      <p:sp>
        <p:nvSpPr>
          <p:cNvPr id="15" name="Shape 13"/>
          <p:cNvSpPr/>
          <p:nvPr/>
        </p:nvSpPr>
        <p:spPr>
          <a:xfrm>
            <a:off x="10934700" y="4924425"/>
            <a:ext cx="6438900" cy="19050"/>
          </a:xfrm>
          <a:prstGeom prst="rect">
            <a:avLst/>
          </a:prstGeom>
          <a:solidFill>
            <a:srgbClr val="E3E6EA"/>
          </a:solidFill>
          <a:ln/>
        </p:spPr>
        <p:txBody>
          <a:bodyPr/>
          <a:lstStyle/>
          <a:p>
            <a:endParaRPr lang="ko-KR" altLang="en-US"/>
          </a:p>
        </p:txBody>
      </p:sp>
      <p:sp>
        <p:nvSpPr>
          <p:cNvPr id="16" name="Shape 14"/>
          <p:cNvSpPr/>
          <p:nvPr/>
        </p:nvSpPr>
        <p:spPr>
          <a:xfrm>
            <a:off x="11163300" y="3276600"/>
            <a:ext cx="228600" cy="228600"/>
          </a:xfrm>
          <a:prstGeom prst="roundRect">
            <a:avLst>
              <a:gd name="adj" fmla="val 16667"/>
            </a:avLst>
          </a:prstGeom>
          <a:solidFill>
            <a:srgbClr val="5B6470"/>
          </a:solidFill>
          <a:ln/>
        </p:spPr>
        <p:txBody>
          <a:bodyPr/>
          <a:lstStyle/>
          <a:p>
            <a:endParaRPr lang="ko-KR" altLang="en-US"/>
          </a:p>
        </p:txBody>
      </p:sp>
      <p:sp>
        <p:nvSpPr>
          <p:cNvPr id="17" name="Text 15"/>
          <p:cNvSpPr/>
          <p:nvPr/>
        </p:nvSpPr>
        <p:spPr>
          <a:xfrm>
            <a:off x="11525250" y="3143250"/>
            <a:ext cx="77093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P2o</a:t>
            </a:r>
            <a:endParaRPr lang="en-US" sz="3000" dirty="0"/>
          </a:p>
        </p:txBody>
      </p:sp>
      <p:sp>
        <p:nvSpPr>
          <p:cNvPr id="18" name="Text 16"/>
          <p:cNvSpPr/>
          <p:nvPr/>
        </p:nvSpPr>
        <p:spPr>
          <a:xfrm>
            <a:off x="11163300" y="3714750"/>
            <a:ext cx="6161151"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가짜 낭떠러지가 기억에 쌓여 길이 막힌다</a:t>
            </a:r>
            <a:endParaRPr lang="en-US" sz="3000" dirty="0"/>
          </a:p>
        </p:txBody>
      </p:sp>
      <p:sp>
        <p:nvSpPr>
          <p:cNvPr id="19" name="Shape 17"/>
          <p:cNvSpPr/>
          <p:nvPr/>
        </p:nvSpPr>
        <p:spPr>
          <a:xfrm>
            <a:off x="914400" y="6962775"/>
            <a:ext cx="2514600" cy="19050"/>
          </a:xfrm>
          <a:prstGeom prst="rect">
            <a:avLst/>
          </a:prstGeom>
          <a:solidFill>
            <a:srgbClr val="E3E6EA"/>
          </a:solidFill>
          <a:ln/>
        </p:spPr>
        <p:txBody>
          <a:bodyPr/>
          <a:lstStyle/>
          <a:p>
            <a:endParaRPr lang="ko-KR" altLang="en-US"/>
          </a:p>
        </p:txBody>
      </p:sp>
      <p:sp>
        <p:nvSpPr>
          <p:cNvPr id="20" name="Text 18"/>
          <p:cNvSpPr/>
          <p:nvPr/>
        </p:nvSpPr>
        <p:spPr>
          <a:xfrm>
            <a:off x="914400" y="5172075"/>
            <a:ext cx="2438400" cy="1600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베이즈 필터</a:t>
            </a:r>
            <a:endParaRPr lang="en-US" sz="2400" dirty="0"/>
          </a:p>
        </p:txBody>
      </p:sp>
      <p:sp>
        <p:nvSpPr>
          <p:cNvPr id="21" name="Shape 19"/>
          <p:cNvSpPr/>
          <p:nvPr/>
        </p:nvSpPr>
        <p:spPr>
          <a:xfrm>
            <a:off x="3429000" y="6962775"/>
            <a:ext cx="7505700" cy="19050"/>
          </a:xfrm>
          <a:prstGeom prst="rect">
            <a:avLst/>
          </a:prstGeom>
          <a:solidFill>
            <a:srgbClr val="E3E6EA"/>
          </a:solidFill>
          <a:ln/>
        </p:spPr>
        <p:txBody>
          <a:bodyPr/>
          <a:lstStyle/>
          <a:p>
            <a:endParaRPr lang="ko-KR" altLang="en-US"/>
          </a:p>
        </p:txBody>
      </p:sp>
      <p:sp>
        <p:nvSpPr>
          <p:cNvPr id="22" name="Shape 20"/>
          <p:cNvSpPr/>
          <p:nvPr/>
        </p:nvSpPr>
        <p:spPr>
          <a:xfrm>
            <a:off x="3657600" y="5314950"/>
            <a:ext cx="228600" cy="228600"/>
          </a:xfrm>
          <a:prstGeom prst="roundRect">
            <a:avLst>
              <a:gd name="adj" fmla="val 16667"/>
            </a:avLst>
          </a:prstGeom>
          <a:solidFill>
            <a:srgbClr val="5B6470"/>
          </a:solidFill>
          <a:ln/>
        </p:spPr>
        <p:txBody>
          <a:bodyPr/>
          <a:lstStyle/>
          <a:p>
            <a:endParaRPr lang="ko-KR" altLang="en-US"/>
          </a:p>
        </p:txBody>
      </p:sp>
      <p:sp>
        <p:nvSpPr>
          <p:cNvPr id="23" name="Text 21"/>
          <p:cNvSpPr/>
          <p:nvPr/>
        </p:nvSpPr>
        <p:spPr>
          <a:xfrm>
            <a:off x="4019550" y="5181600"/>
            <a:ext cx="784622"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P3n</a:t>
            </a:r>
            <a:endParaRPr lang="en-US" sz="3000" dirty="0"/>
          </a:p>
        </p:txBody>
      </p:sp>
      <p:sp>
        <p:nvSpPr>
          <p:cNvPr id="24" name="Text 22"/>
          <p:cNvSpPr/>
          <p:nvPr/>
        </p:nvSpPr>
        <p:spPr>
          <a:xfrm>
            <a:off x="3657600" y="5753100"/>
            <a:ext cx="7259955"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뒤로 물러날 때 이미 지나친 가장자리를 잊고 떨어진다</a:t>
            </a:r>
            <a:endParaRPr lang="en-US" sz="3000" dirty="0"/>
          </a:p>
        </p:txBody>
      </p:sp>
      <p:sp>
        <p:nvSpPr>
          <p:cNvPr id="25" name="Shape 23"/>
          <p:cNvSpPr/>
          <p:nvPr/>
        </p:nvSpPr>
        <p:spPr>
          <a:xfrm>
            <a:off x="10934700" y="4943475"/>
            <a:ext cx="6438900" cy="2038350"/>
          </a:xfrm>
          <a:prstGeom prst="rect">
            <a:avLst/>
          </a:prstGeom>
          <a:solidFill>
            <a:srgbClr val="EAF4EA"/>
          </a:solidFill>
          <a:ln/>
        </p:spPr>
        <p:txBody>
          <a:bodyPr/>
          <a:lstStyle/>
          <a:p>
            <a:endParaRPr lang="ko-KR" altLang="en-US"/>
          </a:p>
        </p:txBody>
      </p:sp>
      <p:sp>
        <p:nvSpPr>
          <p:cNvPr id="26" name="Shape 24"/>
          <p:cNvSpPr/>
          <p:nvPr/>
        </p:nvSpPr>
        <p:spPr>
          <a:xfrm>
            <a:off x="10934700" y="6962775"/>
            <a:ext cx="6438900" cy="19050"/>
          </a:xfrm>
          <a:prstGeom prst="rect">
            <a:avLst/>
          </a:prstGeom>
          <a:solidFill>
            <a:srgbClr val="E3E6EA"/>
          </a:solidFill>
          <a:ln/>
        </p:spPr>
        <p:txBody>
          <a:bodyPr/>
          <a:lstStyle/>
          <a:p>
            <a:endParaRPr lang="ko-KR" altLang="en-US"/>
          </a:p>
        </p:txBody>
      </p:sp>
      <p:sp>
        <p:nvSpPr>
          <p:cNvPr id="27" name="Shape 25"/>
          <p:cNvSpPr/>
          <p:nvPr/>
        </p:nvSpPr>
        <p:spPr>
          <a:xfrm>
            <a:off x="11163300" y="5314950"/>
            <a:ext cx="228600" cy="228600"/>
          </a:xfrm>
          <a:prstGeom prst="roundRect">
            <a:avLst>
              <a:gd name="adj" fmla="val 16667"/>
            </a:avLst>
          </a:prstGeom>
          <a:solidFill>
            <a:srgbClr val="6DBE6D"/>
          </a:solidFill>
          <a:ln/>
        </p:spPr>
        <p:txBody>
          <a:bodyPr/>
          <a:lstStyle/>
          <a:p>
            <a:endParaRPr lang="ko-KR" altLang="en-US"/>
          </a:p>
        </p:txBody>
      </p:sp>
      <p:sp>
        <p:nvSpPr>
          <p:cNvPr id="28" name="Text 26"/>
          <p:cNvSpPr/>
          <p:nvPr/>
        </p:nvSpPr>
        <p:spPr>
          <a:xfrm>
            <a:off x="11525250" y="5181600"/>
            <a:ext cx="556915"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P3</a:t>
            </a:r>
            <a:endParaRPr lang="en-US" sz="3000" dirty="0"/>
          </a:p>
        </p:txBody>
      </p:sp>
      <p:sp>
        <p:nvSpPr>
          <p:cNvPr id="29" name="Text 27"/>
          <p:cNvSpPr/>
          <p:nvPr/>
        </p:nvSpPr>
        <p:spPr>
          <a:xfrm>
            <a:off x="11163300" y="5753100"/>
            <a:ext cx="657987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막히지도 떨어지지도 않는다 </a:t>
            </a:r>
            <a:r>
              <a:rPr lang="en-US" sz="3000" b="1" dirty="0">
                <a:solidFill>
                  <a:srgbClr val="008300"/>
                </a:solidFill>
                <a:latin typeface="Pretendard" pitchFamily="34" charset="0"/>
                <a:ea typeface="Pretendard" pitchFamily="34" charset="-122"/>
                <a:cs typeface="Pretendard" pitchFamily="34" charset="-120"/>
              </a:rPr>
              <a:t>✓</a:t>
            </a:r>
            <a:endParaRPr lang="en-US" sz="3000" dirty="0"/>
          </a:p>
        </p:txBody>
      </p:sp>
      <p:sp>
        <p:nvSpPr>
          <p:cNvPr id="30" name="Text 28"/>
          <p:cNvSpPr/>
          <p:nvPr/>
        </p:nvSpPr>
        <p:spPr>
          <a:xfrm>
            <a:off x="914400" y="7239000"/>
            <a:ext cx="16952976" cy="11811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두 예측이 맞으면: 필터가 있어야 기억이 쓸모 있고, 필터만으로는 부족해 기억도 따로 필요하다</a:t>
            </a:r>
            <a:endParaRPr lang="en-US" sz="3000" dirty="0"/>
          </a:p>
        </p:txBody>
      </p:sp>
      <p:sp>
        <p:nvSpPr>
          <p:cNvPr id="33" name="Text 31"/>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sp>
        <p:nvSpPr>
          <p:cNvPr id="38" name="Shape 32"/>
          <p:cNvSpPr/>
          <p:nvPr/>
        </p:nvSpPr>
        <p:spPr>
          <a:xfrm>
            <a:off x="11753850" y="5943600"/>
            <a:ext cx="38100" cy="190500"/>
          </a:xfrm>
          <a:prstGeom prst="rect">
            <a:avLst/>
          </a:prstGeom>
          <a:solidFill>
            <a:srgbClr val="E3E6EA"/>
          </a:solidFill>
          <a:ln/>
        </p:spPr>
        <p:txBody>
          <a:bodyPr/>
          <a:lstStyle/>
          <a:p>
            <a:endParaRPr lang="ko-KR" altLang="en-US"/>
          </a:p>
        </p:txBody>
      </p:sp>
      <p:sp>
        <p:nvSpPr>
          <p:cNvPr id="34" name="Shape 28"/>
          <p:cNvSpPr/>
          <p:nvPr/>
        </p:nvSpPr>
        <p:spPr>
          <a:xfrm>
            <a:off x="11753850" y="4991100"/>
            <a:ext cx="38100" cy="571500"/>
          </a:xfrm>
          <a:prstGeom prst="rect">
            <a:avLst/>
          </a:prstGeom>
          <a:solidFill>
            <a:srgbClr val="E3E6EA"/>
          </a:solidFill>
          <a:ln/>
        </p:spPr>
        <p:txBody>
          <a:bodyPr/>
          <a:lstStyle/>
          <a:p>
            <a:endParaRPr lang="ko-KR" altLang="en-US"/>
          </a:p>
        </p:txBody>
      </p:sp>
      <p:sp>
        <p:nvSpPr>
          <p:cNvPr id="30" name="Shape 24"/>
          <p:cNvSpPr/>
          <p:nvPr/>
        </p:nvSpPr>
        <p:spPr>
          <a:xfrm>
            <a:off x="11753850" y="4419600"/>
            <a:ext cx="38100" cy="190500"/>
          </a:xfrm>
          <a:prstGeom prst="rect">
            <a:avLst/>
          </a:prstGeom>
          <a:solidFill>
            <a:srgbClr val="E3E6EA"/>
          </a:solidFill>
          <a:ln/>
        </p:spPr>
        <p:txBody>
          <a:bodyPr/>
          <a:lstStyle/>
          <a:p>
            <a:endParaRPr lang="ko-KR" altLang="en-US"/>
          </a:p>
        </p:txBody>
      </p:sp>
      <p:sp>
        <p:nvSpPr>
          <p:cNvPr id="26" name="Shape 20"/>
          <p:cNvSpPr/>
          <p:nvPr/>
        </p:nvSpPr>
        <p:spPr>
          <a:xfrm>
            <a:off x="11753850" y="3467100"/>
            <a:ext cx="38100" cy="571500"/>
          </a:xfrm>
          <a:prstGeom prst="rect">
            <a:avLst/>
          </a:prstGeom>
          <a:solidFill>
            <a:srgbClr val="E3E6EA"/>
          </a:solidFill>
          <a:ln/>
        </p:spPr>
        <p:txBody>
          <a:bodyPr/>
          <a:lstStyle/>
          <a:p>
            <a:endParaRPr lang="ko-KR" altLang="en-US"/>
          </a:p>
        </p:txBody>
      </p:sp>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PLAN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남은 위험과 최종 발표까지 할 일</a:t>
            </a:r>
            <a:endParaRPr lang="en-US" sz="5400" dirty="0"/>
          </a:p>
        </p:txBody>
      </p:sp>
      <p:sp>
        <p:nvSpPr>
          <p:cNvPr id="4" name="Shape 2"/>
          <p:cNvSpPr/>
          <p:nvPr/>
        </p:nvSpPr>
        <p:spPr>
          <a:xfrm>
            <a:off x="914400" y="2876550"/>
            <a:ext cx="10058400" cy="19050"/>
          </a:xfrm>
          <a:prstGeom prst="rect">
            <a:avLst/>
          </a:prstGeom>
          <a:solidFill>
            <a:srgbClr val="E3E6EA"/>
          </a:solidFill>
          <a:ln/>
        </p:spPr>
        <p:txBody>
          <a:bodyPr/>
          <a:lstStyle/>
          <a:p>
            <a:endParaRPr lang="ko-KR" altLang="en-US"/>
          </a:p>
        </p:txBody>
      </p:sp>
      <p:sp>
        <p:nvSpPr>
          <p:cNvPr id="5" name="Text 3"/>
          <p:cNvSpPr/>
          <p:nvPr/>
        </p:nvSpPr>
        <p:spPr>
          <a:xfrm>
            <a:off x="914400" y="2400300"/>
            <a:ext cx="10360152"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예상 위험과 대응</a:t>
            </a:r>
            <a:endParaRPr lang="en-US" sz="2400" dirty="0"/>
          </a:p>
        </p:txBody>
      </p:sp>
      <p:sp>
        <p:nvSpPr>
          <p:cNvPr id="6" name="Shape 4"/>
          <p:cNvSpPr/>
          <p:nvPr/>
        </p:nvSpPr>
        <p:spPr>
          <a:xfrm>
            <a:off x="914400" y="3009900"/>
            <a:ext cx="10058400" cy="990600"/>
          </a:xfrm>
          <a:prstGeom prst="roundRect">
            <a:avLst>
              <a:gd name="adj" fmla="val 7692"/>
            </a:avLst>
          </a:prstGeom>
          <a:ln w="19050">
            <a:solidFill>
              <a:srgbClr val="E3E6EA"/>
            </a:solidFill>
            <a:prstDash val="solid"/>
          </a:ln>
        </p:spPr>
        <p:txBody>
          <a:bodyPr/>
          <a:lstStyle/>
          <a:p>
            <a:endParaRPr lang="ko-KR" alt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 y="3124200"/>
            <a:ext cx="419100" cy="419100"/>
          </a:xfrm>
          <a:prstGeom prst="rect">
            <a:avLst/>
          </a:prstGeom>
        </p:spPr>
      </p:pic>
      <p:sp>
        <p:nvSpPr>
          <p:cNvPr id="8" name="Text 5"/>
          <p:cNvSpPr/>
          <p:nvPr/>
        </p:nvSpPr>
        <p:spPr>
          <a:xfrm>
            <a:off x="1695450" y="3124200"/>
            <a:ext cx="8604974" cy="419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반사가 없는 바닥(검은 계단 · 유리)은 카메라가 깊이를 재지 못한다</a:t>
            </a:r>
            <a:endParaRPr lang="en-US" sz="2400" dirty="0"/>
          </a:p>
        </p:txBody>
      </p:sp>
      <p:sp>
        <p:nvSpPr>
          <p:cNvPr id="9" name="Text 6"/>
          <p:cNvSpPr/>
          <p:nvPr/>
        </p:nvSpPr>
        <p:spPr>
          <a:xfrm>
            <a:off x="1695450" y="3505200"/>
            <a:ext cx="860497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하향 IR을 마지막 층으로 둔다</a:t>
            </a:r>
            <a:endParaRPr lang="en-US" sz="2400" dirty="0"/>
          </a:p>
        </p:txBody>
      </p:sp>
      <p:sp>
        <p:nvSpPr>
          <p:cNvPr id="10" name="Shape 7"/>
          <p:cNvSpPr/>
          <p:nvPr/>
        </p:nvSpPr>
        <p:spPr>
          <a:xfrm>
            <a:off x="914400" y="4114800"/>
            <a:ext cx="10058400" cy="1371600"/>
          </a:xfrm>
          <a:prstGeom prst="roundRect">
            <a:avLst>
              <a:gd name="adj" fmla="val 5556"/>
            </a:avLst>
          </a:prstGeom>
          <a:ln w="19050">
            <a:solidFill>
              <a:srgbClr val="E3E6EA"/>
            </a:solidFill>
            <a:prstDash val="solid"/>
          </a:ln>
        </p:spPr>
        <p:txBody>
          <a:bodyPr/>
          <a:lstStyle/>
          <a:p>
            <a:endParaRPr lang="ko-KR" alt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4900" y="4229100"/>
            <a:ext cx="419100" cy="419100"/>
          </a:xfrm>
          <a:prstGeom prst="rect">
            <a:avLst/>
          </a:prstGeom>
        </p:spPr>
      </p:pic>
      <p:sp>
        <p:nvSpPr>
          <p:cNvPr id="12" name="Text 8"/>
          <p:cNvSpPr/>
          <p:nvPr/>
        </p:nvSpPr>
        <p:spPr>
          <a:xfrm>
            <a:off x="1695450" y="4229100"/>
            <a:ext cx="6680508"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가속할 때 차체가 기울면 여러 장이 같은 방향으로 틀려, 필터로 걸러지지 않는다</a:t>
            </a:r>
            <a:endParaRPr lang="en-US" sz="2400" dirty="0"/>
          </a:p>
        </p:txBody>
      </p:sp>
      <p:sp>
        <p:nvSpPr>
          <p:cNvPr id="13" name="Text 9"/>
          <p:cNvSpPr/>
          <p:nvPr/>
        </p:nvSpPr>
        <p:spPr>
          <a:xfrm>
            <a:off x="1695450" y="4991100"/>
            <a:ext cx="713452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기울기 오차를 일부러 넣어 영향을 검증한다</a:t>
            </a:r>
            <a:endParaRPr lang="en-US" sz="2400" dirty="0"/>
          </a:p>
        </p:txBody>
      </p:sp>
      <p:sp>
        <p:nvSpPr>
          <p:cNvPr id="14" name="Shape 10"/>
          <p:cNvSpPr/>
          <p:nvPr/>
        </p:nvSpPr>
        <p:spPr>
          <a:xfrm>
            <a:off x="914400" y="5600700"/>
            <a:ext cx="10058400" cy="990600"/>
          </a:xfrm>
          <a:prstGeom prst="roundRect">
            <a:avLst>
              <a:gd name="adj" fmla="val 7692"/>
            </a:avLst>
          </a:prstGeom>
          <a:ln w="19050">
            <a:solidFill>
              <a:srgbClr val="E3E6EA"/>
            </a:solidFill>
            <a:prstDash val="solid"/>
          </a:ln>
        </p:spPr>
        <p:txBody>
          <a:bodyPr/>
          <a:lstStyle/>
          <a:p>
            <a:endParaRPr lang="ko-KR" altLang="en-U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900" y="5715000"/>
            <a:ext cx="419100" cy="419100"/>
          </a:xfrm>
          <a:prstGeom prst="rect">
            <a:avLst/>
          </a:prstGeom>
        </p:spPr>
      </p:pic>
      <p:sp>
        <p:nvSpPr>
          <p:cNvPr id="16" name="Text 11"/>
          <p:cNvSpPr/>
          <p:nvPr/>
        </p:nvSpPr>
        <p:spPr>
          <a:xfrm>
            <a:off x="1695450" y="5715000"/>
            <a:ext cx="598854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한 월드에만 맞춘 설정이 될 수 있다</a:t>
            </a:r>
            <a:endParaRPr lang="en-US" sz="2400" dirty="0"/>
          </a:p>
        </p:txBody>
      </p:sp>
      <p:sp>
        <p:nvSpPr>
          <p:cNvPr id="17" name="Text 12"/>
          <p:cNvSpPr/>
          <p:nvPr/>
        </p:nvSpPr>
        <p:spPr>
          <a:xfrm>
            <a:off x="1695449" y="6096000"/>
            <a:ext cx="815513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설정을 고정하고 두 번째 </a:t>
            </a:r>
            <a:r>
              <a:rPr lang="en-US" sz="2400" b="1" dirty="0" err="1">
                <a:solidFill>
                  <a:srgbClr val="1F2328"/>
                </a:solidFill>
                <a:latin typeface="Pretendard" pitchFamily="34" charset="0"/>
                <a:ea typeface="Pretendard" pitchFamily="34" charset="-122"/>
                <a:cs typeface="Pretendard" pitchFamily="34" charset="-120"/>
              </a:rPr>
              <a:t>월드에서</a:t>
            </a:r>
            <a:r>
              <a:rPr lang="en-US" sz="2400" b="1" dirty="0">
                <a:solidFill>
                  <a:srgbClr val="1F2328"/>
                </a:solidFill>
                <a:latin typeface="Pretendard" pitchFamily="34" charset="0"/>
                <a:ea typeface="Pretendard" pitchFamily="34" charset="-122"/>
                <a:cs typeface="Pretendard" pitchFamily="34" charset="-120"/>
              </a:rPr>
              <a:t> </a:t>
            </a:r>
            <a:r>
              <a:rPr lang="en-US" sz="2400" b="1" dirty="0" err="1">
                <a:solidFill>
                  <a:srgbClr val="1F2328"/>
                </a:solidFill>
                <a:latin typeface="Pretendard" pitchFamily="34" charset="0"/>
                <a:ea typeface="Pretendard" pitchFamily="34" charset="-122"/>
                <a:cs typeface="Pretendard" pitchFamily="34" charset="-120"/>
              </a:rPr>
              <a:t>확인한다</a:t>
            </a:r>
            <a:r>
              <a:rPr lang="en-US" sz="2400" b="1" dirty="0">
                <a:solidFill>
                  <a:srgbClr val="1F2328"/>
                </a:solidFill>
                <a:latin typeface="Pretendard" pitchFamily="34" charset="0"/>
                <a:ea typeface="Pretendard" pitchFamily="34" charset="-122"/>
                <a:cs typeface="Pretendard" pitchFamily="34" charset="-120"/>
              </a:rPr>
              <a:t> (</a:t>
            </a:r>
            <a:r>
              <a:rPr lang="ko-KR" altLang="en-US" sz="2400" b="1" dirty="0" err="1">
                <a:solidFill>
                  <a:srgbClr val="1F2328"/>
                </a:solidFill>
                <a:latin typeface="Pretendard" pitchFamily="34" charset="0"/>
                <a:ea typeface="Pretendard" pitchFamily="34" charset="-122"/>
                <a:cs typeface="Pretendard" pitchFamily="34" charset="-120"/>
              </a:rPr>
              <a:t>과적합</a:t>
            </a:r>
            <a:r>
              <a:rPr lang="ko-KR" altLang="en-US" sz="2400" b="1" dirty="0">
                <a:solidFill>
                  <a:srgbClr val="1F2328"/>
                </a:solidFill>
                <a:latin typeface="Pretendard" pitchFamily="34" charset="0"/>
                <a:ea typeface="Pretendard" pitchFamily="34" charset="-122"/>
                <a:cs typeface="Pretendard" pitchFamily="34" charset="-120"/>
              </a:rPr>
              <a:t> 방지</a:t>
            </a:r>
            <a:r>
              <a:rPr lang="en-US" altLang="ko-KR" sz="2400" b="1" dirty="0">
                <a:solidFill>
                  <a:srgbClr val="1F2328"/>
                </a:solidFill>
                <a:latin typeface="Pretendard" pitchFamily="34" charset="0"/>
                <a:ea typeface="Pretendard" pitchFamily="34" charset="-122"/>
                <a:cs typeface="Pretendard" pitchFamily="34" charset="-120"/>
              </a:rPr>
              <a:t>)</a:t>
            </a:r>
            <a:endParaRPr lang="en-US" sz="2400" dirty="0"/>
          </a:p>
        </p:txBody>
      </p:sp>
      <p:sp>
        <p:nvSpPr>
          <p:cNvPr id="18" name="Shape 13"/>
          <p:cNvSpPr/>
          <p:nvPr/>
        </p:nvSpPr>
        <p:spPr>
          <a:xfrm>
            <a:off x="914400" y="6705600"/>
            <a:ext cx="10058400" cy="1371600"/>
          </a:xfrm>
          <a:prstGeom prst="roundRect">
            <a:avLst>
              <a:gd name="adj" fmla="val 5556"/>
            </a:avLst>
          </a:prstGeom>
          <a:ln w="19050">
            <a:solidFill>
              <a:srgbClr val="E3E6EA"/>
            </a:solidFill>
            <a:prstDash val="solid"/>
          </a:ln>
        </p:spPr>
        <p:txBody>
          <a:bodyPr/>
          <a:lstStyle/>
          <a:p>
            <a:endParaRPr lang="ko-KR" altLang="en-US"/>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4900" y="6819900"/>
            <a:ext cx="419100" cy="419100"/>
          </a:xfrm>
          <a:prstGeom prst="rect">
            <a:avLst/>
          </a:prstGeom>
        </p:spPr>
      </p:pic>
      <p:sp>
        <p:nvSpPr>
          <p:cNvPr id="20" name="Text 14"/>
          <p:cNvSpPr/>
          <p:nvPr/>
        </p:nvSpPr>
        <p:spPr>
          <a:xfrm>
            <a:off x="1695450" y="6819900"/>
            <a:ext cx="5891957"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시뮬레이션과 실제는 다르다</a:t>
            </a:r>
            <a:endParaRPr lang="en-US" sz="2400" dirty="0"/>
          </a:p>
        </p:txBody>
      </p:sp>
      <p:sp>
        <p:nvSpPr>
          <p:cNvPr id="21" name="Text 15"/>
          <p:cNvSpPr/>
          <p:nvPr/>
        </p:nvSpPr>
        <p:spPr>
          <a:xfrm>
            <a:off x="1695449" y="7200900"/>
            <a:ext cx="8889423"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센서 오류를 시뮬레이션에 넣고, </a:t>
            </a:r>
          </a:p>
          <a:p>
            <a:pPr marL="0" indent="0" algn="l">
              <a:lnSpc>
                <a:spcPct val="105263"/>
              </a:lnSpc>
              <a:buNone/>
            </a:pPr>
            <a:r>
              <a:rPr lang="en-US" sz="2400" b="1" dirty="0" err="1">
                <a:solidFill>
                  <a:srgbClr val="1F2328"/>
                </a:solidFill>
                <a:latin typeface="Pretendard" pitchFamily="34" charset="0"/>
                <a:ea typeface="Pretendard" pitchFamily="34" charset="-122"/>
                <a:cs typeface="Pretendard" pitchFamily="34" charset="-120"/>
              </a:rPr>
              <a:t>장비가</a:t>
            </a:r>
            <a:r>
              <a:rPr lang="en-US" sz="2400" b="1" dirty="0">
                <a:solidFill>
                  <a:srgbClr val="1F2328"/>
                </a:solidFill>
                <a:latin typeface="Pretendard" pitchFamily="34" charset="0"/>
                <a:ea typeface="Pretendard" pitchFamily="34" charset="-122"/>
                <a:cs typeface="Pretendard" pitchFamily="34" charset="-120"/>
              </a:rPr>
              <a:t> 되면 실제 깊이카메라 영상으로도 확인</a:t>
            </a:r>
            <a:endParaRPr lang="en-US" sz="2400" dirty="0"/>
          </a:p>
        </p:txBody>
      </p:sp>
      <p:sp>
        <p:nvSpPr>
          <p:cNvPr id="22" name="Shape 16"/>
          <p:cNvSpPr/>
          <p:nvPr/>
        </p:nvSpPr>
        <p:spPr>
          <a:xfrm>
            <a:off x="11582400" y="2876550"/>
            <a:ext cx="5791200" cy="19050"/>
          </a:xfrm>
          <a:prstGeom prst="rect">
            <a:avLst/>
          </a:prstGeom>
          <a:solidFill>
            <a:srgbClr val="E3E6EA"/>
          </a:solidFill>
          <a:ln/>
        </p:spPr>
        <p:txBody>
          <a:bodyPr/>
          <a:lstStyle/>
          <a:p>
            <a:endParaRPr lang="ko-KR" altLang="en-US"/>
          </a:p>
        </p:txBody>
      </p:sp>
      <p:sp>
        <p:nvSpPr>
          <p:cNvPr id="23" name="Text 17"/>
          <p:cNvSpPr/>
          <p:nvPr/>
        </p:nvSpPr>
        <p:spPr>
          <a:xfrm>
            <a:off x="11582400" y="2400300"/>
            <a:ext cx="596493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최종 발표 (14주차) 에서 보여 드릴 것</a:t>
            </a:r>
            <a:endParaRPr lang="en-US" sz="2400" dirty="0"/>
          </a:p>
        </p:txBody>
      </p:sp>
      <p:sp>
        <p:nvSpPr>
          <p:cNvPr id="24" name="Shape 18"/>
          <p:cNvSpPr/>
          <p:nvPr/>
        </p:nvSpPr>
        <p:spPr>
          <a:xfrm>
            <a:off x="11582400" y="3132000"/>
            <a:ext cx="381000" cy="381000"/>
          </a:xfrm>
          <a:prstGeom prst="ellipse">
            <a:avLst/>
          </a:prstGeom>
          <a:solidFill>
            <a:srgbClr val="1F2328"/>
          </a:solidFill>
          <a:ln/>
        </p:spPr>
        <p:txBody>
          <a:bodyPr/>
          <a:lstStyle/>
          <a:p>
            <a:endParaRPr lang="ko-KR" altLang="en-US"/>
          </a:p>
        </p:txBody>
      </p:sp>
      <p:sp>
        <p:nvSpPr>
          <p:cNvPr id="27" name="Text 21"/>
          <p:cNvSpPr/>
          <p:nvPr/>
        </p:nvSpPr>
        <p:spPr>
          <a:xfrm>
            <a:off x="12153900" y="3086100"/>
            <a:ext cx="4972517"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현장 표준 대비 안전 실패율 · 도착률 비교 (H1 · H2)</a:t>
            </a:r>
            <a:endParaRPr lang="en-US" sz="2400" dirty="0"/>
          </a:p>
        </p:txBody>
      </p:sp>
      <p:sp>
        <p:nvSpPr>
          <p:cNvPr id="28" name="Shape 22"/>
          <p:cNvSpPr/>
          <p:nvPr/>
        </p:nvSpPr>
        <p:spPr>
          <a:xfrm>
            <a:off x="11582400" y="4068000"/>
            <a:ext cx="381000" cy="381000"/>
          </a:xfrm>
          <a:prstGeom prst="ellipse">
            <a:avLst/>
          </a:prstGeom>
          <a:solidFill>
            <a:srgbClr val="1F2328"/>
          </a:solidFill>
          <a:ln/>
        </p:spPr>
        <p:txBody>
          <a:bodyPr/>
          <a:lstStyle/>
          <a:p>
            <a:endParaRPr lang="ko-KR" altLang="en-US"/>
          </a:p>
        </p:txBody>
      </p:sp>
      <p:sp>
        <p:nvSpPr>
          <p:cNvPr id="29" name="Text 23"/>
          <p:cNvSpPr/>
          <p:nvPr/>
        </p:nvSpPr>
        <p:spPr>
          <a:xfrm>
            <a:off x="11544300" y="40386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31" name="Text 25"/>
          <p:cNvSpPr/>
          <p:nvPr/>
        </p:nvSpPr>
        <p:spPr>
          <a:xfrm>
            <a:off x="12153900" y="4121730"/>
            <a:ext cx="1733252" cy="419100"/>
          </a:xfrm>
          <a:prstGeom prst="rect">
            <a:avLst/>
          </a:prstGeom>
          <a:noFill/>
          <a:ln/>
        </p:spPr>
        <p:txBody>
          <a:bodyPr wrap="square" lIns="25400" tIns="25400" rIns="25400" bIns="25400" rtlCol="0" anchor="t">
            <a:normAutofit fontScale="85000"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악조건별 결과</a:t>
            </a:r>
            <a:endParaRPr lang="en-US" sz="2400" dirty="0"/>
          </a:p>
        </p:txBody>
      </p:sp>
      <p:sp>
        <p:nvSpPr>
          <p:cNvPr id="32" name="Shape 26"/>
          <p:cNvSpPr/>
          <p:nvPr/>
        </p:nvSpPr>
        <p:spPr>
          <a:xfrm>
            <a:off x="11582400" y="4644000"/>
            <a:ext cx="381000" cy="381000"/>
          </a:xfrm>
          <a:prstGeom prst="ellipse">
            <a:avLst/>
          </a:prstGeom>
          <a:solidFill>
            <a:srgbClr val="1F2328"/>
          </a:solidFill>
          <a:ln/>
        </p:spPr>
        <p:txBody>
          <a:bodyPr/>
          <a:lstStyle/>
          <a:p>
            <a:endParaRPr lang="ko-KR" altLang="en-US"/>
          </a:p>
        </p:txBody>
      </p:sp>
      <p:sp>
        <p:nvSpPr>
          <p:cNvPr id="33" name="Text 27"/>
          <p:cNvSpPr/>
          <p:nvPr/>
        </p:nvSpPr>
        <p:spPr>
          <a:xfrm>
            <a:off x="11544300" y="4610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35" name="Text 29"/>
          <p:cNvSpPr/>
          <p:nvPr/>
        </p:nvSpPr>
        <p:spPr>
          <a:xfrm>
            <a:off x="12153900" y="4610100"/>
            <a:ext cx="4565371"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기억 좌표 비교와 2×2 구성 요소 분석 (H3 · H4)</a:t>
            </a:r>
            <a:endParaRPr lang="en-US" sz="2400" dirty="0"/>
          </a:p>
        </p:txBody>
      </p:sp>
      <p:sp>
        <p:nvSpPr>
          <p:cNvPr id="36" name="Shape 30"/>
          <p:cNvSpPr/>
          <p:nvPr/>
        </p:nvSpPr>
        <p:spPr>
          <a:xfrm>
            <a:off x="11582400" y="5580000"/>
            <a:ext cx="381000" cy="381000"/>
          </a:xfrm>
          <a:prstGeom prst="ellipse">
            <a:avLst/>
          </a:prstGeom>
          <a:solidFill>
            <a:srgbClr val="1F2328"/>
          </a:solidFill>
          <a:ln/>
        </p:spPr>
        <p:txBody>
          <a:bodyPr/>
          <a:lstStyle/>
          <a:p>
            <a:endParaRPr lang="ko-KR" altLang="en-US"/>
          </a:p>
        </p:txBody>
      </p:sp>
      <p:sp>
        <p:nvSpPr>
          <p:cNvPr id="37" name="Text 31"/>
          <p:cNvSpPr/>
          <p:nvPr/>
        </p:nvSpPr>
        <p:spPr>
          <a:xfrm>
            <a:off x="11544300" y="55626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39" name="Text 33"/>
          <p:cNvSpPr/>
          <p:nvPr/>
        </p:nvSpPr>
        <p:spPr>
          <a:xfrm>
            <a:off x="12153900" y="5562600"/>
            <a:ext cx="4735220" cy="419100"/>
          </a:xfrm>
          <a:prstGeom prst="rect">
            <a:avLst/>
          </a:prstGeom>
          <a:noFill/>
          <a:ln/>
        </p:spPr>
        <p:txBody>
          <a:bodyPr wrap="square" lIns="25400" tIns="25400" rIns="25400" bIns="25400" rtlCol="0" anchor="t">
            <a:normAutofit fontScale="85000"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두 번째 월드에서 같은 설정으로 재확인</a:t>
            </a:r>
            <a:endParaRPr lang="en-US" sz="2400" dirty="0"/>
          </a:p>
        </p:txBody>
      </p:sp>
      <p:sp>
        <p:nvSpPr>
          <p:cNvPr id="40" name="Shape 34"/>
          <p:cNvSpPr/>
          <p:nvPr/>
        </p:nvSpPr>
        <p:spPr>
          <a:xfrm>
            <a:off x="11582400" y="6156000"/>
            <a:ext cx="381000" cy="381000"/>
          </a:xfrm>
          <a:prstGeom prst="ellipse">
            <a:avLst/>
          </a:prstGeom>
          <a:solidFill>
            <a:srgbClr val="1F2328"/>
          </a:solidFill>
          <a:ln/>
        </p:spPr>
        <p:txBody>
          <a:bodyPr/>
          <a:lstStyle/>
          <a:p>
            <a:endParaRPr lang="ko-KR" altLang="en-US"/>
          </a:p>
        </p:txBody>
      </p:sp>
      <p:sp>
        <p:nvSpPr>
          <p:cNvPr id="41" name="Text 35"/>
          <p:cNvSpPr/>
          <p:nvPr/>
        </p:nvSpPr>
        <p:spPr>
          <a:xfrm>
            <a:off x="11544300" y="6134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42" name="Text 36"/>
          <p:cNvSpPr/>
          <p:nvPr/>
        </p:nvSpPr>
        <p:spPr>
          <a:xfrm>
            <a:off x="12153900" y="6134100"/>
            <a:ext cx="5491192" cy="419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(가능하면) 실제 깊이카메라 영상으로 확인</a:t>
            </a:r>
            <a:endParaRPr lang="en-US" sz="2400" dirty="0"/>
          </a:p>
        </p:txBody>
      </p:sp>
      <p:sp>
        <p:nvSpPr>
          <p:cNvPr id="43" name="Shape 37"/>
          <p:cNvSpPr/>
          <p:nvPr/>
        </p:nvSpPr>
        <p:spPr>
          <a:xfrm>
            <a:off x="914400" y="8229600"/>
            <a:ext cx="16459200" cy="19050"/>
          </a:xfrm>
          <a:prstGeom prst="rect">
            <a:avLst/>
          </a:prstGeom>
          <a:solidFill>
            <a:srgbClr val="E3E6EA"/>
          </a:solidFill>
          <a:ln/>
        </p:spPr>
        <p:txBody>
          <a:bodyPr/>
          <a:lstStyle/>
          <a:p>
            <a:endParaRPr lang="ko-KR" altLang="en-US"/>
          </a:p>
        </p:txBody>
      </p:sp>
      <p:sp>
        <p:nvSpPr>
          <p:cNvPr id="44" name="Text 38"/>
          <p:cNvSpPr/>
          <p:nvPr/>
        </p:nvSpPr>
        <p:spPr>
          <a:xfrm>
            <a:off x="914400" y="8382000"/>
            <a:ext cx="15304770" cy="1257300"/>
          </a:xfrm>
          <a:prstGeom prst="rect">
            <a:avLst/>
          </a:prstGeom>
          <a:noFill/>
          <a:ln/>
        </p:spPr>
        <p:txBody>
          <a:bodyPr wrap="square" lIns="25400" tIns="25400" rIns="25400" bIns="25400" rtlCol="0" anchor="t">
            <a:normAutofit/>
          </a:bodyPr>
          <a:lstStyle/>
          <a:p>
            <a:pPr marL="0" indent="0" algn="l">
              <a:lnSpc>
                <a:spcPct val="103226"/>
              </a:lnSpc>
              <a:buNone/>
            </a:pPr>
            <a:r>
              <a:rPr lang="en-US" sz="3900" b="1" kern="0" spc="-78" dirty="0">
                <a:solidFill>
                  <a:srgbClr val="1F2328"/>
                </a:solidFill>
                <a:latin typeface="Pretendard" pitchFamily="34" charset="0"/>
                <a:ea typeface="Pretendard" pitchFamily="34" charset="-122"/>
                <a:cs typeface="Pretendard" pitchFamily="34" charset="-120"/>
              </a:rPr>
              <a:t>현장 방식을 대체하는 것이 </a:t>
            </a:r>
            <a:r>
              <a:rPr lang="en-US" sz="3900" b="1" kern="0" spc="-78" dirty="0" err="1">
                <a:solidFill>
                  <a:srgbClr val="1F2328"/>
                </a:solidFill>
                <a:latin typeface="Pretendard" pitchFamily="34" charset="0"/>
                <a:ea typeface="Pretendard" pitchFamily="34" charset="-122"/>
                <a:cs typeface="Pretendard" pitchFamily="34" charset="-120"/>
              </a:rPr>
              <a:t>아니라</a:t>
            </a:r>
            <a:r>
              <a:rPr lang="en-US" sz="3900" b="1" kern="0" spc="-78" dirty="0">
                <a:solidFill>
                  <a:srgbClr val="1F2328"/>
                </a:solidFill>
                <a:latin typeface="Pretendard" pitchFamily="34" charset="0"/>
                <a:ea typeface="Pretendard" pitchFamily="34" charset="-122"/>
                <a:cs typeface="Pretendard" pitchFamily="34" charset="-120"/>
              </a:rPr>
              <a:t>, 빈 구간을 메운다.</a:t>
            </a:r>
            <a:endParaRPr lang="en-US" sz="3900" dirty="0"/>
          </a:p>
        </p:txBody>
      </p:sp>
      <p:sp>
        <p:nvSpPr>
          <p:cNvPr id="45" name="Text 39"/>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8</a:t>
            </a:r>
            <a:endParaRPr lang="en-US" sz="1800" dirty="0"/>
          </a:p>
        </p:txBody>
      </p:sp>
      <p:sp>
        <p:nvSpPr>
          <p:cNvPr id="25" name="Text 19"/>
          <p:cNvSpPr/>
          <p:nvPr/>
        </p:nvSpPr>
        <p:spPr>
          <a:xfrm>
            <a:off x="11544300" y="3086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1501</Words>
  <Application>Microsoft Office PowerPoint</Application>
  <PresentationFormat>사용자 지정</PresentationFormat>
  <Paragraphs>199</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박준우</cp:lastModifiedBy>
  <cp:revision>10</cp:revision>
  <dcterms:created xsi:type="dcterms:W3CDTF">2026-10-25T03:48:05Z</dcterms:created>
  <dcterms:modified xsi:type="dcterms:W3CDTF">2026-10-25T10:25:00Z</dcterms:modified>
</cp:coreProperties>
</file>